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1" r:id="rId2"/>
    <p:sldId id="2572" r:id="rId3"/>
    <p:sldId id="2531" r:id="rId4"/>
    <p:sldId id="2533" r:id="rId5"/>
    <p:sldId id="2574" r:id="rId6"/>
    <p:sldId id="2567" r:id="rId7"/>
    <p:sldId id="1953" r:id="rId8"/>
    <p:sldId id="1954" r:id="rId9"/>
    <p:sldId id="2581" r:id="rId10"/>
    <p:sldId id="1660" r:id="rId11"/>
    <p:sldId id="2242" r:id="rId12"/>
    <p:sldId id="1856" r:id="rId13"/>
    <p:sldId id="1857" r:id="rId14"/>
    <p:sldId id="1973" r:id="rId15"/>
    <p:sldId id="2239" r:id="rId16"/>
    <p:sldId id="1863" r:id="rId17"/>
    <p:sldId id="2237" r:id="rId18"/>
    <p:sldId id="1971" r:id="rId19"/>
    <p:sldId id="1875" r:id="rId20"/>
    <p:sldId id="1876" r:id="rId21"/>
    <p:sldId id="1877" r:id="rId22"/>
    <p:sldId id="1878" r:id="rId23"/>
    <p:sldId id="1879" r:id="rId24"/>
    <p:sldId id="1880" r:id="rId25"/>
    <p:sldId id="2019" r:id="rId26"/>
    <p:sldId id="2579" r:id="rId27"/>
    <p:sldId id="1906" r:id="rId28"/>
    <p:sldId id="2587" r:id="rId29"/>
    <p:sldId id="1899" r:id="rId30"/>
    <p:sldId id="1905" r:id="rId31"/>
    <p:sldId id="1898" r:id="rId32"/>
    <p:sldId id="25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07890F-1285-721E-921E-AED8E958EBC8}" v="4" dt="2026-03-03T14:29:31.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7C10A-B6BF-41B4-B574-114B2FD0AA90}"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D96AE-089D-4AE4-AC93-7A564D0D73E1}" type="slidenum">
              <a:rPr lang="en-IN" smtClean="0"/>
              <a:t>‹#›</a:t>
            </a:fld>
            <a:endParaRPr lang="en-IN"/>
          </a:p>
        </p:txBody>
      </p:sp>
    </p:spTree>
    <p:extLst>
      <p:ext uri="{BB962C8B-B14F-4D97-AF65-F5344CB8AC3E}">
        <p14:creationId xmlns:p14="http://schemas.microsoft.com/office/powerpoint/2010/main" val="4114977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What is Azure Active Directory? - https://docs.microsoft.com/en-us/azure/active-directory/fundamentals/active-directory-whatis</a:t>
            </a:r>
          </a:p>
          <a:p>
            <a:endParaRPr lang="en-US" dirty="0"/>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089369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AD Terminology - https://docs.microsoft.com/en-us/azure/active-directory/fundamentals/active-directory-whatis#terminology</a:t>
            </a:r>
          </a:p>
          <a:p>
            <a:endParaRPr lang="en-US" dirty="0"/>
          </a:p>
        </p:txBody>
      </p:sp>
      <p:sp>
        <p:nvSpPr>
          <p:cNvPr id="4" name="Header Placeholder 3"/>
          <p:cNvSpPr>
            <a:spLocks noGrp="1"/>
          </p:cNvSpPr>
          <p:nvPr>
            <p:ph type="hdr" sz="quarter"/>
          </p:nvPr>
        </p:nvSpPr>
        <p:spPr/>
        <p:txBody>
          <a:bodyPr/>
          <a:lstStyle/>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528501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Active Directory to Azure Active Directory - https://docs.microsoft.com/en-us/azure/active-directory/fundamentals/active-directory-compare-azure-ad-to-ad</a:t>
            </a:r>
          </a:p>
          <a:p>
            <a:endParaRPr lang="en-US" dirty="0"/>
          </a:p>
          <a:p>
            <a:r>
              <a:rPr lang="en-US" dirty="0"/>
              <a:t>✔️ Azure AD is a managed service. You only manage the users, groups, and policies. Deploying AD DS with virtual machines using Azure means that you manage the deployment, configuration, virtual machines, patching, and other backend tasks. Do you see the difference? How are they similar?</a:t>
            </a:r>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76004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Azure AD Pricing Editions - https://azure.microsoft.com/en-us/pricing/details/active-directory/</a:t>
            </a:r>
            <a:endParaRPr lang="en-US" sz="8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 Did you look through the pricing list to determine which features your organization needs and to compare edition capabilities?</a:t>
            </a:r>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580118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Azure AD joined devices - https://docs.microsoft.com/en-us/azure/active-directory/devices/concept-azure-ad-join</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Although AD Join is intended for organizations that do not have on-premises Windows Server Active Directory infrastructure it can be used for other scenarios like branch offices. </a:t>
            </a:r>
          </a:p>
          <a:p>
            <a:endParaRPr lang="en-US" dirty="0"/>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958998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Plan an Azure Active Directory self-service password reset deployment - https://docs.microsoft.com/en-us/azure/active-directory/authentication/howto-sspr-deployment</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6</a:t>
            </a:fld>
            <a:endParaRPr lang="en-US"/>
          </a:p>
        </p:txBody>
      </p:sp>
    </p:spTree>
    <p:extLst>
      <p:ext uri="{BB962C8B-B14F-4D97-AF65-F5344CB8AC3E}">
        <p14:creationId xmlns:p14="http://schemas.microsoft.com/office/powerpoint/2010/main" val="277229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a:solidFill>
                  <a:schemeClr val="tx1"/>
                </a:solidFill>
                <a:effectLst/>
                <a:ea typeface="+mn-ea"/>
                <a:cs typeface="+mn-cs"/>
              </a:rPr>
              <a:t>✔️ Have you given any thought as to the type of users you will need?</a:t>
            </a:r>
          </a:p>
          <a:p>
            <a:endParaRPr lang="en-US"/>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410386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kern="1200" dirty="0">
                <a:solidFill>
                  <a:schemeClr val="tx1"/>
                </a:solidFill>
                <a:effectLst/>
                <a:ea typeface="+mn-ea"/>
                <a:cs typeface="+mn-cs"/>
              </a:rPr>
              <a:t>Add or delete users using Azure Active Directory - https://docs.microsoft.com/en-us/azure/active-directory/fundamentals/add-users-azure-active-directory</a:t>
            </a:r>
          </a:p>
          <a:p>
            <a:endParaRPr lang="en-US" dirty="0"/>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700262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00" kern="1200" dirty="0">
                <a:solidFill>
                  <a:schemeClr val="tx1"/>
                </a:solidFill>
                <a:effectLst/>
                <a:ea typeface="+mn-ea"/>
                <a:cs typeface="+mn-cs"/>
              </a:rPr>
              <a:t>Bulk create users in Azure Active Directory - </a:t>
            </a:r>
            <a:r>
              <a:rPr lang="en-US" sz="1600" dirty="0"/>
              <a:t>https://docs.microsoft.com/en-us/azure/active-directory/users-groups-roles/users-bulk-add</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kern="1200" dirty="0">
                <a:solidFill>
                  <a:schemeClr val="tx1"/>
                </a:solidFill>
                <a:effectLst/>
                <a:ea typeface="+mn-ea"/>
                <a:cs typeface="+mn-cs"/>
              </a:rPr>
              <a:t>✔️ Establish or implement a naming convention for usernames, display names and aliases. </a:t>
            </a:r>
            <a:r>
              <a:rPr lang="en-US" sz="800" dirty="0"/>
              <a:t>The password for the new users needs to conform to the password complexity rules you have set for your directory. User parameters include User Principal Name, Display Name, Given Name, Department, and Job Title.</a:t>
            </a:r>
          </a:p>
          <a:p>
            <a:endParaRPr lang="it-IT" sz="1100" b="0" i="0" u="none" strike="noStrike" kern="1200" dirty="0">
              <a:solidFill>
                <a:schemeClr val="tx1"/>
              </a:solidFill>
              <a:effectLst/>
              <a:latin typeface="Segoe UI" panose="020B0502040204020203"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396863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Manage app and resource access using Azure Active Directory groups – https://docs.microsoft.com/en-us/azure/active-directory/fundamentals/active-directory-manage-groups</a:t>
            </a:r>
          </a:p>
          <a:p>
            <a:endParaRPr lang="en-US" sz="882" kern="1200" dirty="0">
              <a:solidFill>
                <a:schemeClr val="tx1"/>
              </a:solidFill>
              <a:effectLst/>
              <a:ea typeface="+mn-ea"/>
              <a:cs typeface="+mn-cs"/>
            </a:endParaRPr>
          </a:p>
          <a:p>
            <a:r>
              <a:rPr lang="en-US" sz="882" kern="1200" dirty="0" err="1">
                <a:solidFill>
                  <a:schemeClr val="tx1"/>
                </a:solidFill>
                <a:effectLst/>
                <a:ea typeface="+mn-ea"/>
                <a:cs typeface="+mn-cs"/>
              </a:rPr>
              <a:t>Quickstart</a:t>
            </a:r>
            <a:r>
              <a:rPr lang="en-US" sz="882" kern="1200" dirty="0">
                <a:solidFill>
                  <a:schemeClr val="tx1"/>
                </a:solidFill>
                <a:effectLst/>
                <a:ea typeface="+mn-ea"/>
                <a:cs typeface="+mn-cs"/>
              </a:rPr>
              <a:t>: View your organization's groups and members in Azure Active Directory - https://docs.microsoft.com/en-us/azure/active-directory/fundamentals/active-directory-groups-view-azure-portal</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Have you given any thought to which groups you need to create? How will you assign users to groups?</a:t>
            </a:r>
          </a:p>
          <a:p>
            <a:endParaRPr lang="en-US" sz="882" kern="1200" dirty="0">
              <a:solidFill>
                <a:schemeClr val="tx1"/>
              </a:solidFill>
              <a:effectLst/>
              <a:ea typeface="+mn-ea"/>
              <a:cs typeface="+mn-cs"/>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723251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i="0" u="none" strike="noStrike" kern="1200" dirty="0">
                <a:solidFill>
                  <a:schemeClr val="tx1"/>
                </a:solidFill>
                <a:effectLst/>
                <a:ea typeface="+mn-ea"/>
                <a:cs typeface="+mn-cs"/>
              </a:rPr>
              <a:t>A list of regions and their locations is available at </a:t>
            </a:r>
            <a:r>
              <a:rPr lang="en-IE" sz="900" u="sng" dirty="0"/>
              <a:t>https://azure.microsoft.com/en-us/global-infrastructure/locations/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885681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Create an additional Azure subscription - https://docs.microsoft.com/en-us/azure/cost-management-billing/manage/create-subscription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Change your Azure subscription to a different offer - https://docs.microsoft.com/en-us/azure/cost-management-billing/manage/switch-azure-offer</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 Do you know how many subscriptions your organization has?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Clarification on the last bullet - </a:t>
            </a:r>
            <a:r>
              <a:rPr lang="en-US" sz="1600" b="0" i="0" dirty="0">
                <a:effectLst/>
                <a:latin typeface="Segoe UI VSS (Regular)"/>
              </a:rPr>
              <a:t>Only Identities in Azure Active Directory (Azure AD) or in a directory that is trusted by Azure AD (such as a work or school organization) can create a Subscription.  For example, Account Owner role can be used to create a Subscription in an Enterprise Agreement.</a:t>
            </a:r>
            <a:endParaRPr lang="en-US" sz="800"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3549343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Subscription decision guide - https://docs.microsoft.com/en-us/azure/cloud-adoption-framework/decision-guides/subscriptions/</a:t>
            </a:r>
          </a:p>
          <a:p>
            <a:endParaRPr lang="en-US" dirty="0"/>
          </a:p>
          <a:p>
            <a:r>
              <a:rPr lang="en-US" dirty="0"/>
              <a:t>✔️ Which subscription model are you most interested in? </a:t>
            </a:r>
          </a:p>
          <a:p>
            <a:endParaRPr lang="en-US"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1683865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card information is used for identity verification only. You won’t be charged for any services until you upgrade.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270610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Azure Cost Management and Billing? - https://docs.microsoft.com/en-us/azure/cost-management-billing/cost-management-billing-overview</a:t>
            </a:r>
          </a:p>
          <a:p>
            <a:endParaRPr lang="en-US" dirty="0"/>
          </a:p>
          <a:p>
            <a:r>
              <a:rPr lang="en-US" dirty="0" err="1"/>
              <a:t>Quickstart</a:t>
            </a:r>
            <a:r>
              <a:rPr lang="en-US" dirty="0"/>
              <a:t>: Explore and analyze costs with cost analysis - https://docs.microsoft.com/en-us/azure/cost-management-billing/costs/quick-acm-cost-analysis</a:t>
            </a:r>
          </a:p>
          <a:p>
            <a:endParaRPr lang="en-US" dirty="0"/>
          </a:p>
          <a:p>
            <a:r>
              <a:rPr lang="en-US" dirty="0"/>
              <a:t>Analyze costs and create budgets with Azure Cost Management - https://docs.microsoft.com/en-us/learn/modules/analyze-costs-create-budgets-azure-cost-management/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940550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Resource naming and tagging decision guide - https://docs.microsoft.com/en-us/azure/cloud-adoption-framework/decision-guides/resource-tagging	</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If you need to create a lot of tags you will want to do that programmatically. You can use PowerShell or the CLI.</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216392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savings - https://docs.microsoft.com/en-us/learn/modules/predict-costs-and-optimize-spending/4-save-on-infrastructure-costs</a:t>
            </a:r>
          </a:p>
        </p:txBody>
      </p:sp>
      <p:sp>
        <p:nvSpPr>
          <p:cNvPr id="4" name="Slide Number Placeholder 3"/>
          <p:cNvSpPr>
            <a:spLocks noGrp="1"/>
          </p:cNvSpPr>
          <p:nvPr>
            <p:ph type="sldNum" sz="quarter" idx="5"/>
          </p:nvPr>
        </p:nvSpPr>
        <p:spPr/>
        <p:txBody>
          <a:bodyPr/>
          <a:lstStyle/>
          <a:p>
            <a:fld id="{8507DC7E-BC41-4478-BA30-CBCC3A644F0A}" type="slidenum">
              <a:rPr lang="en-US" smtClean="0"/>
              <a:t>17</a:t>
            </a:fld>
            <a:endParaRPr lang="en-US"/>
          </a:p>
        </p:txBody>
      </p:sp>
    </p:spTree>
    <p:extLst>
      <p:ext uri="{BB962C8B-B14F-4D97-AF65-F5344CB8AC3E}">
        <p14:creationId xmlns:p14="http://schemas.microsoft.com/office/powerpoint/2010/main" val="3907436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kern="1200" dirty="0">
                <a:solidFill>
                  <a:schemeClr val="tx1"/>
                </a:solidFill>
                <a:effectLst/>
                <a:ea typeface="+mn-ea"/>
                <a:cs typeface="+mn-cs"/>
              </a:rPr>
              <a:t>Create management groups for resource organization and management - https://docs.microsoft.com/en-us/azure/governance/management-groups/create</a:t>
            </a:r>
          </a:p>
          <a:p>
            <a:endParaRPr lang="en-US" sz="900" kern="1200" dirty="0">
              <a:solidFill>
                <a:schemeClr val="tx1"/>
              </a:solidFill>
              <a:effectLst/>
              <a:ea typeface="+mn-ea"/>
              <a:cs typeface="+mn-cs"/>
            </a:endParaRPr>
          </a:p>
          <a:p>
            <a:r>
              <a:rPr lang="en-US" sz="900" kern="1200" dirty="0">
                <a:solidFill>
                  <a:schemeClr val="tx1"/>
                </a:solidFill>
                <a:effectLst/>
                <a:ea typeface="+mn-ea"/>
                <a:cs typeface="+mn-cs"/>
              </a:rPr>
              <a:t>Manage your resources with management groups - https://docs.microsoft.com/en-us/azure/governance/management-groups/manage</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What is Azure Policy? - https://docs.microsoft.com/en-us/azure/governance/policy/overview</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2"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2" kern="1200" dirty="0" err="1">
                <a:solidFill>
                  <a:schemeClr val="tx1"/>
                </a:solidFill>
                <a:effectLst/>
                <a:ea typeface="+mn-ea"/>
                <a:cs typeface="+mn-cs"/>
              </a:rPr>
              <a:t>Quickstart</a:t>
            </a:r>
            <a:r>
              <a:rPr lang="en-US" sz="882" kern="1200" dirty="0">
                <a:solidFill>
                  <a:schemeClr val="tx1"/>
                </a:solidFill>
                <a:effectLst/>
                <a:ea typeface="+mn-ea"/>
                <a:cs typeface="+mn-cs"/>
              </a:rPr>
              <a:t>: Create a policy assignment to identify non-compliant resources - https://docs.microsoft.com/en-us/azure/governance/policy/assign-policy-portal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4236231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2" kern="1200" dirty="0">
                <a:solidFill>
                  <a:schemeClr val="tx1"/>
                </a:solidFill>
                <a:effectLst/>
                <a:ea typeface="+mn-ea"/>
                <a:cs typeface="+mn-cs"/>
              </a:rPr>
              <a:t>Tutorial: Create and manage policies to enforce compliance - https://docs.microsoft.com/en-us/azure/governance/policy/tutorials/create-and-manage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82" kern="1200" dirty="0">
              <a:solidFill>
                <a:schemeClr val="tx1"/>
              </a:solidFill>
              <a:effectLs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82" kern="1200" dirty="0">
                <a:solidFill>
                  <a:schemeClr val="tx1"/>
                </a:solidFill>
                <a:effectLst/>
                <a:ea typeface="+mn-ea"/>
                <a:cs typeface="+mn-cs"/>
              </a:rPr>
              <a:t>Apply and monitor infrastructure standards with Azure Policy (Learn) - https://docs.microsoft.com/learn/modules/intro-to-governance/</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The next topics step you through creating an Azure policy. </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Even if you have only a few Policy Definitions, we recommend creating an Initiative Definition.</a:t>
            </a:r>
          </a:p>
          <a:p>
            <a:r>
              <a:rPr lang="en-US" sz="882" kern="1200" dirty="0">
                <a:solidFill>
                  <a:schemeClr val="tx1"/>
                </a:solidFill>
                <a:effectLst/>
                <a:ea typeface="+mn-ea"/>
                <a:cs typeface="+mn-cs"/>
              </a:rPr>
              <a:t> </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863553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Azure Policy built-in policy definitions - https://docs.microsoft.com/en-us/azure/governance/policy/samples/built-in-policies</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 Policy Definitions have a specific JSON format. As an Azure Administrator you will not need to create files in this format, but you may want to review, so you are familiar. Review the available definitions in the portal and in GitHub.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789882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dirty="0">
                <a:solidFill>
                  <a:schemeClr val="tx1"/>
                </a:solidFill>
                <a:effectLst/>
                <a:ea typeface="+mn-ea"/>
                <a:cs typeface="+mn-cs"/>
              </a:rPr>
              <a:t>Azure Policy built-in initiative definitions - https://docs.microsoft.com/en-us/azure/governance/policy/samples/built-in-initiatives</a:t>
            </a:r>
          </a:p>
          <a:p>
            <a:endParaRPr lang="en-US" sz="882" kern="1200" dirty="0">
              <a:solidFill>
                <a:schemeClr val="tx1"/>
              </a:solidFill>
              <a:effectLst/>
              <a:ea typeface="+mn-ea"/>
              <a:cs typeface="+mn-cs"/>
            </a:endParaRPr>
          </a:p>
          <a:p>
            <a:r>
              <a:rPr lang="en-US" sz="882" kern="1200" dirty="0">
                <a:solidFill>
                  <a:schemeClr val="tx1"/>
                </a:solidFill>
                <a:effectLst/>
                <a:ea typeface="+mn-ea"/>
                <a:cs typeface="+mn-cs"/>
              </a:rPr>
              <a:t>✔️ Can you see how this will require some planning to organize your policies?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2076101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2" kern="1200" dirty="0">
              <a:solidFill>
                <a:schemeClr val="tx1"/>
              </a:solidFill>
              <a:effectLst/>
              <a:ea typeface="+mn-ea"/>
              <a:cs typeface="+mn-cs"/>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339911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a:solidFill>
                  <a:schemeClr val="tx1"/>
                </a:solidFill>
                <a:effectLst/>
                <a:ea typeface="+mn-ea"/>
                <a:cs typeface="+mn-cs"/>
              </a:rPr>
              <a:t>✔️ Policy evaluation happens about once an hour, which means that if you make changes to your policy definition and create a policy assignment then it will be re-evaluated over your resources within the hour.</a:t>
            </a:r>
          </a:p>
          <a:p>
            <a:endParaRPr lang="en-US"/>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6956836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Always consider having students walk-through the demonstrations themselves. Also, consider the overlap with the formal labs and your best use of time. </a:t>
            </a:r>
          </a:p>
        </p:txBody>
      </p:sp>
      <p:sp>
        <p:nvSpPr>
          <p:cNvPr id="4" name="Slide Number Placeholder 3"/>
          <p:cNvSpPr>
            <a:spLocks noGrp="1"/>
          </p:cNvSpPr>
          <p:nvPr>
            <p:ph type="sldNum" sz="quarter" idx="5"/>
          </p:nvPr>
        </p:nvSpPr>
        <p:spPr/>
        <p:txBody>
          <a:bodyPr/>
          <a:lstStyle/>
          <a:p>
            <a:fld id="{8507DC7E-BC41-4478-BA30-CBCC3A644F0A}" type="slidenum">
              <a:rPr lang="en-US" smtClean="0"/>
              <a:t>25</a:t>
            </a:fld>
            <a:endParaRPr lang="en-US"/>
          </a:p>
        </p:txBody>
      </p:sp>
    </p:spTree>
    <p:extLst>
      <p:ext uri="{BB962C8B-B14F-4D97-AF65-F5344CB8AC3E}">
        <p14:creationId xmlns:p14="http://schemas.microsoft.com/office/powerpoint/2010/main" val="37913744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What is role-based access control (RBAC) for Azure resources? - https://docs.microsoft.com/en-us/azure/role-based-access-control/overview</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2186300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role definitions in Azure RBAC - https://docs.microsoft.com/azure/role-based-access-control/role-definitions-list</a:t>
            </a:r>
          </a:p>
          <a:p>
            <a:endParaRPr lang="en-US" dirty="0"/>
          </a:p>
          <a:p>
            <a:r>
              <a:rPr lang="en-US" dirty="0"/>
              <a:t>Create custom roles for Azure resources with role-based access control - https://docs.microsoft.com/learn/modules/create-custom-azure-roles-with-rbac/</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25261157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or remove role assignments using Azure RBAC and the Azure portal - https://docs.microsoft.com/azure/role-based-access-control/role-assignments-portal</a:t>
            </a:r>
          </a:p>
          <a:p>
            <a:endParaRPr lang="en-US" dirty="0"/>
          </a:p>
          <a:p>
            <a:r>
              <a:rPr lang="en-US" dirty="0"/>
              <a:t>Explain that the role assignment completes the process of implementing</a:t>
            </a:r>
            <a:r>
              <a:rPr lang="en-US" baseline="0" dirty="0"/>
              <a:t> RBAC and combining service principals, a role definition, and a scope.</a:t>
            </a:r>
          </a:p>
          <a:p>
            <a:endParaRPr lang="en-US" baseline="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6CE63F-9E7F-4C04-9D0D-FCA25A8E9E86}" type="datetime8">
              <a:rPr lang="en-US" smtClean="0"/>
              <a:t>3/4/2026 7:36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2152369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2" b="0" i="0" kern="1200">
              <a:solidFill>
                <a:schemeClr val="tx1"/>
              </a:solidFill>
              <a:effectLst/>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6CE63F-9E7F-4C04-9D0D-FCA25A8E9E86}"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21867222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882" b="0" i="0" kern="1200" dirty="0">
                <a:solidFill>
                  <a:schemeClr val="tx1"/>
                </a:solidFill>
                <a:effectLst/>
                <a:ea typeface="+mn-ea"/>
                <a:cs typeface="+mn-cs"/>
              </a:rPr>
              <a:t>Manage access to an Azure subscription by using Azure role-based access control - https://docs.microsoft.com/learn/modules/manage-subscription-access-azure-rbac/3-elevate-your-access-user-access-admin</a:t>
            </a:r>
          </a:p>
          <a:p>
            <a:endParaRPr lang="en-US" sz="882" b="0" i="0" kern="1200" dirty="0">
              <a:solidFill>
                <a:schemeClr val="tx1"/>
              </a:solidFill>
              <a:effectLst/>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6CE63F-9E7F-4C04-9D0D-FCA25A8E9E86}"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5016260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Custom roles for Azure resources - https://docs.microsoft.com/azure/role-based-access-control/custom-roles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6CE63F-9E7F-4C04-9D0D-FCA25A8E9E86}" type="datetime8">
              <a:rPr lang="en-US" smtClean="0"/>
              <a:t>3/4/2026 7:37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547933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02a - Manage Subscriptions and RBAC - ESTIMATED DURATION 30 MIN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Repository - https://microsoftlearning.github.io/AZ-104-MicrosoftAzureAdministrator/</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381501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DC7C6-FBA3-5E60-CBD3-93AF43FB3B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8AD709-462D-F25E-4E0D-48A4BE9AC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851113-B52D-9C3D-77D2-75FC41FEB3A2}"/>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1A37DA70-C232-F9DF-E2D9-B69C105EE2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3D71E-FFEE-3F27-D89E-3746E8C1DD79}"/>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3969684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5AB-7F24-02DE-B151-1394B2D387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D82203-2697-FF6E-8C1D-CB147CC8A6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B1AFA-F4B5-5983-7D51-81C3CABC846F}"/>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19A22601-44F7-68F3-DB51-C68D815599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F107DC-132D-A83F-6847-16A301673E49}"/>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861706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F3FA-E39C-4D20-0CE9-49D4F26594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05122C-54A3-C92B-2122-FD148528FA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A99BC-3D83-74C3-FFA6-CD857F51879D}"/>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9BC8178A-8233-7730-A3A9-2DE25E8BD4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3FF0D0-6C5A-D5B0-D428-4DFA454C58A1}"/>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4566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765EC-3BB5-0137-04C9-D93CA563F4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256EEC-C041-679D-CE47-B5CFBA4699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4DE128-D68B-7841-1294-BC5E9BF5FF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5E1149-870D-A035-0F86-749B8BDCEB04}"/>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6" name="Footer Placeholder 5">
            <a:extLst>
              <a:ext uri="{FF2B5EF4-FFF2-40B4-BE49-F238E27FC236}">
                <a16:creationId xmlns:a16="http://schemas.microsoft.com/office/drawing/2014/main" id="{FB4B3B16-07B4-071F-F77D-B4729506EE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791269-FDF5-FF8D-A6EC-32263C3E16AF}"/>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13063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78F8C-F692-7984-EDC5-A03A758B85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3CC19E-DE49-848D-86AD-F811D47E8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9DD330-8480-86B0-84C8-4639A3097E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AFC272-04F3-E639-FF43-9A34C7D2A0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18A54-3513-C4C6-5F71-D23B39547B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B269F3-9FE5-E2AB-389D-14DB5BF137DD}"/>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8" name="Footer Placeholder 7">
            <a:extLst>
              <a:ext uri="{FF2B5EF4-FFF2-40B4-BE49-F238E27FC236}">
                <a16:creationId xmlns:a16="http://schemas.microsoft.com/office/drawing/2014/main" id="{A9E351E7-3413-9C76-EFCF-59ADBFBA98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7F36C5-B2D6-A371-35F1-AC89C849C2FA}"/>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90380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5693-5888-D7C7-9387-2C674C6209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9FAE09-4502-1B41-09A3-8CC7DB299BA6}"/>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4" name="Footer Placeholder 3">
            <a:extLst>
              <a:ext uri="{FF2B5EF4-FFF2-40B4-BE49-F238E27FC236}">
                <a16:creationId xmlns:a16="http://schemas.microsoft.com/office/drawing/2014/main" id="{01698C15-452A-BDA2-6B1F-A027BF8FA7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BA78E2-02FA-4EE1-96B0-1FFB3B0AD161}"/>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90226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F0B5A3-C85B-B81D-E049-89C21A9C9001}"/>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3" name="Footer Placeholder 2">
            <a:extLst>
              <a:ext uri="{FF2B5EF4-FFF2-40B4-BE49-F238E27FC236}">
                <a16:creationId xmlns:a16="http://schemas.microsoft.com/office/drawing/2014/main" id="{D936B6B4-CA5E-139D-D5D9-1FF4C01D7AB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92B8E2-49A1-D8D9-BE31-B925D74AE4EC}"/>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39919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C82E-66E4-83B1-42B5-141E456CC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2E5118-66D5-A243-3B55-30A11B2BC1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5F18CA-C163-3955-B985-1DFAE6C4B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60F3D4-E97B-511F-F19E-5ABD664AEF2D}"/>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6" name="Footer Placeholder 5">
            <a:extLst>
              <a:ext uri="{FF2B5EF4-FFF2-40B4-BE49-F238E27FC236}">
                <a16:creationId xmlns:a16="http://schemas.microsoft.com/office/drawing/2014/main" id="{A1D84C57-A531-E05E-A794-B27C0944DF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BA2CB5-054B-ACFD-1796-51660E9B267F}"/>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4177704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0D78-FD3E-7AD4-40DA-9C21326AB5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B2E4FB-CF3B-C2B1-EE36-5B753CF582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BD39DD-5839-B1C5-4422-A60DF554A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30B367-8489-E599-ED20-82B2D6EA2E01}"/>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6" name="Footer Placeholder 5">
            <a:extLst>
              <a:ext uri="{FF2B5EF4-FFF2-40B4-BE49-F238E27FC236}">
                <a16:creationId xmlns:a16="http://schemas.microsoft.com/office/drawing/2014/main" id="{068542FA-0F59-9437-1D4F-2EB0590CD3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63933C-C1AB-F9E0-5D63-2584A35C6DCA}"/>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112643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2CC9-5784-560B-EABF-C371F0F613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E11583-CC23-93F7-CFD6-8889038E7D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B7AF63-2936-A975-A1E2-51E70D5F5352}"/>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67DD94F2-E509-459A-E26A-4158746F8B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DCB92D-DBD2-DEE7-2505-E375D1109CBC}"/>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2857070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E51AEA-33B3-CCDC-993B-8788FD0BD5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2BD030-2CDC-806D-E126-15A578D5A6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9A0BCD-E70C-2B8D-8540-F2234355D28E}"/>
              </a:ext>
            </a:extLst>
          </p:cNvPr>
          <p:cNvSpPr>
            <a:spLocks noGrp="1"/>
          </p:cNvSpPr>
          <p:nvPr>
            <p:ph type="dt" sz="half" idx="10"/>
          </p:nvPr>
        </p:nvSpPr>
        <p:spPr/>
        <p:txBody>
          <a:body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19D7AEB4-BA41-B9A8-5782-0D73F1E3A3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D7C569-17E8-048D-58C1-A75DAC9803AF}"/>
              </a:ext>
            </a:extLst>
          </p:cNvPr>
          <p:cNvSpPr>
            <a:spLocks noGrp="1"/>
          </p:cNvSpPr>
          <p:nvPr>
            <p:ph type="sldNum" sz="quarter" idx="12"/>
          </p:nvPr>
        </p:nvSpPr>
        <p:spPr/>
        <p:txBody>
          <a:bodyPr/>
          <a:lstStyle/>
          <a:p>
            <a:fld id="{630B7EA2-5708-4905-A847-943F712D6906}" type="slidenum">
              <a:rPr lang="en-IN" smtClean="0"/>
              <a:t>‹#›</a:t>
            </a:fld>
            <a:endParaRPr lang="en-IN"/>
          </a:p>
        </p:txBody>
      </p:sp>
    </p:spTree>
    <p:extLst>
      <p:ext uri="{BB962C8B-B14F-4D97-AF65-F5344CB8AC3E}">
        <p14:creationId xmlns:p14="http://schemas.microsoft.com/office/powerpoint/2010/main" val="1332935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Tree>
    <p:extLst>
      <p:ext uri="{BB962C8B-B14F-4D97-AF65-F5344CB8AC3E}">
        <p14:creationId xmlns:p14="http://schemas.microsoft.com/office/powerpoint/2010/main" val="124766180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1C06C-9914-2634-7E25-A811F76BDB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2E513F-E392-19B9-7A11-CF0B87CDF0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813DCD-ADFC-F742-655D-C6B6A05AF2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BFBD13-288B-4498-96B8-4ED2F71AD039}" type="datetimeFigureOut">
              <a:rPr lang="en-IN" smtClean="0"/>
              <a:t>04-03-2026</a:t>
            </a:fld>
            <a:endParaRPr lang="en-IN"/>
          </a:p>
        </p:txBody>
      </p:sp>
      <p:sp>
        <p:nvSpPr>
          <p:cNvPr id="5" name="Footer Placeholder 4">
            <a:extLst>
              <a:ext uri="{FF2B5EF4-FFF2-40B4-BE49-F238E27FC236}">
                <a16:creationId xmlns:a16="http://schemas.microsoft.com/office/drawing/2014/main" id="{EE65EE4E-9564-0CC6-55DC-496E1F446D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1F8E60-01A1-7D75-FF31-28FF3200BD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0B7EA2-5708-4905-A847-943F712D6906}" type="slidenum">
              <a:rPr lang="en-IN" smtClean="0"/>
              <a:t>‹#›</a:t>
            </a:fld>
            <a:endParaRPr lang="en-IN"/>
          </a:p>
        </p:txBody>
      </p:sp>
    </p:spTree>
    <p:extLst>
      <p:ext uri="{BB962C8B-B14F-4D97-AF65-F5344CB8AC3E}">
        <p14:creationId xmlns:p14="http://schemas.microsoft.com/office/powerpoint/2010/main" val="2204672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30.emf"/><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wmf"/><Relationship Id="rId7" Type="http://schemas.openxmlformats.org/officeDocument/2006/relationships/image" Target="../media/image35.png"/><Relationship Id="rId12" Type="http://schemas.openxmlformats.org/officeDocument/2006/relationships/image" Target="../media/image40.emf"/><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4.svg"/><Relationship Id="rId11" Type="http://schemas.openxmlformats.org/officeDocument/2006/relationships/image" Target="../media/image39.sv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wmf"/><Relationship Id="rId9" Type="http://schemas.openxmlformats.org/officeDocument/2006/relationships/image" Target="../media/image37.emf"/><Relationship Id="rId14" Type="http://schemas.openxmlformats.org/officeDocument/2006/relationships/image" Target="../media/image42.sv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image" Target="../media/image49.svg"/><Relationship Id="rId3" Type="http://schemas.openxmlformats.org/officeDocument/2006/relationships/image" Target="../media/image44.wmf"/><Relationship Id="rId7" Type="http://schemas.openxmlformats.org/officeDocument/2006/relationships/image" Target="../media/image36.svg"/><Relationship Id="rId12" Type="http://schemas.openxmlformats.org/officeDocument/2006/relationships/image" Target="../media/image48.png"/><Relationship Id="rId17" Type="http://schemas.openxmlformats.org/officeDocument/2006/relationships/image" Target="../media/image53.svg"/><Relationship Id="rId2" Type="http://schemas.openxmlformats.org/officeDocument/2006/relationships/notesSlide" Target="../notesSlides/notesSlide30.xml"/><Relationship Id="rId16" Type="http://schemas.openxmlformats.org/officeDocument/2006/relationships/image" Target="../media/image52.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34.svg"/><Relationship Id="rId5" Type="http://schemas.openxmlformats.org/officeDocument/2006/relationships/image" Target="../media/image46.svg"/><Relationship Id="rId15" Type="http://schemas.openxmlformats.org/officeDocument/2006/relationships/image" Target="../media/image51.svg"/><Relationship Id="rId10" Type="http://schemas.openxmlformats.org/officeDocument/2006/relationships/image" Target="../media/image33.png"/><Relationship Id="rId4" Type="http://schemas.openxmlformats.org/officeDocument/2006/relationships/image" Target="../media/image45.png"/><Relationship Id="rId9" Type="http://schemas.openxmlformats.org/officeDocument/2006/relationships/image" Target="../media/image47.png"/><Relationship Id="rId14" Type="http://schemas.openxmlformats.org/officeDocument/2006/relationships/image" Target="../media/image5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bg2">
                    <a:lumMod val="10000"/>
                  </a:schemeClr>
                </a:solidFill>
              </a:rPr>
              <a:t>Describe Azure Active Directory Benefits and Features</a:t>
            </a:r>
          </a:p>
        </p:txBody>
      </p:sp>
      <p:sp>
        <p:nvSpPr>
          <p:cNvPr id="11" name="Rectangle 10">
            <a:extLst>
              <a:ext uri="{FF2B5EF4-FFF2-40B4-BE49-F238E27FC236}">
                <a16:creationId xmlns:a16="http://schemas.microsoft.com/office/drawing/2014/main" id="{745927E1-AE92-4D7B-BA94-D659576C8204}"/>
              </a:ext>
            </a:extLst>
          </p:cNvPr>
          <p:cNvSpPr/>
          <p:nvPr/>
        </p:nvSpPr>
        <p:spPr>
          <a:xfrm>
            <a:off x="418645" y="1169264"/>
            <a:ext cx="3674081" cy="2402694"/>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defTabSz="1045784">
              <a:spcBef>
                <a:spcPct val="0"/>
              </a:spcBef>
              <a:spcAft>
                <a:spcPct val="35000"/>
              </a:spcAft>
            </a:pPr>
            <a:r>
              <a:rPr lang="en-US" sz="1961" dirty="0">
                <a:solidFill>
                  <a:schemeClr val="tx1"/>
                </a:solidFill>
              </a:rPr>
              <a:t>A cloud-based suite of identity management capabilities that enables you to securely manage access to Azure services and resources for your users</a:t>
            </a:r>
            <a:endParaRPr lang="en-IN" sz="1961" dirty="0">
              <a:solidFill>
                <a:schemeClr val="tx1"/>
              </a:solidFill>
            </a:endParaRPr>
          </a:p>
        </p:txBody>
      </p:sp>
      <p:sp>
        <p:nvSpPr>
          <p:cNvPr id="12" name="Rectangle 11">
            <a:extLst>
              <a:ext uri="{FF2B5EF4-FFF2-40B4-BE49-F238E27FC236}">
                <a16:creationId xmlns:a16="http://schemas.microsoft.com/office/drawing/2014/main" id="{A129EADE-1D34-48D9-88AE-4B30FFD6D06E}"/>
              </a:ext>
            </a:extLst>
          </p:cNvPr>
          <p:cNvSpPr/>
          <p:nvPr/>
        </p:nvSpPr>
        <p:spPr>
          <a:xfrm>
            <a:off x="418645" y="3728476"/>
            <a:ext cx="3674081" cy="2128342"/>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89642" bIns="134464" numCol="1" spcCol="1270" anchor="ctr" anchorCtr="0">
            <a:noAutofit/>
          </a:bodyPr>
          <a:lstStyle/>
          <a:p>
            <a:pPr defTabSz="1045784">
              <a:spcBef>
                <a:spcPct val="0"/>
              </a:spcBef>
              <a:spcAft>
                <a:spcPct val="35000"/>
              </a:spcAft>
            </a:pPr>
            <a:r>
              <a:rPr lang="en-US" sz="1961" dirty="0">
                <a:solidFill>
                  <a:schemeClr val="tx1"/>
                </a:solidFill>
              </a:rPr>
              <a:t>Provides application</a:t>
            </a:r>
            <a:br>
              <a:rPr lang="en-US" sz="1961" dirty="0">
                <a:solidFill>
                  <a:schemeClr val="tx1"/>
                </a:solidFill>
              </a:rPr>
            </a:br>
            <a:r>
              <a:rPr lang="en-US" sz="1961" dirty="0">
                <a:solidFill>
                  <a:schemeClr val="tx1"/>
                </a:solidFill>
              </a:rPr>
              <a:t>management, authentication, device management, and hybrid identity</a:t>
            </a:r>
            <a:endParaRPr lang="en-IN" sz="1961" dirty="0">
              <a:solidFill>
                <a:schemeClr val="tx1"/>
              </a:solidFill>
            </a:endParaRPr>
          </a:p>
        </p:txBody>
      </p:sp>
      <p:pic>
        <p:nvPicPr>
          <p:cNvPr id="9" name="Picture 8" descr="Windows Server AD is using Kerberos and NTLM authentication to on-premises apps. Azure AD is using SAML, Oauth, Open ID, WS-Federation authentication to Cloud apps">
            <a:extLst>
              <a:ext uri="{FF2B5EF4-FFF2-40B4-BE49-F238E27FC236}">
                <a16:creationId xmlns:a16="http://schemas.microsoft.com/office/drawing/2014/main" id="{69EF40D2-41BF-4CC4-A103-E975C269E32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26" t="-26245" r="-1526" b="-26245"/>
          <a:stretch/>
        </p:blipFill>
        <p:spPr>
          <a:xfrm>
            <a:off x="4254461" y="1169263"/>
            <a:ext cx="7518895" cy="4687555"/>
          </a:xfrm>
          <a:prstGeom prst="rect">
            <a:avLst/>
          </a:prstGeom>
          <a:solidFill>
            <a:schemeClr val="bg1"/>
          </a:solidFill>
          <a:ln w="19050">
            <a:solidFill>
              <a:schemeClr val="accent1"/>
            </a:solidFill>
            <a:headEnd type="none" w="med" len="med"/>
            <a:tailEnd type="none" w="med" len="med"/>
          </a:ln>
          <a:effectLst/>
        </p:spPr>
      </p:pic>
    </p:spTree>
    <p:extLst>
      <p:ext uri="{BB962C8B-B14F-4D97-AF65-F5344CB8AC3E}">
        <p14:creationId xmlns:p14="http://schemas.microsoft.com/office/powerpoint/2010/main" val="3827089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CC16-9BE8-43A4-8824-D328950A1389}"/>
              </a:ext>
            </a:extLst>
          </p:cNvPr>
          <p:cNvSpPr>
            <a:spLocks noGrp="1"/>
          </p:cNvSpPr>
          <p:nvPr>
            <p:ph type="title"/>
          </p:nvPr>
        </p:nvSpPr>
        <p:spPr/>
        <p:txBody>
          <a:bodyPr/>
          <a:lstStyle/>
          <a:p>
            <a:r>
              <a:rPr lang="en-US" dirty="0">
                <a:cs typeface="Segoe UI"/>
              </a:rPr>
              <a:t>Describe Azure AD Concepts</a:t>
            </a:r>
            <a:endParaRPr lang="en-US" dirty="0"/>
          </a:p>
        </p:txBody>
      </p:sp>
      <p:graphicFrame>
        <p:nvGraphicFramePr>
          <p:cNvPr id="4" name="Table 6">
            <a:extLst>
              <a:ext uri="{FF2B5EF4-FFF2-40B4-BE49-F238E27FC236}">
                <a16:creationId xmlns:a16="http://schemas.microsoft.com/office/drawing/2014/main" id="{9976D420-D02A-4EEB-8E2F-C971B403F7CC}"/>
              </a:ext>
            </a:extLst>
          </p:cNvPr>
          <p:cNvGraphicFramePr>
            <a:graphicFrameLocks noGrp="1"/>
          </p:cNvGraphicFramePr>
          <p:nvPr/>
        </p:nvGraphicFramePr>
        <p:xfrm>
          <a:off x="418643" y="1119574"/>
          <a:ext cx="11354714" cy="5117601"/>
        </p:xfrm>
        <a:graphic>
          <a:graphicData uri="http://schemas.openxmlformats.org/drawingml/2006/table">
            <a:tbl>
              <a:tblPr firstRow="1" bandRow="1">
                <a:tableStyleId>{5C22544A-7EE6-4342-B048-85BDC9FD1C3A}</a:tableStyleId>
              </a:tblPr>
              <a:tblGrid>
                <a:gridCol w="2588455">
                  <a:extLst>
                    <a:ext uri="{9D8B030D-6E8A-4147-A177-3AD203B41FA5}">
                      <a16:colId xmlns:a16="http://schemas.microsoft.com/office/drawing/2014/main" val="1289156279"/>
                    </a:ext>
                  </a:extLst>
                </a:gridCol>
                <a:gridCol w="8766259">
                  <a:extLst>
                    <a:ext uri="{9D8B030D-6E8A-4147-A177-3AD203B41FA5}">
                      <a16:colId xmlns:a16="http://schemas.microsoft.com/office/drawing/2014/main" val="2759990731"/>
                    </a:ext>
                  </a:extLst>
                </a:gridCol>
              </a:tblGrid>
              <a:tr h="602450">
                <a:tc>
                  <a:txBody>
                    <a:bodyPr/>
                    <a:lstStyle/>
                    <a:p>
                      <a:pPr algn="l"/>
                      <a:r>
                        <a:rPr lang="en-US" sz="2200" b="0" dirty="0">
                          <a:solidFill>
                            <a:schemeClr val="bg1"/>
                          </a:solidFill>
                          <a:latin typeface="+mj-lt"/>
                        </a:rPr>
                        <a:t>Concept</a:t>
                      </a:r>
                    </a:p>
                  </a:txBody>
                  <a:tcPr marL="134464" marR="134464" marT="89642" marB="8964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2200" b="0" dirty="0">
                          <a:solidFill>
                            <a:schemeClr val="bg1"/>
                          </a:solidFill>
                          <a:latin typeface="+mj-lt"/>
                        </a:rPr>
                        <a:t>Description</a:t>
                      </a: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567012">
                <a:tc>
                  <a:txBody>
                    <a:bodyPr/>
                    <a:lstStyle/>
                    <a:p>
                      <a:pPr algn="l"/>
                      <a:r>
                        <a:rPr lang="en-US" sz="2000" dirty="0">
                          <a:solidFill>
                            <a:schemeClr val="tx1"/>
                          </a:solidFill>
                          <a:latin typeface="+mj-lt"/>
                        </a:rPr>
                        <a:t>Identity</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2000" b="0" i="0" u="none" strike="noStrike" noProof="0">
                          <a:solidFill>
                            <a:schemeClr val="tx1"/>
                          </a:solidFill>
                          <a:latin typeface="Segoe UI"/>
                        </a:rPr>
                        <a:t>An object that can be authenticated</a:t>
                      </a:r>
                      <a:endParaRPr lang="en-US" sz="2000">
                        <a:solidFill>
                          <a:schemeClr val="tx1"/>
                        </a:solidFill>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567012">
                <a:tc>
                  <a:txBody>
                    <a:bodyPr/>
                    <a:lstStyle/>
                    <a:p>
                      <a:pPr algn="l"/>
                      <a:r>
                        <a:rPr lang="en-US" sz="2000" dirty="0">
                          <a:solidFill>
                            <a:schemeClr val="tx1"/>
                          </a:solidFill>
                          <a:latin typeface="+mj-lt"/>
                        </a:rPr>
                        <a:t>Account</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2000" b="0" i="0" u="none" strike="noStrike" noProof="0" dirty="0">
                          <a:solidFill>
                            <a:schemeClr val="tx1"/>
                          </a:solidFill>
                          <a:latin typeface="Segoe UI"/>
                        </a:rPr>
                        <a:t>An identity that has data associated with it</a:t>
                      </a:r>
                      <a:endParaRPr lang="en-US" sz="2000" dirty="0">
                        <a:solidFill>
                          <a:schemeClr val="tx1"/>
                        </a:solidFill>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567012">
                <a:tc>
                  <a:txBody>
                    <a:bodyPr/>
                    <a:lstStyle/>
                    <a:p>
                      <a:pPr algn="l"/>
                      <a:r>
                        <a:rPr lang="en-US" sz="2000" dirty="0">
                          <a:solidFill>
                            <a:schemeClr val="tx1"/>
                          </a:solidFill>
                          <a:latin typeface="+mj-lt"/>
                        </a:rPr>
                        <a:t>Azure </a:t>
                      </a:r>
                      <a:r>
                        <a:rPr lang="en-US" sz="2000">
                          <a:solidFill>
                            <a:schemeClr val="tx1"/>
                          </a:solidFill>
                          <a:latin typeface="+mj-lt"/>
                        </a:rPr>
                        <a:t>AD account</a:t>
                      </a:r>
                      <a:endParaRPr lang="en-US" sz="2000" dirty="0">
                        <a:solidFill>
                          <a:schemeClr val="tx1"/>
                        </a:solidFill>
                        <a:latin typeface="+mj-lt"/>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2000" b="0" i="0" u="none" strike="noStrike" noProof="0" dirty="0">
                          <a:solidFill>
                            <a:schemeClr val="tx1"/>
                          </a:solidFill>
                          <a:latin typeface="Segoe UI"/>
                        </a:rPr>
                        <a:t>An identity created through Azure AD or another Microsoft cloud service</a:t>
                      </a:r>
                      <a:endParaRPr lang="en-US" sz="2000" dirty="0">
                        <a:solidFill>
                          <a:schemeClr val="tx1"/>
                        </a:solidFill>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2247103">
                <a:tc>
                  <a:txBody>
                    <a:bodyPr/>
                    <a:lstStyle/>
                    <a:p>
                      <a:pPr algn="l"/>
                      <a:r>
                        <a:rPr lang="en-US" sz="2000" dirty="0">
                          <a:solidFill>
                            <a:schemeClr val="tx1"/>
                          </a:solidFill>
                          <a:latin typeface="+mj-lt"/>
                        </a:rPr>
                        <a:t>Azure AD tenant/directory</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rtl="0" fontAlgn="base"/>
                      <a:r>
                        <a:rPr lang="en-US" sz="1800" b="0" i="0" u="none" strike="noStrike" kern="1200" dirty="0">
                          <a:solidFill>
                            <a:schemeClr val="dk1"/>
                          </a:solidFill>
                          <a:effectLst/>
                          <a:latin typeface="+mn-lt"/>
                          <a:ea typeface="+mn-ea"/>
                          <a:cs typeface="+mn-cs"/>
                        </a:rPr>
                        <a:t>A dedicated and trusted instance of Azure AD, a Tenant is automatically created when your organization signs up for a Microsoft cloud service subscription</a:t>
                      </a:r>
                      <a:r>
                        <a:rPr lang="en-US" sz="1800" b="0" i="0" kern="1200" dirty="0">
                          <a:solidFill>
                            <a:schemeClr val="dk1"/>
                          </a:solidFill>
                          <a:effectLst/>
                          <a:latin typeface="+mn-lt"/>
                          <a:ea typeface="+mn-ea"/>
                          <a:cs typeface="+mn-cs"/>
                        </a:rPr>
                        <a:t>​</a:t>
                      </a:r>
                      <a:br>
                        <a:rPr lang="en-US" sz="1800" b="0" i="0" kern="1200" dirty="0">
                          <a:solidFill>
                            <a:schemeClr val="dk1"/>
                          </a:solidFill>
                          <a:effectLst/>
                          <a:latin typeface="+mn-lt"/>
                          <a:ea typeface="+mn-ea"/>
                          <a:cs typeface="+mn-cs"/>
                        </a:rPr>
                      </a:br>
                      <a:r>
                        <a:rPr lang="en-US" sz="1800" b="0" i="0" u="none" strike="noStrike" kern="1200" dirty="0">
                          <a:solidFill>
                            <a:schemeClr val="dk1"/>
                          </a:solidFill>
                          <a:effectLst/>
                          <a:latin typeface="+mn-lt"/>
                          <a:ea typeface="+mn-ea"/>
                          <a:cs typeface="+mn-cs"/>
                        </a:rPr>
                        <a:t> </a:t>
                      </a:r>
                      <a:r>
                        <a:rPr lang="en-US" sz="18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Additional instances of Azure AD can be created</a:t>
                      </a:r>
                      <a:r>
                        <a:rPr lang="en-US" sz="18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Azure AD is the underlying product providing the identity service</a:t>
                      </a:r>
                      <a:r>
                        <a:rPr lang="en-US" sz="18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The term </a:t>
                      </a:r>
                      <a:r>
                        <a:rPr lang="en-US" sz="1800" b="0" i="1" u="none" strike="noStrike" kern="1200" dirty="0">
                          <a:solidFill>
                            <a:schemeClr val="dk1"/>
                          </a:solidFill>
                          <a:effectLst/>
                          <a:latin typeface="+mn-lt"/>
                          <a:ea typeface="+mn-ea"/>
                          <a:cs typeface="+mn-cs"/>
                        </a:rPr>
                        <a:t>Tenant</a:t>
                      </a:r>
                      <a:r>
                        <a:rPr lang="en-US" sz="1800" b="0" i="0" u="none" strike="noStrike" kern="1200" dirty="0">
                          <a:solidFill>
                            <a:schemeClr val="dk1"/>
                          </a:solidFill>
                          <a:effectLst/>
                          <a:latin typeface="+mn-lt"/>
                          <a:ea typeface="+mn-ea"/>
                          <a:cs typeface="+mn-cs"/>
                        </a:rPr>
                        <a:t> means a single instance of Azure AD representing a single organization</a:t>
                      </a:r>
                      <a:r>
                        <a:rPr lang="en-US" sz="1800" b="0" i="0" kern="1200" dirty="0">
                          <a:solidFill>
                            <a:schemeClr val="dk1"/>
                          </a:solidFill>
                          <a:effectLst/>
                          <a:latin typeface="+mn-lt"/>
                          <a:ea typeface="+mn-ea"/>
                          <a:cs typeface="+mn-cs"/>
                        </a:rPr>
                        <a:t>​</a:t>
                      </a: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The terms </a:t>
                      </a:r>
                      <a:r>
                        <a:rPr lang="en-US" sz="1800" b="0" i="1" u="none" strike="noStrike" kern="1200" dirty="0">
                          <a:solidFill>
                            <a:schemeClr val="dk1"/>
                          </a:solidFill>
                          <a:effectLst/>
                          <a:latin typeface="+mn-lt"/>
                          <a:ea typeface="+mn-ea"/>
                          <a:cs typeface="+mn-cs"/>
                        </a:rPr>
                        <a:t>Tenant </a:t>
                      </a:r>
                      <a:r>
                        <a:rPr lang="en-US" sz="1800" b="0" i="0" u="none" strike="noStrike" kern="1200" dirty="0">
                          <a:solidFill>
                            <a:schemeClr val="dk1"/>
                          </a:solidFill>
                          <a:effectLst/>
                          <a:latin typeface="+mn-lt"/>
                          <a:ea typeface="+mn-ea"/>
                          <a:cs typeface="+mn-cs"/>
                        </a:rPr>
                        <a:t>and </a:t>
                      </a:r>
                      <a:r>
                        <a:rPr lang="en-US" sz="1800" b="0" i="1" u="none" strike="noStrike" kern="1200" dirty="0">
                          <a:solidFill>
                            <a:schemeClr val="dk1"/>
                          </a:solidFill>
                          <a:effectLst/>
                          <a:latin typeface="+mn-lt"/>
                          <a:ea typeface="+mn-ea"/>
                          <a:cs typeface="+mn-cs"/>
                        </a:rPr>
                        <a:t>Directory</a:t>
                      </a:r>
                      <a:r>
                        <a:rPr lang="en-US" sz="1800" b="0" i="0" u="none" strike="noStrike" kern="1200" dirty="0">
                          <a:solidFill>
                            <a:schemeClr val="dk1"/>
                          </a:solidFill>
                          <a:effectLst/>
                          <a:latin typeface="+mn-lt"/>
                          <a:ea typeface="+mn-ea"/>
                          <a:cs typeface="+mn-cs"/>
                        </a:rPr>
                        <a:t> are often used interchangeably</a:t>
                      </a:r>
                      <a:r>
                        <a:rPr lang="en-US" sz="1800" b="0" i="0" kern="1200" dirty="0">
                          <a:solidFill>
                            <a:schemeClr val="dk1"/>
                          </a:solidFill>
                          <a:effectLst/>
                          <a:latin typeface="+mn-lt"/>
                          <a:ea typeface="+mn-ea"/>
                          <a:cs typeface="+mn-cs"/>
                        </a:rPr>
                        <a:t>​</a:t>
                      </a: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567012">
                <a:tc>
                  <a:txBody>
                    <a:bodyPr/>
                    <a:lstStyle/>
                    <a:p>
                      <a:pPr lvl="0" algn="l">
                        <a:buNone/>
                      </a:pPr>
                      <a:r>
                        <a:rPr lang="en-US" sz="2000" dirty="0">
                          <a:solidFill>
                            <a:schemeClr val="tx1"/>
                          </a:solidFill>
                          <a:latin typeface="+mj-lt"/>
                        </a:rPr>
                        <a:t>Azure subscription</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2000" b="0" i="0" u="none" strike="noStrike" noProof="0" dirty="0">
                          <a:solidFill>
                            <a:schemeClr val="tx1"/>
                          </a:solidFill>
                          <a:latin typeface="Segoe UI"/>
                        </a:rPr>
                        <a:t>Used to pay for Azure cloud services</a:t>
                      </a:r>
                      <a:endParaRPr lang="en-US" sz="2000" dirty="0">
                        <a:solidFill>
                          <a:schemeClr val="tx1"/>
                        </a:solidFill>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493009"/>
                  </a:ext>
                </a:extLst>
              </a:tr>
            </a:tbl>
          </a:graphicData>
        </a:graphic>
      </p:graphicFrame>
    </p:spTree>
    <p:extLst>
      <p:ext uri="{BB962C8B-B14F-4D97-AF65-F5344CB8AC3E}">
        <p14:creationId xmlns:p14="http://schemas.microsoft.com/office/powerpoint/2010/main" val="21370740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Compare AD DS to Azure Active Directory</a:t>
            </a:r>
          </a:p>
        </p:txBody>
      </p:sp>
      <p:pic>
        <p:nvPicPr>
          <p:cNvPr id="75" name="Picture 74" descr="Icon of a magnifying glass showing a chart">
            <a:extLst>
              <a:ext uri="{FF2B5EF4-FFF2-40B4-BE49-F238E27FC236}">
                <a16:creationId xmlns:a16="http://schemas.microsoft.com/office/drawing/2014/main" id="{AA696AF2-F4EB-4296-8EC0-D90A2ADC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4012" y="1167978"/>
            <a:ext cx="779890" cy="781384"/>
          </a:xfrm>
          <a:prstGeom prst="rect">
            <a:avLst/>
          </a:prstGeom>
        </p:spPr>
      </p:pic>
      <p:sp>
        <p:nvSpPr>
          <p:cNvPr id="5" name="Rectangle 4">
            <a:extLst>
              <a:ext uri="{FF2B5EF4-FFF2-40B4-BE49-F238E27FC236}">
                <a16:creationId xmlns:a16="http://schemas.microsoft.com/office/drawing/2014/main" id="{28EB9CEF-0D1F-4FEA-86E1-586BF3CDB551}"/>
              </a:ext>
            </a:extLst>
          </p:cNvPr>
          <p:cNvSpPr/>
          <p:nvPr/>
        </p:nvSpPr>
        <p:spPr>
          <a:xfrm>
            <a:off x="1419340" y="1165816"/>
            <a:ext cx="10354018" cy="7814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Azure AD is primarily an identity solution, and designed for HTTP and HTTPS communications</a:t>
            </a:r>
            <a:endParaRPr lang="en-IN" sz="1961" dirty="0">
              <a:solidFill>
                <a:schemeClr val="tx1"/>
              </a:solidFill>
            </a:endParaRPr>
          </a:p>
        </p:txBody>
      </p:sp>
      <p:cxnSp>
        <p:nvCxnSpPr>
          <p:cNvPr id="49" name="Straight Connector 48">
            <a:extLst>
              <a:ext uri="{FF2B5EF4-FFF2-40B4-BE49-F238E27FC236}">
                <a16:creationId xmlns:a16="http://schemas.microsoft.com/office/drawing/2014/main" id="{4A7D1502-B93A-4460-BE02-E0855D24D335}"/>
              </a:ext>
              <a:ext uri="{C183D7F6-B498-43B3-948B-1728B52AA6E4}">
                <adec:decorative xmlns:adec="http://schemas.microsoft.com/office/drawing/2017/decorative" val="1"/>
              </a:ext>
            </a:extLst>
          </p:cNvPr>
          <p:cNvCxnSpPr/>
          <p:nvPr/>
        </p:nvCxnSpPr>
        <p:spPr>
          <a:xfrm flipV="1">
            <a:off x="1419340" y="2028336"/>
            <a:ext cx="1035401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5" name="Picture 44" descr="Icon of a cloud with multiples lines extending from it">
            <a:extLst>
              <a:ext uri="{FF2B5EF4-FFF2-40B4-BE49-F238E27FC236}">
                <a16:creationId xmlns:a16="http://schemas.microsoft.com/office/drawing/2014/main" id="{5248068B-2571-43C8-AD31-E9359379BA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4012" y="2084363"/>
            <a:ext cx="779890" cy="781384"/>
          </a:xfrm>
          <a:prstGeom prst="rect">
            <a:avLst/>
          </a:prstGeom>
        </p:spPr>
      </p:pic>
      <p:sp>
        <p:nvSpPr>
          <p:cNvPr id="6" name="Rectangle 5">
            <a:extLst>
              <a:ext uri="{FF2B5EF4-FFF2-40B4-BE49-F238E27FC236}">
                <a16:creationId xmlns:a16="http://schemas.microsoft.com/office/drawing/2014/main" id="{5D3F1818-1660-4914-805F-991B634A80F4}"/>
              </a:ext>
            </a:extLst>
          </p:cNvPr>
          <p:cNvSpPr/>
          <p:nvPr/>
        </p:nvSpPr>
        <p:spPr>
          <a:xfrm>
            <a:off x="1419340" y="2143586"/>
            <a:ext cx="10354018" cy="7814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Queried using the REST API over HTTP and HTTPS. Instead of LDAP</a:t>
            </a:r>
            <a:endParaRPr lang="en-IN" sz="1961" dirty="0">
              <a:solidFill>
                <a:schemeClr val="tx1"/>
              </a:solidFill>
            </a:endParaRPr>
          </a:p>
        </p:txBody>
      </p:sp>
      <p:cxnSp>
        <p:nvCxnSpPr>
          <p:cNvPr id="50" name="Straight Connector 49">
            <a:extLst>
              <a:ext uri="{FF2B5EF4-FFF2-40B4-BE49-F238E27FC236}">
                <a16:creationId xmlns:a16="http://schemas.microsoft.com/office/drawing/2014/main" id="{77BD206A-7FF0-4853-B24D-87EA250CCE9B}"/>
              </a:ext>
              <a:ext uri="{C183D7F6-B498-43B3-948B-1728B52AA6E4}">
                <adec:decorative xmlns:adec="http://schemas.microsoft.com/office/drawing/2017/decorative" val="1"/>
              </a:ext>
            </a:extLst>
          </p:cNvPr>
          <p:cNvCxnSpPr/>
          <p:nvPr/>
        </p:nvCxnSpPr>
        <p:spPr>
          <a:xfrm flipV="1">
            <a:off x="1419340" y="3040323"/>
            <a:ext cx="1035401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4" name="Picture 43" descr="Icon of a webpage layout template">
            <a:extLst>
              <a:ext uri="{FF2B5EF4-FFF2-40B4-BE49-F238E27FC236}">
                <a16:creationId xmlns:a16="http://schemas.microsoft.com/office/drawing/2014/main" id="{E4CA67BB-7BF1-4800-8D54-89D033E5C2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012" y="3230930"/>
            <a:ext cx="779890" cy="781384"/>
          </a:xfrm>
          <a:prstGeom prst="rect">
            <a:avLst/>
          </a:prstGeom>
        </p:spPr>
      </p:pic>
      <p:sp>
        <p:nvSpPr>
          <p:cNvPr id="7" name="Rectangle 6">
            <a:extLst>
              <a:ext uri="{FF2B5EF4-FFF2-40B4-BE49-F238E27FC236}">
                <a16:creationId xmlns:a16="http://schemas.microsoft.com/office/drawing/2014/main" id="{B7223AA1-ABE3-49DE-BF24-409AC08E1482}"/>
              </a:ext>
            </a:extLst>
          </p:cNvPr>
          <p:cNvSpPr/>
          <p:nvPr/>
        </p:nvSpPr>
        <p:spPr>
          <a:xfrm>
            <a:off x="1419340" y="3142123"/>
            <a:ext cx="10354018" cy="9542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Uses HTTP and HTTPS protocols such as SAML, WS-Federation, and OpenID Connect for authentication (and OAuth for authorization). Instead of Kerberos</a:t>
            </a:r>
            <a:endParaRPr lang="en-IN" sz="1961" dirty="0">
              <a:solidFill>
                <a:schemeClr val="tx1"/>
              </a:solidFill>
            </a:endParaRPr>
          </a:p>
        </p:txBody>
      </p:sp>
      <p:cxnSp>
        <p:nvCxnSpPr>
          <p:cNvPr id="51" name="Straight Connector 50">
            <a:extLst>
              <a:ext uri="{FF2B5EF4-FFF2-40B4-BE49-F238E27FC236}">
                <a16:creationId xmlns:a16="http://schemas.microsoft.com/office/drawing/2014/main" id="{A1D4387B-90F9-48EB-B24E-4F86F287BC8E}"/>
              </a:ext>
              <a:ext uri="{C183D7F6-B498-43B3-948B-1728B52AA6E4}">
                <adec:decorative xmlns:adec="http://schemas.microsoft.com/office/drawing/2017/decorative" val="1"/>
              </a:ext>
            </a:extLst>
          </p:cNvPr>
          <p:cNvCxnSpPr>
            <a:cxnSpLocks/>
          </p:cNvCxnSpPr>
          <p:nvPr/>
        </p:nvCxnSpPr>
        <p:spPr>
          <a:xfrm flipV="1">
            <a:off x="1419340" y="4198206"/>
            <a:ext cx="1035401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3" name="Picture 42" descr="Icon of four servers">
            <a:extLst>
              <a:ext uri="{FF2B5EF4-FFF2-40B4-BE49-F238E27FC236}">
                <a16:creationId xmlns:a16="http://schemas.microsoft.com/office/drawing/2014/main" id="{E5A905A8-2BE0-4F1E-83CD-04F941B8444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4012" y="4397964"/>
            <a:ext cx="779890" cy="781384"/>
          </a:xfrm>
          <a:prstGeom prst="rect">
            <a:avLst/>
          </a:prstGeom>
        </p:spPr>
      </p:pic>
      <p:sp>
        <p:nvSpPr>
          <p:cNvPr id="8" name="Rectangle 7">
            <a:extLst>
              <a:ext uri="{FF2B5EF4-FFF2-40B4-BE49-F238E27FC236}">
                <a16:creationId xmlns:a16="http://schemas.microsoft.com/office/drawing/2014/main" id="{D6BCE137-4459-49D5-AED7-108803C77C89}"/>
              </a:ext>
            </a:extLst>
          </p:cNvPr>
          <p:cNvSpPr/>
          <p:nvPr/>
        </p:nvSpPr>
        <p:spPr>
          <a:xfrm>
            <a:off x="1419340" y="4371285"/>
            <a:ext cx="10354018" cy="7814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a:solidFill>
                  <a:schemeClr val="tx1"/>
                </a:solidFill>
              </a:rPr>
              <a:t>Includes federation services, and many third-party services (such as Facebook)</a:t>
            </a:r>
            <a:endParaRPr lang="en-IN" sz="1961" dirty="0">
              <a:solidFill>
                <a:schemeClr val="tx1"/>
              </a:solidFill>
            </a:endParaRPr>
          </a:p>
        </p:txBody>
      </p:sp>
      <p:cxnSp>
        <p:nvCxnSpPr>
          <p:cNvPr id="52" name="Straight Connector 51">
            <a:extLst>
              <a:ext uri="{FF2B5EF4-FFF2-40B4-BE49-F238E27FC236}">
                <a16:creationId xmlns:a16="http://schemas.microsoft.com/office/drawing/2014/main" id="{40CDC866-24EF-491D-A0F5-B0B0865BB61A}"/>
              </a:ext>
              <a:ext uri="{C183D7F6-B498-43B3-948B-1728B52AA6E4}">
                <adec:decorative xmlns:adec="http://schemas.microsoft.com/office/drawing/2017/decorative" val="1"/>
              </a:ext>
            </a:extLst>
          </p:cNvPr>
          <p:cNvCxnSpPr/>
          <p:nvPr/>
        </p:nvCxnSpPr>
        <p:spPr>
          <a:xfrm flipV="1">
            <a:off x="1419340" y="5325850"/>
            <a:ext cx="1035401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2" name="Picture 41" descr="Icon of a person">
            <a:extLst>
              <a:ext uri="{FF2B5EF4-FFF2-40B4-BE49-F238E27FC236}">
                <a16:creationId xmlns:a16="http://schemas.microsoft.com/office/drawing/2014/main" id="{90012E53-F73D-487C-BC30-72F73C55636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4012" y="5474413"/>
            <a:ext cx="779890" cy="781384"/>
          </a:xfrm>
          <a:prstGeom prst="rect">
            <a:avLst/>
          </a:prstGeom>
        </p:spPr>
      </p:pic>
      <p:sp>
        <p:nvSpPr>
          <p:cNvPr id="9" name="Rectangle 8">
            <a:extLst>
              <a:ext uri="{FF2B5EF4-FFF2-40B4-BE49-F238E27FC236}">
                <a16:creationId xmlns:a16="http://schemas.microsoft.com/office/drawing/2014/main" id="{DDA664F7-C28A-4211-A524-9B3A95F5D254}"/>
              </a:ext>
            </a:extLst>
          </p:cNvPr>
          <p:cNvSpPr/>
          <p:nvPr/>
        </p:nvSpPr>
        <p:spPr>
          <a:xfrm>
            <a:off x="1419340" y="5288271"/>
            <a:ext cx="10354018" cy="11288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a:solidFill>
                  <a:schemeClr val="tx1"/>
                </a:solidFill>
              </a:rPr>
              <a:t>Azure AD users and groups are created in a flat structure, and there are no Organizational Units (OUs) or Group Policy Objects (GPOs)</a:t>
            </a:r>
            <a:endParaRPr lang="en-IN" sz="1961">
              <a:solidFill>
                <a:schemeClr val="tx1"/>
              </a:solidFill>
            </a:endParaRPr>
          </a:p>
        </p:txBody>
      </p:sp>
    </p:spTree>
    <p:extLst>
      <p:ext uri="{BB962C8B-B14F-4D97-AF65-F5344CB8AC3E}">
        <p14:creationId xmlns:p14="http://schemas.microsoft.com/office/powerpoint/2010/main" val="4157478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Select Azure Active Directory Editions</a:t>
            </a:r>
          </a:p>
        </p:txBody>
      </p:sp>
      <p:graphicFrame>
        <p:nvGraphicFramePr>
          <p:cNvPr id="4" name="Table 3">
            <a:extLst>
              <a:ext uri="{FF2B5EF4-FFF2-40B4-BE49-F238E27FC236}">
                <a16:creationId xmlns:a16="http://schemas.microsoft.com/office/drawing/2014/main" id="{E2EBED97-3914-4800-A681-B5A056D0224B}"/>
              </a:ext>
            </a:extLst>
          </p:cNvPr>
          <p:cNvGraphicFramePr>
            <a:graphicFrameLocks noGrp="1"/>
          </p:cNvGraphicFramePr>
          <p:nvPr/>
        </p:nvGraphicFramePr>
        <p:xfrm>
          <a:off x="431094" y="1169265"/>
          <a:ext cx="11354714" cy="4873147"/>
        </p:xfrm>
        <a:graphic>
          <a:graphicData uri="http://schemas.openxmlformats.org/drawingml/2006/table">
            <a:tbl>
              <a:tblPr firstRow="1" firstCol="1" bandRow="1">
                <a:tableStyleId>{5C22544A-7EE6-4342-B048-85BDC9FD1C3A}</a:tableStyleId>
              </a:tblPr>
              <a:tblGrid>
                <a:gridCol w="3484900">
                  <a:extLst>
                    <a:ext uri="{9D8B030D-6E8A-4147-A177-3AD203B41FA5}">
                      <a16:colId xmlns:a16="http://schemas.microsoft.com/office/drawing/2014/main" val="3909572094"/>
                    </a:ext>
                  </a:extLst>
                </a:gridCol>
                <a:gridCol w="1772230">
                  <a:extLst>
                    <a:ext uri="{9D8B030D-6E8A-4147-A177-3AD203B41FA5}">
                      <a16:colId xmlns:a16="http://schemas.microsoft.com/office/drawing/2014/main" val="426167829"/>
                    </a:ext>
                  </a:extLst>
                </a:gridCol>
                <a:gridCol w="2436645">
                  <a:extLst>
                    <a:ext uri="{9D8B030D-6E8A-4147-A177-3AD203B41FA5}">
                      <a16:colId xmlns:a16="http://schemas.microsoft.com/office/drawing/2014/main" val="2113313439"/>
                    </a:ext>
                  </a:extLst>
                </a:gridCol>
                <a:gridCol w="1803934">
                  <a:extLst>
                    <a:ext uri="{9D8B030D-6E8A-4147-A177-3AD203B41FA5}">
                      <a16:colId xmlns:a16="http://schemas.microsoft.com/office/drawing/2014/main" val="716184289"/>
                    </a:ext>
                  </a:extLst>
                </a:gridCol>
                <a:gridCol w="1857005">
                  <a:extLst>
                    <a:ext uri="{9D8B030D-6E8A-4147-A177-3AD203B41FA5}">
                      <a16:colId xmlns:a16="http://schemas.microsoft.com/office/drawing/2014/main" val="939645357"/>
                    </a:ext>
                  </a:extLst>
                </a:gridCol>
              </a:tblGrid>
              <a:tr h="359287">
                <a:tc>
                  <a:txBody>
                    <a:bodyPr/>
                    <a:lstStyle/>
                    <a:p>
                      <a:pPr marL="0" marR="156845" algn="l"/>
                      <a:r>
                        <a:rPr lang="en-US" sz="1800" b="0" kern="1200" dirty="0">
                          <a:solidFill>
                            <a:schemeClr val="bg1"/>
                          </a:solidFill>
                          <a:effectLst/>
                          <a:latin typeface="+mj-lt"/>
                          <a:ea typeface="+mn-ea"/>
                          <a:cs typeface="Segoe UI Semilight" panose="020B0402040204020203" pitchFamily="34" charset="0"/>
                        </a:rPr>
                        <a:t>Feature</a:t>
                      </a:r>
                    </a:p>
                  </a:txBody>
                  <a:tcPr marL="89642" marR="89642" marT="44821" marB="44821">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800" b="0" dirty="0">
                          <a:solidFill>
                            <a:schemeClr val="bg1"/>
                          </a:solidFill>
                          <a:effectLst/>
                          <a:latin typeface="+mj-lt"/>
                          <a:cs typeface="Segoe UI Semilight" panose="020B0402040204020203" pitchFamily="34" charset="0"/>
                        </a:rPr>
                        <a:t>Free</a:t>
                      </a:r>
                      <a:endParaRPr lang="en-US" sz="1800" b="0" dirty="0">
                        <a:solidFill>
                          <a:schemeClr val="bg1"/>
                        </a:solidFill>
                        <a:effectLst/>
                        <a:latin typeface="+mj-lt"/>
                        <a:ea typeface="Times New Roman" panose="02020603050405020304" pitchFamily="18" charset="0"/>
                        <a:cs typeface="Segoe UI Semilight" panose="020B0402040204020203" pitchFamily="34" charset="0"/>
                      </a:endParaRPr>
                    </a:p>
                  </a:txBody>
                  <a:tcPr marL="89642" marR="89642" marT="44821" marB="4482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800" b="0">
                          <a:solidFill>
                            <a:schemeClr val="bg1"/>
                          </a:solidFill>
                          <a:effectLst/>
                          <a:latin typeface="+mj-lt"/>
                          <a:cs typeface="Segoe UI Semilight" panose="020B0402040204020203" pitchFamily="34" charset="0"/>
                        </a:rPr>
                        <a:t>Microsoft 365 </a:t>
                      </a:r>
                      <a:r>
                        <a:rPr lang="en-US" sz="1800" b="0" dirty="0">
                          <a:solidFill>
                            <a:schemeClr val="bg1"/>
                          </a:solidFill>
                          <a:effectLst/>
                          <a:latin typeface="+mj-lt"/>
                          <a:cs typeface="Segoe UI Semilight" panose="020B0402040204020203" pitchFamily="34" charset="0"/>
                        </a:rPr>
                        <a:t>Apps</a:t>
                      </a:r>
                      <a:endParaRPr lang="en-US" sz="1800" b="0" dirty="0">
                        <a:solidFill>
                          <a:schemeClr val="bg1"/>
                        </a:solidFill>
                        <a:effectLst/>
                        <a:latin typeface="+mj-lt"/>
                        <a:ea typeface="Times New Roman" panose="02020603050405020304" pitchFamily="18" charset="0"/>
                        <a:cs typeface="Segoe UI Semilight" panose="020B0402040204020203" pitchFamily="34" charset="0"/>
                      </a:endParaRPr>
                    </a:p>
                  </a:txBody>
                  <a:tcPr marL="89642" marR="89642" marT="44821" marB="4482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800" b="0">
                          <a:solidFill>
                            <a:schemeClr val="bg1"/>
                          </a:solidFill>
                          <a:effectLst/>
                          <a:latin typeface="+mj-lt"/>
                          <a:cs typeface="Segoe UI Semilight" panose="020B0402040204020203" pitchFamily="34" charset="0"/>
                        </a:rPr>
                        <a:t>Premium P1</a:t>
                      </a:r>
                      <a:endParaRPr lang="en-US" sz="1800" b="0">
                        <a:solidFill>
                          <a:schemeClr val="bg1"/>
                        </a:solidFill>
                        <a:effectLst/>
                        <a:latin typeface="+mj-lt"/>
                        <a:ea typeface="Times New Roman" panose="02020603050405020304" pitchFamily="18" charset="0"/>
                        <a:cs typeface="Segoe UI Semilight" panose="020B0402040204020203" pitchFamily="34" charset="0"/>
                      </a:endParaRPr>
                    </a:p>
                  </a:txBody>
                  <a:tcPr marL="89642" marR="89642" marT="44821" marB="44821">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800" b="0" kern="1200" dirty="0">
                          <a:solidFill>
                            <a:schemeClr val="bg1"/>
                          </a:solidFill>
                          <a:effectLst/>
                          <a:latin typeface="+mj-lt"/>
                          <a:ea typeface="+mn-ea"/>
                          <a:cs typeface="Segoe UI Semilight" panose="020B0402040204020203" pitchFamily="34" charset="0"/>
                        </a:rPr>
                        <a:t>Premium P2</a:t>
                      </a:r>
                    </a:p>
                  </a:txBody>
                  <a:tcPr marL="89642" marR="89642" marT="44821" marB="44821">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1228549739"/>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Directory Objects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dirty="0">
                          <a:solidFill>
                            <a:schemeClr val="tx1"/>
                          </a:solidFill>
                          <a:effectLst/>
                          <a:latin typeface="+mn-lt"/>
                          <a:cs typeface="Segoe UI Semilight" panose="020B0402040204020203" pitchFamily="34" charset="0"/>
                        </a:rPr>
                        <a:t>500,000 objects</a:t>
                      </a: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effectLst/>
                          <a:latin typeface="+mn-lt"/>
                          <a:cs typeface="Segoe UI Semilight" panose="020B0402040204020203" pitchFamily="34" charset="0"/>
                        </a:rPr>
                        <a:t>No object limit</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solidFill>
                            <a:schemeClr val="tx1"/>
                          </a:solidFill>
                          <a:effectLst/>
                          <a:latin typeface="+mn-lt"/>
                          <a:cs typeface="Segoe UI Semilight" panose="020B0402040204020203" pitchFamily="34" charset="0"/>
                        </a:rPr>
                        <a:t>No object limit</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dirty="0">
                          <a:solidFill>
                            <a:schemeClr val="tx1"/>
                          </a:solidFill>
                          <a:effectLst/>
                          <a:latin typeface="+mn-lt"/>
                          <a:cs typeface="Segoe UI Semilight" panose="020B0402040204020203" pitchFamily="34" charset="0"/>
                        </a:rPr>
                        <a:t>No object limit</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7200626"/>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Single Sign-On</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dirty="0">
                          <a:solidFill>
                            <a:schemeClr val="tx1"/>
                          </a:solidFill>
                          <a:effectLst/>
                          <a:latin typeface="+mn-lt"/>
                          <a:cs typeface="Segoe UI Semilight" panose="020B0402040204020203" pitchFamily="34" charset="0"/>
                        </a:rPr>
                        <a:t>Unlimited</a:t>
                      </a: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effectLst/>
                          <a:latin typeface="+mn-lt"/>
                          <a:cs typeface="Segoe UI Semilight" panose="020B0402040204020203" pitchFamily="34" charset="0"/>
                        </a:rPr>
                        <a:t>Unlimited</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Unlimited</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Unlimited</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3124035"/>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Core Identity and Access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787900"/>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B2B Collaboration</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9445213"/>
                  </a:ext>
                </a:extLst>
              </a:tr>
              <a:tr h="510985">
                <a:tc>
                  <a:txBody>
                    <a:bodyPr/>
                    <a:lstStyle/>
                    <a:p>
                      <a:pPr algn="l"/>
                      <a:r>
                        <a:rPr lang="en-US" sz="1800" b="0" kern="1200" dirty="0">
                          <a:solidFill>
                            <a:schemeClr val="tx1"/>
                          </a:solidFill>
                          <a:effectLst/>
                          <a:latin typeface="+mj-lt"/>
                          <a:ea typeface="+mn-ea"/>
                          <a:cs typeface="Segoe UI Semilight" panose="020B0402040204020203" pitchFamily="34" charset="0"/>
                        </a:rPr>
                        <a:t>Identity &amp; Access for O365</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5057461"/>
                  </a:ext>
                </a:extLst>
              </a:tr>
              <a:tr h="394427">
                <a:tc>
                  <a:txBody>
                    <a:bodyPr/>
                    <a:lstStyle/>
                    <a:p>
                      <a:pPr algn="l"/>
                      <a:r>
                        <a:rPr lang="en-US" sz="1800" b="0" kern="1200">
                          <a:solidFill>
                            <a:schemeClr val="tx1"/>
                          </a:solidFill>
                          <a:effectLst/>
                          <a:latin typeface="+mj-lt"/>
                          <a:ea typeface="+mn-ea"/>
                          <a:cs typeface="Segoe UI Semilight" panose="020B0402040204020203" pitchFamily="34" charset="0"/>
                        </a:rPr>
                        <a:t>Premium Features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1705207"/>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Hybrid Identities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9744496"/>
                  </a:ext>
                </a:extLst>
              </a:tr>
              <a:tr h="394427">
                <a:tc>
                  <a:txBody>
                    <a:bodyPr/>
                    <a:lstStyle/>
                    <a:p>
                      <a:pPr algn="l"/>
                      <a:r>
                        <a:rPr lang="en-US" sz="1800" b="0" kern="1200">
                          <a:solidFill>
                            <a:schemeClr val="tx1"/>
                          </a:solidFill>
                          <a:effectLst/>
                          <a:latin typeface="+mj-lt"/>
                          <a:ea typeface="+mn-ea"/>
                          <a:cs typeface="Segoe UI Semilight" panose="020B0402040204020203" pitchFamily="34" charset="0"/>
                        </a:rPr>
                        <a:t>Advanced Group Access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6222110"/>
                  </a:ext>
                </a:extLst>
              </a:tr>
              <a:tr h="394427">
                <a:tc>
                  <a:txBody>
                    <a:bodyPr/>
                    <a:lstStyle/>
                    <a:p>
                      <a:pPr algn="l"/>
                      <a:r>
                        <a:rPr lang="en-US" sz="1800" b="0" kern="1200">
                          <a:solidFill>
                            <a:schemeClr val="tx1"/>
                          </a:solidFill>
                          <a:effectLst/>
                          <a:latin typeface="+mj-lt"/>
                          <a:ea typeface="+mn-ea"/>
                          <a:cs typeface="Segoe UI Semilight" panose="020B0402040204020203" pitchFamily="34" charset="0"/>
                        </a:rPr>
                        <a:t>Conditional Access</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525031"/>
                  </a:ext>
                </a:extLst>
              </a:tr>
              <a:tr h="394427">
                <a:tc>
                  <a:txBody>
                    <a:bodyPr/>
                    <a:lstStyle/>
                    <a:p>
                      <a:pPr algn="l"/>
                      <a:r>
                        <a:rPr lang="en-US" sz="1800" b="0" kern="1200">
                          <a:solidFill>
                            <a:schemeClr val="tx1"/>
                          </a:solidFill>
                          <a:effectLst/>
                          <a:latin typeface="+mj-lt"/>
                          <a:ea typeface="+mn-ea"/>
                          <a:cs typeface="Segoe UI Semilight" panose="020B0402040204020203" pitchFamily="34" charset="0"/>
                        </a:rPr>
                        <a:t>Identity Protection</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85556"/>
                  </a:ext>
                </a:extLst>
              </a:tr>
              <a:tr h="394427">
                <a:tc>
                  <a:txBody>
                    <a:bodyPr/>
                    <a:lstStyle/>
                    <a:p>
                      <a:pPr algn="l"/>
                      <a:r>
                        <a:rPr lang="en-US" sz="1800" b="0" kern="1200" dirty="0">
                          <a:solidFill>
                            <a:schemeClr val="tx1"/>
                          </a:solidFill>
                          <a:effectLst/>
                          <a:latin typeface="+mj-lt"/>
                          <a:ea typeface="+mn-ea"/>
                          <a:cs typeface="Segoe UI Semilight" panose="020B0402040204020203" pitchFamily="34" charset="0"/>
                        </a:rPr>
                        <a:t>Identity Governance</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800">
                        <a:solidFill>
                          <a:schemeClr val="tx1"/>
                        </a:solidFill>
                        <a:effectLst/>
                        <a:latin typeface="+mn-lt"/>
                        <a:cs typeface="Segoe UI Semilight" panose="020B0402040204020203" pitchFamily="34" charset="0"/>
                      </a:endParaRP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effectLst/>
                          <a:latin typeface="+mn-lt"/>
                          <a:cs typeface="Segoe UI Semilight" panose="020B0402040204020203" pitchFamily="34" charset="0"/>
                        </a:rPr>
                        <a:t>X</a:t>
                      </a:r>
                    </a:p>
                  </a:txBody>
                  <a:tcPr marL="89642" marR="89642" marT="62750" marB="6275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995523"/>
                  </a:ext>
                </a:extLst>
              </a:tr>
            </a:tbl>
          </a:graphicData>
        </a:graphic>
      </p:graphicFrame>
    </p:spTree>
    <p:extLst>
      <p:ext uri="{BB962C8B-B14F-4D97-AF65-F5344CB8AC3E}">
        <p14:creationId xmlns:p14="http://schemas.microsoft.com/office/powerpoint/2010/main" val="390127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F471-AA03-43DC-8209-06840CFF848C}"/>
              </a:ext>
            </a:extLst>
          </p:cNvPr>
          <p:cNvSpPr>
            <a:spLocks noGrp="1"/>
          </p:cNvSpPr>
          <p:nvPr>
            <p:ph type="title"/>
          </p:nvPr>
        </p:nvSpPr>
        <p:spPr/>
        <p:txBody>
          <a:bodyPr/>
          <a:lstStyle/>
          <a:p>
            <a:r>
              <a:rPr lang="en-US" dirty="0">
                <a:solidFill>
                  <a:schemeClr val="tx1"/>
                </a:solidFill>
              </a:rPr>
              <a:t>Implement Azure AD Join</a:t>
            </a:r>
          </a:p>
        </p:txBody>
      </p:sp>
      <p:sp>
        <p:nvSpPr>
          <p:cNvPr id="13" name="Rectangle 12">
            <a:extLst>
              <a:ext uri="{FF2B5EF4-FFF2-40B4-BE49-F238E27FC236}">
                <a16:creationId xmlns:a16="http://schemas.microsoft.com/office/drawing/2014/main" id="{77C7BAEF-486E-4AA3-950D-4807A2984634}"/>
              </a:ext>
            </a:extLst>
          </p:cNvPr>
          <p:cNvSpPr/>
          <p:nvPr/>
        </p:nvSpPr>
        <p:spPr>
          <a:xfrm>
            <a:off x="455787" y="1313873"/>
            <a:ext cx="2885492"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dirty="0">
                <a:solidFill>
                  <a:schemeClr val="tx1"/>
                </a:solidFill>
              </a:rPr>
              <a:t>Single-Sign-On to your Azure managed SaaS apps and services</a:t>
            </a:r>
          </a:p>
        </p:txBody>
      </p:sp>
      <p:sp>
        <p:nvSpPr>
          <p:cNvPr id="14" name="Rectangle 13">
            <a:extLst>
              <a:ext uri="{FF2B5EF4-FFF2-40B4-BE49-F238E27FC236}">
                <a16:creationId xmlns:a16="http://schemas.microsoft.com/office/drawing/2014/main" id="{86576EFD-FFCD-4D07-A343-2313FFC3FAF9}"/>
              </a:ext>
            </a:extLst>
          </p:cNvPr>
          <p:cNvSpPr/>
          <p:nvPr/>
        </p:nvSpPr>
        <p:spPr>
          <a:xfrm>
            <a:off x="3475104" y="1313873"/>
            <a:ext cx="2961989"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dirty="0">
                <a:solidFill>
                  <a:schemeClr val="tx1"/>
                </a:solidFill>
              </a:rPr>
              <a:t>Enterprise state roaming of user settings across joined devices</a:t>
            </a:r>
          </a:p>
        </p:txBody>
      </p:sp>
      <p:sp>
        <p:nvSpPr>
          <p:cNvPr id="17" name="Rectangle 16">
            <a:extLst>
              <a:ext uri="{FF2B5EF4-FFF2-40B4-BE49-F238E27FC236}">
                <a16:creationId xmlns:a16="http://schemas.microsoft.com/office/drawing/2014/main" id="{C8A8D52B-E167-4F89-886E-D79C2399529C}"/>
              </a:ext>
            </a:extLst>
          </p:cNvPr>
          <p:cNvSpPr/>
          <p:nvPr/>
        </p:nvSpPr>
        <p:spPr>
          <a:xfrm>
            <a:off x="455995" y="2960359"/>
            <a:ext cx="2885492"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dirty="0">
                <a:solidFill>
                  <a:schemeClr val="tx1"/>
                </a:solidFill>
              </a:rPr>
              <a:t>Access to Microsoft Store for Business </a:t>
            </a:r>
          </a:p>
        </p:txBody>
      </p:sp>
      <p:sp>
        <p:nvSpPr>
          <p:cNvPr id="18" name="Rectangle 17">
            <a:extLst>
              <a:ext uri="{FF2B5EF4-FFF2-40B4-BE49-F238E27FC236}">
                <a16:creationId xmlns:a16="http://schemas.microsoft.com/office/drawing/2014/main" id="{44962862-5A95-4C9A-828D-6B4B1F4663D8}"/>
              </a:ext>
            </a:extLst>
          </p:cNvPr>
          <p:cNvSpPr/>
          <p:nvPr/>
        </p:nvSpPr>
        <p:spPr>
          <a:xfrm>
            <a:off x="3512661" y="2960359"/>
            <a:ext cx="2961989"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a:solidFill>
                  <a:schemeClr val="tx1"/>
                </a:solidFill>
              </a:rPr>
              <a:t>Windows Hello support </a:t>
            </a:r>
          </a:p>
        </p:txBody>
      </p:sp>
      <p:sp>
        <p:nvSpPr>
          <p:cNvPr id="19" name="Rectangle 18">
            <a:extLst>
              <a:ext uri="{FF2B5EF4-FFF2-40B4-BE49-F238E27FC236}">
                <a16:creationId xmlns:a16="http://schemas.microsoft.com/office/drawing/2014/main" id="{773A9D30-D8FE-4264-8680-084599200414}"/>
              </a:ext>
            </a:extLst>
          </p:cNvPr>
          <p:cNvSpPr/>
          <p:nvPr/>
        </p:nvSpPr>
        <p:spPr>
          <a:xfrm>
            <a:off x="455995" y="4646286"/>
            <a:ext cx="2885492"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dirty="0">
                <a:solidFill>
                  <a:schemeClr val="tx1"/>
                </a:solidFill>
              </a:rPr>
              <a:t>Restriction of access</a:t>
            </a:r>
            <a:br>
              <a:rPr lang="en-US" sz="1961" dirty="0">
                <a:solidFill>
                  <a:schemeClr val="tx1"/>
                </a:solidFill>
              </a:rPr>
            </a:br>
            <a:r>
              <a:rPr lang="en-US" sz="1961" dirty="0">
                <a:solidFill>
                  <a:schemeClr val="tx1"/>
                </a:solidFill>
              </a:rPr>
              <a:t>to apps from only compliant devices </a:t>
            </a:r>
          </a:p>
        </p:txBody>
      </p:sp>
      <p:sp>
        <p:nvSpPr>
          <p:cNvPr id="20" name="Rectangle 19">
            <a:extLst>
              <a:ext uri="{FF2B5EF4-FFF2-40B4-BE49-F238E27FC236}">
                <a16:creationId xmlns:a16="http://schemas.microsoft.com/office/drawing/2014/main" id="{9A7EF341-5896-4117-97EF-26DEC7D1C4B4}"/>
              </a:ext>
            </a:extLst>
          </p:cNvPr>
          <p:cNvSpPr/>
          <p:nvPr/>
        </p:nvSpPr>
        <p:spPr>
          <a:xfrm>
            <a:off x="3475104" y="4646286"/>
            <a:ext cx="2961989" cy="13959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765"/>
              </a:spcBef>
            </a:pPr>
            <a:r>
              <a:rPr lang="en-US" sz="1961" dirty="0">
                <a:solidFill>
                  <a:schemeClr val="tx1"/>
                </a:solidFill>
              </a:rPr>
              <a:t>Seamless access to</a:t>
            </a:r>
            <a:br>
              <a:rPr lang="en-US" sz="1961" dirty="0">
                <a:solidFill>
                  <a:schemeClr val="tx1"/>
                </a:solidFill>
              </a:rPr>
            </a:br>
            <a:r>
              <a:rPr lang="en-US" sz="1961" dirty="0">
                <a:solidFill>
                  <a:schemeClr val="tx1"/>
                </a:solidFill>
              </a:rPr>
              <a:t>on-premises resources </a:t>
            </a:r>
          </a:p>
        </p:txBody>
      </p:sp>
      <p:pic>
        <p:nvPicPr>
          <p:cNvPr id="11" name="Picture 10" descr="A device is shown connecting to Azure AD. Azure AD is shown connecting with On-premises AD">
            <a:extLst>
              <a:ext uri="{FF2B5EF4-FFF2-40B4-BE49-F238E27FC236}">
                <a16:creationId xmlns:a16="http://schemas.microsoft.com/office/drawing/2014/main" id="{52DCEE2B-5610-4074-A84C-23534436848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13" t="-42816" r="-3387" b="-42816"/>
          <a:stretch/>
        </p:blipFill>
        <p:spPr>
          <a:xfrm>
            <a:off x="6608060" y="1169262"/>
            <a:ext cx="5154404" cy="5008407"/>
          </a:xfrm>
          <a:prstGeom prst="rect">
            <a:avLst/>
          </a:prstGeom>
          <a:noFill/>
          <a:ln w="19050">
            <a:solidFill>
              <a:schemeClr val="accent1"/>
            </a:solidFill>
            <a:headEnd type="none" w="med" len="med"/>
            <a:tailEnd type="none" w="med" len="med"/>
          </a:ln>
          <a:effectLst/>
        </p:spPr>
      </p:pic>
    </p:spTree>
    <p:extLst>
      <p:ext uri="{BB962C8B-B14F-4D97-AF65-F5344CB8AC3E}">
        <p14:creationId xmlns:p14="http://schemas.microsoft.com/office/powerpoint/2010/main" val="38623085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19861-43D6-4007-8BC8-319996D2B231}"/>
              </a:ext>
            </a:extLst>
          </p:cNvPr>
          <p:cNvSpPr>
            <a:spLocks noGrp="1"/>
          </p:cNvSpPr>
          <p:nvPr>
            <p:ph type="title"/>
          </p:nvPr>
        </p:nvSpPr>
        <p:spPr/>
        <p:txBody>
          <a:bodyPr/>
          <a:lstStyle/>
          <a:p>
            <a:r>
              <a:rPr lang="en-US" dirty="0">
                <a:solidFill>
                  <a:schemeClr val="tx1"/>
                </a:solidFill>
              </a:rPr>
              <a:t>Implement Self-Service Password Reset</a:t>
            </a:r>
          </a:p>
        </p:txBody>
      </p:sp>
      <p:sp>
        <p:nvSpPr>
          <p:cNvPr id="7" name="Rectangle 6">
            <a:extLst>
              <a:ext uri="{FF2B5EF4-FFF2-40B4-BE49-F238E27FC236}">
                <a16:creationId xmlns:a16="http://schemas.microsoft.com/office/drawing/2014/main" id="{3F1F1CD3-20FC-4FD2-8201-F3882DDF77F7}"/>
              </a:ext>
            </a:extLst>
          </p:cNvPr>
          <p:cNvSpPr/>
          <p:nvPr/>
        </p:nvSpPr>
        <p:spPr>
          <a:xfrm>
            <a:off x="418642" y="1169262"/>
            <a:ext cx="5320967" cy="155235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334589" indent="-334589">
              <a:buFont typeface="+mj-lt"/>
              <a:buAutoNum type="arabicPeriod"/>
            </a:pPr>
            <a:r>
              <a:rPr lang="en-US" sz="2157" dirty="0">
                <a:solidFill>
                  <a:schemeClr val="tx1"/>
                </a:solidFill>
              </a:rPr>
              <a:t>Determine who can use self-service password reset</a:t>
            </a:r>
          </a:p>
        </p:txBody>
      </p:sp>
      <p:sp>
        <p:nvSpPr>
          <p:cNvPr id="6" name="Rectangle 5">
            <a:extLst>
              <a:ext uri="{FF2B5EF4-FFF2-40B4-BE49-F238E27FC236}">
                <a16:creationId xmlns:a16="http://schemas.microsoft.com/office/drawing/2014/main" id="{94E08866-4F9A-49F0-8AB9-BAB612DBBF50}"/>
              </a:ext>
            </a:extLst>
          </p:cNvPr>
          <p:cNvSpPr/>
          <p:nvPr/>
        </p:nvSpPr>
        <p:spPr>
          <a:xfrm>
            <a:off x="418642" y="2964038"/>
            <a:ext cx="5320967" cy="155235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334589" indent="-334589">
              <a:buFont typeface="+mj-lt"/>
              <a:buAutoNum type="arabicPeriod" startAt="2"/>
            </a:pPr>
            <a:r>
              <a:rPr lang="en-US" sz="2157" dirty="0">
                <a:solidFill>
                  <a:schemeClr val="tx1"/>
                </a:solidFill>
              </a:rPr>
              <a:t>Choose the number of authentication methods required and the methods available (email, phone, questions)</a:t>
            </a:r>
          </a:p>
        </p:txBody>
      </p:sp>
      <p:sp>
        <p:nvSpPr>
          <p:cNvPr id="12" name="Rectangle 11">
            <a:extLst>
              <a:ext uri="{FF2B5EF4-FFF2-40B4-BE49-F238E27FC236}">
                <a16:creationId xmlns:a16="http://schemas.microsoft.com/office/drawing/2014/main" id="{B6C56357-4CF4-45A4-B285-5055AEC60FCA}"/>
              </a:ext>
            </a:extLst>
          </p:cNvPr>
          <p:cNvSpPr/>
          <p:nvPr/>
        </p:nvSpPr>
        <p:spPr>
          <a:xfrm>
            <a:off x="418642" y="4758815"/>
            <a:ext cx="5320967" cy="155235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334589" indent="-334589">
              <a:buFont typeface="+mj-lt"/>
              <a:buAutoNum type="arabicPeriod" startAt="3"/>
            </a:pPr>
            <a:r>
              <a:rPr lang="en-US" sz="2157">
                <a:solidFill>
                  <a:schemeClr val="tx1"/>
                </a:solidFill>
              </a:rPr>
              <a:t>You can require users to register for SSPR (same process as MFA)</a:t>
            </a:r>
          </a:p>
        </p:txBody>
      </p:sp>
      <p:sp>
        <p:nvSpPr>
          <p:cNvPr id="11" name="Rectangle 10">
            <a:extLst>
              <a:ext uri="{FF2B5EF4-FFF2-40B4-BE49-F238E27FC236}">
                <a16:creationId xmlns:a16="http://schemas.microsoft.com/office/drawing/2014/main" id="{CB42AF4D-704C-438D-AE97-DB6FABEA8BAD}"/>
              </a:ext>
              <a:ext uri="{C183D7F6-B498-43B3-948B-1728B52AA6E4}">
                <adec:decorative xmlns:adec="http://schemas.microsoft.com/office/drawing/2017/decorative" val="1"/>
              </a:ext>
            </a:extLst>
          </p:cNvPr>
          <p:cNvSpPr/>
          <p:nvPr/>
        </p:nvSpPr>
        <p:spPr bwMode="auto">
          <a:xfrm>
            <a:off x="5876564" y="1169264"/>
            <a:ext cx="5896794" cy="514191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grpSp>
        <p:nvGrpSpPr>
          <p:cNvPr id="17" name="Group 16" descr="A screenshot of the Password Reset - Authentication Methods screen">
            <a:extLst>
              <a:ext uri="{FF2B5EF4-FFF2-40B4-BE49-F238E27FC236}">
                <a16:creationId xmlns:a16="http://schemas.microsoft.com/office/drawing/2014/main" id="{4ABEFD4D-A11C-414B-B7EB-BB79CD2FAF71}"/>
              </a:ext>
              <a:ext uri="{C183D7F6-B498-43B3-948B-1728B52AA6E4}">
                <adec:decorative xmlns:adec="http://schemas.microsoft.com/office/drawing/2017/decorative" val="0"/>
              </a:ext>
            </a:extLst>
          </p:cNvPr>
          <p:cNvGrpSpPr/>
          <p:nvPr/>
        </p:nvGrpSpPr>
        <p:grpSpPr>
          <a:xfrm>
            <a:off x="6590307" y="1295323"/>
            <a:ext cx="4777820" cy="5015851"/>
            <a:chOff x="6525750" y="1269207"/>
            <a:chExt cx="4952336" cy="5199061"/>
          </a:xfrm>
        </p:grpSpPr>
        <p:pic>
          <p:nvPicPr>
            <p:cNvPr id="13" name="Picture 4" descr="A screenshot of the Password Reset - Authentication Methods screen">
              <a:extLst>
                <a:ext uri="{FF2B5EF4-FFF2-40B4-BE49-F238E27FC236}">
                  <a16:creationId xmlns:a16="http://schemas.microsoft.com/office/drawing/2014/main" id="{395A84F5-6C98-451B-933A-19511FBA63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5051" y="1269207"/>
              <a:ext cx="4613035" cy="5199061"/>
            </a:xfrm>
            <a:prstGeom prst="rect">
              <a:avLst/>
            </a:prstGeom>
          </p:spPr>
        </p:pic>
        <p:sp>
          <p:nvSpPr>
            <p:cNvPr id="14" name="Oval 13" descr="Legend indicating to Properties in image screenshot">
              <a:extLst>
                <a:ext uri="{FF2B5EF4-FFF2-40B4-BE49-F238E27FC236}">
                  <a16:creationId xmlns:a16="http://schemas.microsoft.com/office/drawing/2014/main" id="{44747B7A-8257-4EC5-9A11-05FEACFD69BB}"/>
                </a:ext>
              </a:extLst>
            </p:cNvPr>
            <p:cNvSpPr/>
            <p:nvPr/>
          </p:nvSpPr>
          <p:spPr>
            <a:xfrm>
              <a:off x="6525750" y="2448691"/>
              <a:ext cx="245807" cy="246888"/>
            </a:xfrm>
            <a:prstGeom prst="ellipse">
              <a:avLst/>
            </a:prstGeom>
            <a:solidFill>
              <a:schemeClr val="tx2"/>
            </a:solidFill>
            <a:ln>
              <a:solidFill>
                <a:schemeClr val="tx2">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76" dirty="0">
                  <a:solidFill>
                    <a:schemeClr val="bg1"/>
                  </a:solidFill>
                  <a:latin typeface="+mj-lt"/>
                </a:rPr>
                <a:t>1</a:t>
              </a:r>
            </a:p>
          </p:txBody>
        </p:sp>
        <p:sp>
          <p:nvSpPr>
            <p:cNvPr id="15" name="Oval 14" descr="Legend indicating to Authentication methods in image screenshot">
              <a:extLst>
                <a:ext uri="{FF2B5EF4-FFF2-40B4-BE49-F238E27FC236}">
                  <a16:creationId xmlns:a16="http://schemas.microsoft.com/office/drawing/2014/main" id="{16D8761F-BA62-4056-88F5-DABEFB72F898}"/>
                </a:ext>
              </a:extLst>
            </p:cNvPr>
            <p:cNvSpPr/>
            <p:nvPr/>
          </p:nvSpPr>
          <p:spPr>
            <a:xfrm>
              <a:off x="6525750" y="2731143"/>
              <a:ext cx="245807" cy="246888"/>
            </a:xfrm>
            <a:prstGeom prst="ellipse">
              <a:avLst/>
            </a:prstGeom>
            <a:solidFill>
              <a:schemeClr val="tx2"/>
            </a:solidFill>
            <a:ln>
              <a:solidFill>
                <a:schemeClr val="tx2">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76">
                  <a:solidFill>
                    <a:schemeClr val="bg1"/>
                  </a:solidFill>
                  <a:latin typeface="+mj-lt"/>
                </a:rPr>
                <a:t>2</a:t>
              </a:r>
            </a:p>
          </p:txBody>
        </p:sp>
        <p:sp>
          <p:nvSpPr>
            <p:cNvPr id="16" name="Oval 15" descr="Legend indicating to Registration in image screenshot">
              <a:extLst>
                <a:ext uri="{FF2B5EF4-FFF2-40B4-BE49-F238E27FC236}">
                  <a16:creationId xmlns:a16="http://schemas.microsoft.com/office/drawing/2014/main" id="{6A7389EC-C159-4B07-A7A1-C982BA83E56E}"/>
                </a:ext>
              </a:extLst>
            </p:cNvPr>
            <p:cNvSpPr/>
            <p:nvPr/>
          </p:nvSpPr>
          <p:spPr>
            <a:xfrm>
              <a:off x="6525750" y="3013596"/>
              <a:ext cx="245807" cy="246888"/>
            </a:xfrm>
            <a:prstGeom prst="ellipse">
              <a:avLst/>
            </a:prstGeom>
            <a:solidFill>
              <a:schemeClr val="tx2"/>
            </a:solidFill>
            <a:ln>
              <a:solidFill>
                <a:schemeClr val="tx2">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76" dirty="0">
                  <a:solidFill>
                    <a:schemeClr val="bg1"/>
                  </a:solidFill>
                  <a:latin typeface="+mj-lt"/>
                </a:rPr>
                <a:t>3</a:t>
              </a:r>
            </a:p>
          </p:txBody>
        </p:sp>
      </p:grpSp>
    </p:spTree>
    <p:extLst>
      <p:ext uri="{BB962C8B-B14F-4D97-AF65-F5344CB8AC3E}">
        <p14:creationId xmlns:p14="http://schemas.microsoft.com/office/powerpoint/2010/main" val="9851215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User Accounts</a:t>
            </a:r>
          </a:p>
        </p:txBody>
      </p:sp>
      <p:sp>
        <p:nvSpPr>
          <p:cNvPr id="5" name="Rectangle 4">
            <a:extLst>
              <a:ext uri="{FF2B5EF4-FFF2-40B4-BE49-F238E27FC236}">
                <a16:creationId xmlns:a16="http://schemas.microsoft.com/office/drawing/2014/main" id="{0341C1F6-FE65-4AC2-B74A-E7845BC7DBB4}"/>
              </a:ext>
              <a:ext uri="{C183D7F6-B498-43B3-948B-1728B52AA6E4}">
                <adec:decorative xmlns:adec="http://schemas.microsoft.com/office/drawing/2017/decorative" val="1"/>
              </a:ext>
            </a:extLst>
          </p:cNvPr>
          <p:cNvSpPr/>
          <p:nvPr/>
        </p:nvSpPr>
        <p:spPr bwMode="auto">
          <a:xfrm>
            <a:off x="407749" y="1313256"/>
            <a:ext cx="11354714" cy="353337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sp>
        <p:nvSpPr>
          <p:cNvPr id="9" name="Rectangle 8">
            <a:extLst>
              <a:ext uri="{FF2B5EF4-FFF2-40B4-BE49-F238E27FC236}">
                <a16:creationId xmlns:a16="http://schemas.microsoft.com/office/drawing/2014/main" id="{4DB90E1B-7A16-4229-8700-4DB851D1FD93}"/>
              </a:ext>
            </a:extLst>
          </p:cNvPr>
          <p:cNvSpPr/>
          <p:nvPr/>
        </p:nvSpPr>
        <p:spPr>
          <a:xfrm>
            <a:off x="418644" y="5123695"/>
            <a:ext cx="2681996" cy="1216962"/>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All users must</a:t>
            </a:r>
            <a:br>
              <a:rPr lang="en-US" sz="1961" dirty="0">
                <a:solidFill>
                  <a:schemeClr val="tx1"/>
                </a:solidFill>
              </a:rPr>
            </a:br>
            <a:r>
              <a:rPr lang="en-US" sz="1961" dirty="0">
                <a:solidFill>
                  <a:schemeClr val="tx1"/>
                </a:solidFill>
              </a:rPr>
              <a:t>have an account</a:t>
            </a:r>
          </a:p>
        </p:txBody>
      </p:sp>
      <p:sp>
        <p:nvSpPr>
          <p:cNvPr id="10" name="Rectangle 9">
            <a:extLst>
              <a:ext uri="{FF2B5EF4-FFF2-40B4-BE49-F238E27FC236}">
                <a16:creationId xmlns:a16="http://schemas.microsoft.com/office/drawing/2014/main" id="{312D2E04-3872-446E-A1C2-2AEBC0880E73}"/>
              </a:ext>
            </a:extLst>
          </p:cNvPr>
          <p:cNvSpPr/>
          <p:nvPr/>
        </p:nvSpPr>
        <p:spPr>
          <a:xfrm>
            <a:off x="3226168" y="5123695"/>
            <a:ext cx="4210830" cy="1216962"/>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The account is used for authentication and authorization</a:t>
            </a:r>
          </a:p>
        </p:txBody>
      </p:sp>
      <p:sp>
        <p:nvSpPr>
          <p:cNvPr id="11" name="Rectangle 10">
            <a:extLst>
              <a:ext uri="{FF2B5EF4-FFF2-40B4-BE49-F238E27FC236}">
                <a16:creationId xmlns:a16="http://schemas.microsoft.com/office/drawing/2014/main" id="{1583D988-E643-436F-981E-8AC471424EFA}"/>
              </a:ext>
            </a:extLst>
          </p:cNvPr>
          <p:cNvSpPr/>
          <p:nvPr/>
        </p:nvSpPr>
        <p:spPr>
          <a:xfrm>
            <a:off x="7562527" y="5123695"/>
            <a:ext cx="4210830" cy="1216962"/>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Each user account has additional properties</a:t>
            </a:r>
          </a:p>
        </p:txBody>
      </p:sp>
      <p:pic>
        <p:nvPicPr>
          <p:cNvPr id="4" name="Picture 3" descr="Screenshot All Users page with Name, User principal name, user type and directory synhed.">
            <a:extLst>
              <a:ext uri="{FF2B5EF4-FFF2-40B4-BE49-F238E27FC236}">
                <a16:creationId xmlns:a16="http://schemas.microsoft.com/office/drawing/2014/main" id="{1626AC27-8EDB-494D-884B-FA00BE41958A}"/>
              </a:ext>
            </a:extLst>
          </p:cNvPr>
          <p:cNvPicPr>
            <a:picLocks noChangeAspect="1"/>
          </p:cNvPicPr>
          <p:nvPr/>
        </p:nvPicPr>
        <p:blipFill>
          <a:blip r:embed="rId3"/>
          <a:stretch>
            <a:fillRect/>
          </a:stretch>
        </p:blipFill>
        <p:spPr>
          <a:xfrm>
            <a:off x="493355" y="1734307"/>
            <a:ext cx="11205290" cy="2511065"/>
          </a:xfrm>
          <a:prstGeom prst="rect">
            <a:avLst/>
          </a:prstGeom>
        </p:spPr>
      </p:pic>
    </p:spTree>
    <p:extLst>
      <p:ext uri="{BB962C8B-B14F-4D97-AF65-F5344CB8AC3E}">
        <p14:creationId xmlns:p14="http://schemas.microsoft.com/office/powerpoint/2010/main" val="263947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 User Accounts</a:t>
            </a:r>
          </a:p>
        </p:txBody>
      </p:sp>
      <p:sp>
        <p:nvSpPr>
          <p:cNvPr id="6" name="Rectangle 5">
            <a:extLst>
              <a:ext uri="{FF2B5EF4-FFF2-40B4-BE49-F238E27FC236}">
                <a16:creationId xmlns:a16="http://schemas.microsoft.com/office/drawing/2014/main" id="{70DC4905-B92A-4ECC-8463-BF58A01BC2F6}"/>
              </a:ext>
              <a:ext uri="{C183D7F6-B498-43B3-948B-1728B52AA6E4}">
                <adec:decorative xmlns:adec="http://schemas.microsoft.com/office/drawing/2017/decorative" val="1"/>
              </a:ext>
            </a:extLst>
          </p:cNvPr>
          <p:cNvSpPr/>
          <p:nvPr/>
        </p:nvSpPr>
        <p:spPr bwMode="auto">
          <a:xfrm>
            <a:off x="418644" y="1169263"/>
            <a:ext cx="11354714" cy="365798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pic>
        <p:nvPicPr>
          <p:cNvPr id="26" name="Picture 4" descr="Screenshot of the Add user tool bar including new user, new guest user, bulk create, bulk invite, bulk delete, download users, refresh, reset password, multi-factor authentication, and delete user">
            <a:extLst>
              <a:ext uri="{FF2B5EF4-FFF2-40B4-BE49-F238E27FC236}">
                <a16:creationId xmlns:a16="http://schemas.microsoft.com/office/drawing/2014/main" id="{80E4A273-CB51-4B65-AB73-0887DB31C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343" y="1427041"/>
            <a:ext cx="10793317" cy="453186"/>
          </a:xfrm>
          <a:prstGeom prst="rect">
            <a:avLst/>
          </a:prstGeom>
        </p:spPr>
      </p:pic>
      <p:pic>
        <p:nvPicPr>
          <p:cNvPr id="27" name="Picture 26" descr="Screenshot of the new user page. Two radio buttons are shown. One for Create User and one for Invite User">
            <a:extLst>
              <a:ext uri="{FF2B5EF4-FFF2-40B4-BE49-F238E27FC236}">
                <a16:creationId xmlns:a16="http://schemas.microsoft.com/office/drawing/2014/main" id="{F7D331FB-EBD2-431F-B77D-3C4B4CF481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8864" y="2173061"/>
            <a:ext cx="7854273" cy="2480297"/>
          </a:xfrm>
          <a:prstGeom prst="rect">
            <a:avLst/>
          </a:prstGeom>
        </p:spPr>
      </p:pic>
      <p:sp>
        <p:nvSpPr>
          <p:cNvPr id="20" name="Freeform: Shape 19">
            <a:extLst>
              <a:ext uri="{FF2B5EF4-FFF2-40B4-BE49-F238E27FC236}">
                <a16:creationId xmlns:a16="http://schemas.microsoft.com/office/drawing/2014/main" id="{FA0F26BA-40E4-45FB-B677-CC713FFA4095}"/>
              </a:ext>
            </a:extLst>
          </p:cNvPr>
          <p:cNvSpPr/>
          <p:nvPr/>
        </p:nvSpPr>
        <p:spPr>
          <a:xfrm>
            <a:off x="418643" y="4952167"/>
            <a:ext cx="2742514"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Must be Global Administrator or User Administrator to manage users</a:t>
            </a:r>
            <a:endParaRPr lang="en-IN" sz="1961" dirty="0">
              <a:solidFill>
                <a:schemeClr val="tx1"/>
              </a:solidFill>
            </a:endParaRPr>
          </a:p>
        </p:txBody>
      </p:sp>
      <p:sp>
        <p:nvSpPr>
          <p:cNvPr id="21" name="Freeform: Shape 20">
            <a:extLst>
              <a:ext uri="{FF2B5EF4-FFF2-40B4-BE49-F238E27FC236}">
                <a16:creationId xmlns:a16="http://schemas.microsoft.com/office/drawing/2014/main" id="{C076102E-3CBB-479E-BA86-CFB3F9FAF942}"/>
              </a:ext>
            </a:extLst>
          </p:cNvPr>
          <p:cNvSpPr/>
          <p:nvPr/>
        </p:nvSpPr>
        <p:spPr>
          <a:xfrm>
            <a:off x="3285745" y="4952167"/>
            <a:ext cx="2742514"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User profile</a:t>
            </a:r>
            <a:br>
              <a:rPr lang="en-US" sz="1961" dirty="0">
                <a:solidFill>
                  <a:schemeClr val="tx1"/>
                </a:solidFill>
              </a:rPr>
            </a:br>
            <a:r>
              <a:rPr lang="en-US" sz="1961" dirty="0">
                <a:solidFill>
                  <a:schemeClr val="tx1"/>
                </a:solidFill>
              </a:rPr>
              <a:t>(picture, job, contact info) is optional</a:t>
            </a:r>
            <a:endParaRPr lang="en-IN" sz="1961" dirty="0">
              <a:solidFill>
                <a:schemeClr val="tx1"/>
              </a:solidFill>
            </a:endParaRPr>
          </a:p>
        </p:txBody>
      </p:sp>
      <p:sp>
        <p:nvSpPr>
          <p:cNvPr id="22" name="Freeform: Shape 21">
            <a:extLst>
              <a:ext uri="{FF2B5EF4-FFF2-40B4-BE49-F238E27FC236}">
                <a16:creationId xmlns:a16="http://schemas.microsoft.com/office/drawing/2014/main" id="{E464C082-8CAD-4A4C-984C-008F1532D468}"/>
              </a:ext>
            </a:extLst>
          </p:cNvPr>
          <p:cNvSpPr/>
          <p:nvPr/>
        </p:nvSpPr>
        <p:spPr>
          <a:xfrm>
            <a:off x="6152847" y="4952167"/>
            <a:ext cx="2742514"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Deleted users</a:t>
            </a:r>
            <a:br>
              <a:rPr lang="en-US" sz="1961" dirty="0">
                <a:solidFill>
                  <a:schemeClr val="tx1"/>
                </a:solidFill>
              </a:rPr>
            </a:br>
            <a:r>
              <a:rPr lang="en-US" sz="1961" dirty="0">
                <a:solidFill>
                  <a:schemeClr val="tx1"/>
                </a:solidFill>
              </a:rPr>
              <a:t>can be restored</a:t>
            </a:r>
            <a:br>
              <a:rPr lang="en-US" sz="1961" dirty="0">
                <a:solidFill>
                  <a:schemeClr val="tx1"/>
                </a:solidFill>
              </a:rPr>
            </a:br>
            <a:r>
              <a:rPr lang="en-US" sz="1961" dirty="0">
                <a:solidFill>
                  <a:schemeClr val="tx1"/>
                </a:solidFill>
              </a:rPr>
              <a:t>for 30 days</a:t>
            </a:r>
            <a:endParaRPr lang="en-IN" sz="1961" dirty="0">
              <a:solidFill>
                <a:schemeClr val="tx1"/>
              </a:solidFill>
            </a:endParaRPr>
          </a:p>
        </p:txBody>
      </p:sp>
      <p:sp>
        <p:nvSpPr>
          <p:cNvPr id="23" name="Freeform: Shape 22">
            <a:extLst>
              <a:ext uri="{FF2B5EF4-FFF2-40B4-BE49-F238E27FC236}">
                <a16:creationId xmlns:a16="http://schemas.microsoft.com/office/drawing/2014/main" id="{BB47372E-D0FF-48F8-9885-26EA4EDE90A2}"/>
              </a:ext>
            </a:extLst>
          </p:cNvPr>
          <p:cNvSpPr/>
          <p:nvPr/>
        </p:nvSpPr>
        <p:spPr>
          <a:xfrm>
            <a:off x="9019949" y="4952167"/>
            <a:ext cx="2742514"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Sign in and audit</a:t>
            </a:r>
            <a:br>
              <a:rPr lang="en-US" sz="1961" dirty="0">
                <a:solidFill>
                  <a:schemeClr val="tx1"/>
                </a:solidFill>
              </a:rPr>
            </a:br>
            <a:r>
              <a:rPr lang="en-US" sz="1961" dirty="0">
                <a:solidFill>
                  <a:schemeClr val="tx1"/>
                </a:solidFill>
              </a:rPr>
              <a:t>log information</a:t>
            </a:r>
            <a:br>
              <a:rPr lang="en-US" sz="1961" dirty="0">
                <a:solidFill>
                  <a:schemeClr val="tx1"/>
                </a:solidFill>
              </a:rPr>
            </a:br>
            <a:r>
              <a:rPr lang="en-US" sz="1961" dirty="0">
                <a:solidFill>
                  <a:schemeClr val="tx1"/>
                </a:solidFill>
              </a:rPr>
              <a:t>is available</a:t>
            </a:r>
            <a:endParaRPr lang="en-IN" sz="1961" dirty="0">
              <a:solidFill>
                <a:schemeClr val="tx1"/>
              </a:solidFill>
            </a:endParaRPr>
          </a:p>
        </p:txBody>
      </p:sp>
    </p:spTree>
    <p:extLst>
      <p:ext uri="{BB962C8B-B14F-4D97-AF65-F5344CB8AC3E}">
        <p14:creationId xmlns:p14="http://schemas.microsoft.com/office/powerpoint/2010/main" val="30193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Create Bulk User Accounts</a:t>
            </a:r>
          </a:p>
        </p:txBody>
      </p:sp>
      <p:sp>
        <p:nvSpPr>
          <p:cNvPr id="10" name="Freeform: Shape 9">
            <a:extLst>
              <a:ext uri="{FF2B5EF4-FFF2-40B4-BE49-F238E27FC236}">
                <a16:creationId xmlns:a16="http://schemas.microsoft.com/office/drawing/2014/main" id="{F6084F3F-647F-4933-85D8-5F1690C4EA0D}"/>
              </a:ext>
            </a:extLst>
          </p:cNvPr>
          <p:cNvSpPr/>
          <p:nvPr/>
        </p:nvSpPr>
        <p:spPr>
          <a:xfrm>
            <a:off x="547250" y="4798961"/>
            <a:ext cx="3557890"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Azure AD supports bulk user create, delete, and list</a:t>
            </a:r>
          </a:p>
        </p:txBody>
      </p:sp>
      <p:sp>
        <p:nvSpPr>
          <p:cNvPr id="9" name="Freeform: Shape 8">
            <a:extLst>
              <a:ext uri="{FF2B5EF4-FFF2-40B4-BE49-F238E27FC236}">
                <a16:creationId xmlns:a16="http://schemas.microsoft.com/office/drawing/2014/main" id="{CC67C29D-13CE-4EDA-B25C-E03DB051F7C5}"/>
              </a:ext>
            </a:extLst>
          </p:cNvPr>
          <p:cNvSpPr/>
          <p:nvPr/>
        </p:nvSpPr>
        <p:spPr>
          <a:xfrm>
            <a:off x="4283564" y="4798960"/>
            <a:ext cx="3557890"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Create the comma-separated values (CSV) template you can download from the Portal</a:t>
            </a:r>
          </a:p>
        </p:txBody>
      </p:sp>
      <p:sp>
        <p:nvSpPr>
          <p:cNvPr id="11" name="Freeform: Shape 10">
            <a:extLst>
              <a:ext uri="{FF2B5EF4-FFF2-40B4-BE49-F238E27FC236}">
                <a16:creationId xmlns:a16="http://schemas.microsoft.com/office/drawing/2014/main" id="{F1EF831E-263B-494E-A165-3C91F34BC23C}"/>
              </a:ext>
            </a:extLst>
          </p:cNvPr>
          <p:cNvSpPr/>
          <p:nvPr/>
        </p:nvSpPr>
        <p:spPr>
          <a:xfrm>
            <a:off x="8019877" y="4798960"/>
            <a:ext cx="3557890"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rPr>
              <a:t>Must be signed in as a Global administrator or User administrator</a:t>
            </a:r>
          </a:p>
        </p:txBody>
      </p:sp>
      <p:pic>
        <p:nvPicPr>
          <p:cNvPr id="3" name="Picture 2" descr="Screenshot of the bulk create user page in Azure AD. ">
            <a:extLst>
              <a:ext uri="{FF2B5EF4-FFF2-40B4-BE49-F238E27FC236}">
                <a16:creationId xmlns:a16="http://schemas.microsoft.com/office/drawing/2014/main" id="{7740676A-1072-411D-B851-F5DB71064382}"/>
              </a:ext>
            </a:extLst>
          </p:cNvPr>
          <p:cNvPicPr>
            <a:picLocks noChangeAspect="1"/>
          </p:cNvPicPr>
          <p:nvPr/>
        </p:nvPicPr>
        <p:blipFill>
          <a:blip r:embed="rId3"/>
          <a:stretch>
            <a:fillRect/>
          </a:stretch>
        </p:blipFill>
        <p:spPr>
          <a:xfrm>
            <a:off x="643155" y="1893076"/>
            <a:ext cx="10752336" cy="2182069"/>
          </a:xfrm>
          <a:prstGeom prst="rect">
            <a:avLst/>
          </a:prstGeom>
        </p:spPr>
      </p:pic>
      <p:sp>
        <p:nvSpPr>
          <p:cNvPr id="5" name="Rectangle 4">
            <a:extLst>
              <a:ext uri="{FF2B5EF4-FFF2-40B4-BE49-F238E27FC236}">
                <a16:creationId xmlns:a16="http://schemas.microsoft.com/office/drawing/2014/main" id="{3BF2B4B1-B0EA-4B47-A1AD-F26A44ADC48A}"/>
              </a:ext>
              <a:ext uri="{C183D7F6-B498-43B3-948B-1728B52AA6E4}">
                <adec:decorative xmlns:adec="http://schemas.microsoft.com/office/drawing/2017/decorative" val="1"/>
              </a:ext>
            </a:extLst>
          </p:cNvPr>
          <p:cNvSpPr/>
          <p:nvPr/>
        </p:nvSpPr>
        <p:spPr bwMode="auto">
          <a:xfrm>
            <a:off x="418644" y="1169263"/>
            <a:ext cx="11354714" cy="334956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1129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Group Accounts</a:t>
            </a:r>
          </a:p>
        </p:txBody>
      </p:sp>
      <p:sp>
        <p:nvSpPr>
          <p:cNvPr id="11" name="Rectangle 10">
            <a:extLst>
              <a:ext uri="{FF2B5EF4-FFF2-40B4-BE49-F238E27FC236}">
                <a16:creationId xmlns:a16="http://schemas.microsoft.com/office/drawing/2014/main" id="{67F2BA23-EAF0-4F0E-ACE5-C863F7DA9F08}"/>
              </a:ext>
              <a:ext uri="{C183D7F6-B498-43B3-948B-1728B52AA6E4}">
                <adec:decorative xmlns:adec="http://schemas.microsoft.com/office/drawing/2017/decorative" val="1"/>
              </a:ext>
            </a:extLst>
          </p:cNvPr>
          <p:cNvSpPr/>
          <p:nvPr/>
        </p:nvSpPr>
        <p:spPr bwMode="auto">
          <a:xfrm>
            <a:off x="418644" y="1169264"/>
            <a:ext cx="11354714" cy="334625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pic>
        <p:nvPicPr>
          <p:cNvPr id="13" name="Picture 3" descr="Screenshot of the Users and Groups - All Groups page in the Azure Portal. All Groups is highlighted and three groups are shown: Managers, Virtual Machine Administrators, and Virtual Network Administrators. The Group Type for each group is Security and the Membership Type is Assigned">
            <a:extLst>
              <a:ext uri="{FF2B5EF4-FFF2-40B4-BE49-F238E27FC236}">
                <a16:creationId xmlns:a16="http://schemas.microsoft.com/office/drawing/2014/main" id="{0F71FC66-9E5E-4996-A453-AA80AC7790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291680" y="1317712"/>
            <a:ext cx="9608644" cy="3049355"/>
          </a:xfrm>
          <a:prstGeom prst="rect">
            <a:avLst/>
          </a:prstGeom>
        </p:spPr>
      </p:pic>
      <p:sp>
        <p:nvSpPr>
          <p:cNvPr id="5" name="Rectangle 4">
            <a:extLst>
              <a:ext uri="{FF2B5EF4-FFF2-40B4-BE49-F238E27FC236}">
                <a16:creationId xmlns:a16="http://schemas.microsoft.com/office/drawing/2014/main" id="{9D4081B1-5032-4F80-BBEC-87A7EC21EBC2}"/>
              </a:ext>
            </a:extLst>
          </p:cNvPr>
          <p:cNvSpPr/>
          <p:nvPr/>
        </p:nvSpPr>
        <p:spPr>
          <a:xfrm>
            <a:off x="418642" y="4667588"/>
            <a:ext cx="5595676" cy="166491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157" dirty="0">
                <a:solidFill>
                  <a:schemeClr val="tx1"/>
                </a:solidFill>
                <a:latin typeface="+mj-lt"/>
              </a:rPr>
              <a:t>Group Types</a:t>
            </a:r>
          </a:p>
          <a:p>
            <a:pPr marL="336145" indent="-224097">
              <a:spcBef>
                <a:spcPts val="196"/>
              </a:spcBef>
              <a:spcAft>
                <a:spcPts val="294"/>
              </a:spcAft>
              <a:buFont typeface="Arial" panose="020B0604020202020204" pitchFamily="34" charset="0"/>
              <a:buChar char="•"/>
            </a:pPr>
            <a:r>
              <a:rPr lang="en-US" sz="2157" dirty="0">
                <a:solidFill>
                  <a:schemeClr val="tx1"/>
                </a:solidFill>
              </a:rPr>
              <a:t>Security groups</a:t>
            </a:r>
          </a:p>
          <a:p>
            <a:pPr marL="336145" indent="-224097">
              <a:spcBef>
                <a:spcPts val="196"/>
              </a:spcBef>
              <a:spcAft>
                <a:spcPts val="294"/>
              </a:spcAft>
              <a:buFont typeface="Arial" panose="020B0604020202020204" pitchFamily="34" charset="0"/>
              <a:buChar char="•"/>
            </a:pPr>
            <a:r>
              <a:rPr lang="en-US" sz="2157" dirty="0">
                <a:solidFill>
                  <a:schemeClr val="tx1"/>
                </a:solidFill>
              </a:rPr>
              <a:t>Microsoft 365 groups</a:t>
            </a:r>
          </a:p>
        </p:txBody>
      </p:sp>
      <p:sp>
        <p:nvSpPr>
          <p:cNvPr id="15" name="Rectangle 14">
            <a:extLst>
              <a:ext uri="{FF2B5EF4-FFF2-40B4-BE49-F238E27FC236}">
                <a16:creationId xmlns:a16="http://schemas.microsoft.com/office/drawing/2014/main" id="{BD242CC3-01C1-41E3-919F-6987173DA536}"/>
              </a:ext>
            </a:extLst>
          </p:cNvPr>
          <p:cNvSpPr/>
          <p:nvPr/>
        </p:nvSpPr>
        <p:spPr>
          <a:xfrm>
            <a:off x="6156609" y="4667588"/>
            <a:ext cx="5616748" cy="166491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157" dirty="0">
                <a:solidFill>
                  <a:schemeClr val="tx1"/>
                </a:solidFill>
                <a:latin typeface="+mj-lt"/>
              </a:rPr>
              <a:t>Assignment Types</a:t>
            </a:r>
          </a:p>
          <a:p>
            <a:pPr marL="336145" indent="-224097">
              <a:spcBef>
                <a:spcPts val="196"/>
              </a:spcBef>
              <a:spcAft>
                <a:spcPts val="294"/>
              </a:spcAft>
              <a:buFont typeface="Arial" panose="020B0604020202020204" pitchFamily="34" charset="0"/>
              <a:buChar char="•"/>
            </a:pPr>
            <a:r>
              <a:rPr lang="en-US" sz="2157" dirty="0">
                <a:solidFill>
                  <a:schemeClr val="tx1"/>
                </a:solidFill>
              </a:rPr>
              <a:t>Assigned</a:t>
            </a:r>
          </a:p>
          <a:p>
            <a:pPr marL="336145" indent="-224097">
              <a:spcBef>
                <a:spcPts val="196"/>
              </a:spcBef>
              <a:spcAft>
                <a:spcPts val="294"/>
              </a:spcAft>
              <a:buFont typeface="Arial" panose="020B0604020202020204" pitchFamily="34" charset="0"/>
              <a:buChar char="•"/>
            </a:pPr>
            <a:r>
              <a:rPr lang="en-US" sz="2157" dirty="0">
                <a:solidFill>
                  <a:schemeClr val="tx1"/>
                </a:solidFill>
              </a:rPr>
              <a:t>Dynamic User</a:t>
            </a:r>
          </a:p>
          <a:p>
            <a:pPr marL="336145" indent="-224097">
              <a:spcBef>
                <a:spcPts val="196"/>
              </a:spcBef>
              <a:spcAft>
                <a:spcPts val="294"/>
              </a:spcAft>
              <a:buFont typeface="Arial" panose="020B0604020202020204" pitchFamily="34" charset="0"/>
              <a:buChar char="•"/>
            </a:pPr>
            <a:r>
              <a:rPr lang="en-US" sz="2157" dirty="0">
                <a:solidFill>
                  <a:schemeClr val="tx1"/>
                </a:solidFill>
              </a:rPr>
              <a:t>Dynamic Device (Security groups only)</a:t>
            </a:r>
          </a:p>
        </p:txBody>
      </p:sp>
    </p:spTree>
    <p:extLst>
      <p:ext uri="{BB962C8B-B14F-4D97-AF65-F5344CB8AC3E}">
        <p14:creationId xmlns:p14="http://schemas.microsoft.com/office/powerpoint/2010/main" val="263361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55995" y="620827"/>
            <a:ext cx="11306469" cy="403079"/>
          </a:xfrm>
        </p:spPr>
        <p:txBody>
          <a:bodyPr/>
          <a:lstStyle/>
          <a:p>
            <a:r>
              <a:rPr lang="en-US" dirty="0"/>
              <a:t>Identify Regions</a:t>
            </a:r>
          </a:p>
        </p:txBody>
      </p:sp>
      <p:sp>
        <p:nvSpPr>
          <p:cNvPr id="10" name="Rectangle 9">
            <a:extLst>
              <a:ext uri="{FF2B5EF4-FFF2-40B4-BE49-F238E27FC236}">
                <a16:creationId xmlns:a16="http://schemas.microsoft.com/office/drawing/2014/main" id="{36FEDD66-5AB8-4D8C-8C87-4D380BD8BC42}"/>
              </a:ext>
              <a:ext uri="{C183D7F6-B498-43B3-948B-1728B52AA6E4}">
                <adec:decorative xmlns:adec="http://schemas.microsoft.com/office/drawing/2017/decorative" val="0"/>
              </a:ext>
            </a:extLst>
          </p:cNvPr>
          <p:cNvSpPr/>
          <p:nvPr/>
        </p:nvSpPr>
        <p:spPr bwMode="auto">
          <a:xfrm>
            <a:off x="443544" y="1519116"/>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A region represents a collection of datacenters</a:t>
            </a:r>
          </a:p>
        </p:txBody>
      </p:sp>
      <p:sp>
        <p:nvSpPr>
          <p:cNvPr id="12" name="Rectangle 11">
            <a:extLst>
              <a:ext uri="{FF2B5EF4-FFF2-40B4-BE49-F238E27FC236}">
                <a16:creationId xmlns:a16="http://schemas.microsoft.com/office/drawing/2014/main" id="{65A76017-C348-4C31-8FF7-A7D539555ACF}"/>
              </a:ext>
              <a:ext uri="{C183D7F6-B498-43B3-948B-1728B52AA6E4}">
                <adec:decorative xmlns:adec="http://schemas.microsoft.com/office/drawing/2017/decorative" val="0"/>
              </a:ext>
            </a:extLst>
          </p:cNvPr>
          <p:cNvSpPr/>
          <p:nvPr/>
        </p:nvSpPr>
        <p:spPr bwMode="auto">
          <a:xfrm>
            <a:off x="443544" y="2150010"/>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Provides flexibility and scale</a:t>
            </a:r>
          </a:p>
        </p:txBody>
      </p:sp>
      <p:sp>
        <p:nvSpPr>
          <p:cNvPr id="13" name="Rectangle 12">
            <a:extLst>
              <a:ext uri="{FF2B5EF4-FFF2-40B4-BE49-F238E27FC236}">
                <a16:creationId xmlns:a16="http://schemas.microsoft.com/office/drawing/2014/main" id="{A4C727FE-E7E1-48A2-A17F-0850F6870BCB}"/>
              </a:ext>
              <a:ext uri="{C183D7F6-B498-43B3-948B-1728B52AA6E4}">
                <adec:decorative xmlns:adec="http://schemas.microsoft.com/office/drawing/2017/decorative" val="0"/>
              </a:ext>
            </a:extLst>
          </p:cNvPr>
          <p:cNvSpPr/>
          <p:nvPr/>
        </p:nvSpPr>
        <p:spPr bwMode="auto">
          <a:xfrm>
            <a:off x="443544" y="2780905"/>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Preserves data residency</a:t>
            </a:r>
          </a:p>
        </p:txBody>
      </p:sp>
      <p:sp>
        <p:nvSpPr>
          <p:cNvPr id="14" name="Rectangle 13">
            <a:extLst>
              <a:ext uri="{FF2B5EF4-FFF2-40B4-BE49-F238E27FC236}">
                <a16:creationId xmlns:a16="http://schemas.microsoft.com/office/drawing/2014/main" id="{E19DF0EF-8D91-4D3F-BE6C-A5CE10219039}"/>
              </a:ext>
              <a:ext uri="{C183D7F6-B498-43B3-948B-1728B52AA6E4}">
                <adec:decorative xmlns:adec="http://schemas.microsoft.com/office/drawing/2017/decorative" val="0"/>
              </a:ext>
            </a:extLst>
          </p:cNvPr>
          <p:cNvSpPr/>
          <p:nvPr/>
        </p:nvSpPr>
        <p:spPr bwMode="auto">
          <a:xfrm>
            <a:off x="443544" y="3411799"/>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Select regions close to your users</a:t>
            </a:r>
          </a:p>
        </p:txBody>
      </p:sp>
      <p:sp>
        <p:nvSpPr>
          <p:cNvPr id="15" name="Rectangle 14">
            <a:extLst>
              <a:ext uri="{FF2B5EF4-FFF2-40B4-BE49-F238E27FC236}">
                <a16:creationId xmlns:a16="http://schemas.microsoft.com/office/drawing/2014/main" id="{B73B9D39-09A4-42F6-98A7-CA8212862DBF}"/>
              </a:ext>
              <a:ext uri="{C183D7F6-B498-43B3-948B-1728B52AA6E4}">
                <adec:decorative xmlns:adec="http://schemas.microsoft.com/office/drawing/2017/decorative" val="0"/>
              </a:ext>
            </a:extLst>
          </p:cNvPr>
          <p:cNvSpPr/>
          <p:nvPr/>
        </p:nvSpPr>
        <p:spPr bwMode="auto">
          <a:xfrm>
            <a:off x="443544" y="4042693"/>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Be aware of region deployment availability</a:t>
            </a:r>
          </a:p>
        </p:txBody>
      </p:sp>
      <p:sp>
        <p:nvSpPr>
          <p:cNvPr id="16" name="Rectangle 15">
            <a:extLst>
              <a:ext uri="{FF2B5EF4-FFF2-40B4-BE49-F238E27FC236}">
                <a16:creationId xmlns:a16="http://schemas.microsoft.com/office/drawing/2014/main" id="{485E15BF-11A3-4664-8D12-048BB1846C40}"/>
              </a:ext>
              <a:ext uri="{C183D7F6-B498-43B3-948B-1728B52AA6E4}">
                <adec:decorative xmlns:adec="http://schemas.microsoft.com/office/drawing/2017/decorative" val="0"/>
              </a:ext>
            </a:extLst>
          </p:cNvPr>
          <p:cNvSpPr/>
          <p:nvPr/>
        </p:nvSpPr>
        <p:spPr bwMode="auto">
          <a:xfrm>
            <a:off x="443544" y="4673587"/>
            <a:ext cx="5370767" cy="82157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There are global services that are region independent</a:t>
            </a:r>
          </a:p>
        </p:txBody>
      </p:sp>
      <p:sp>
        <p:nvSpPr>
          <p:cNvPr id="18" name="Rectangle 17">
            <a:extLst>
              <a:ext uri="{FF2B5EF4-FFF2-40B4-BE49-F238E27FC236}">
                <a16:creationId xmlns:a16="http://schemas.microsoft.com/office/drawing/2014/main" id="{6542DD08-1057-49D0-8FD7-DF807CD639AA}"/>
              </a:ext>
              <a:ext uri="{C183D7F6-B498-43B3-948B-1728B52AA6E4}">
                <adec:decorative xmlns:adec="http://schemas.microsoft.com/office/drawing/2017/decorative" val="0"/>
              </a:ext>
            </a:extLst>
          </p:cNvPr>
          <p:cNvSpPr/>
          <p:nvPr/>
        </p:nvSpPr>
        <p:spPr bwMode="auto">
          <a:xfrm>
            <a:off x="443544" y="5588698"/>
            <a:ext cx="5370767" cy="53735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765">
                <a:solidFill>
                  <a:schemeClr val="tx1"/>
                </a:solidFill>
              </a:rPr>
              <a:t>Regions are paired for high availability</a:t>
            </a:r>
          </a:p>
        </p:txBody>
      </p:sp>
      <p:pic>
        <p:nvPicPr>
          <p:cNvPr id="3" name="Picture 2" descr="Azure regions map.">
            <a:extLst>
              <a:ext uri="{FF2B5EF4-FFF2-40B4-BE49-F238E27FC236}">
                <a16:creationId xmlns:a16="http://schemas.microsoft.com/office/drawing/2014/main" id="{B2F5337A-7CF4-4D5F-95D3-AEAAC461869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14312" y="1502157"/>
            <a:ext cx="6296860" cy="3632209"/>
          </a:xfrm>
          <a:prstGeom prst="rect">
            <a:avLst/>
          </a:prstGeom>
        </p:spPr>
      </p:pic>
      <p:sp>
        <p:nvSpPr>
          <p:cNvPr id="8" name="Rectangle 7">
            <a:extLst>
              <a:ext uri="{FF2B5EF4-FFF2-40B4-BE49-F238E27FC236}">
                <a16:creationId xmlns:a16="http://schemas.microsoft.com/office/drawing/2014/main" id="{811A1EC0-5AF2-4D21-8437-ACF71E7A3AAF}"/>
              </a:ext>
            </a:extLst>
          </p:cNvPr>
          <p:cNvSpPr/>
          <p:nvPr/>
        </p:nvSpPr>
        <p:spPr>
          <a:xfrm>
            <a:off x="5941994" y="5179457"/>
            <a:ext cx="5662267" cy="899911"/>
          </a:xfrm>
          <a:prstGeom prst="rect">
            <a:avLst/>
          </a:prstGeom>
          <a:noFill/>
        </p:spPr>
        <p:txBody>
          <a:bodyPr wrap="square" lIns="89642" anchor="ctr">
            <a:noAutofit/>
          </a:bodyPr>
          <a:lstStyle/>
          <a:p>
            <a:pPr algn="ctr"/>
            <a:r>
              <a:rPr lang="en-IE" sz="1961" dirty="0">
                <a:latin typeface="+mj-lt"/>
                <a:cs typeface="Segoe UI Semilight"/>
              </a:rPr>
              <a:t>Worldwide there are 60+ regions</a:t>
            </a:r>
            <a:br>
              <a:rPr lang="en-IE" sz="1961" dirty="0">
                <a:latin typeface="+mj-lt"/>
                <a:cs typeface="Segoe UI Semilight"/>
              </a:rPr>
            </a:br>
            <a:r>
              <a:rPr lang="en-IE" sz="1961" dirty="0">
                <a:latin typeface="+mj-lt"/>
                <a:cs typeface="Segoe UI Semilight"/>
              </a:rPr>
              <a:t>representing 140 countries</a:t>
            </a:r>
            <a:endParaRPr lang="en-US" sz="1961" dirty="0">
              <a:latin typeface="+mj-lt"/>
              <a:cs typeface="Segoe UI Semilight"/>
            </a:endParaRPr>
          </a:p>
        </p:txBody>
      </p:sp>
    </p:spTree>
    <p:extLst>
      <p:ext uri="{BB962C8B-B14F-4D97-AF65-F5344CB8AC3E}">
        <p14:creationId xmlns:p14="http://schemas.microsoft.com/office/powerpoint/2010/main" val="1867425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Azure Subscriptions</a:t>
            </a:r>
          </a:p>
        </p:txBody>
      </p:sp>
      <p:sp>
        <p:nvSpPr>
          <p:cNvPr id="12" name="Rectangle 11">
            <a:extLst>
              <a:ext uri="{FF2B5EF4-FFF2-40B4-BE49-F238E27FC236}">
                <a16:creationId xmlns:a16="http://schemas.microsoft.com/office/drawing/2014/main" id="{27061DCE-0628-443A-AAEB-A9977EF1FCC7}"/>
              </a:ext>
              <a:ext uri="{C183D7F6-B498-43B3-948B-1728B52AA6E4}">
                <adec:decorative xmlns:adec="http://schemas.microsoft.com/office/drawing/2017/decorative" val="0"/>
              </a:ext>
            </a:extLst>
          </p:cNvPr>
          <p:cNvSpPr/>
          <p:nvPr/>
        </p:nvSpPr>
        <p:spPr bwMode="auto">
          <a:xfrm>
            <a:off x="418643" y="1532739"/>
            <a:ext cx="5893681"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Only identities in Azure AD, or in a directory that is trusted by Azure AD, can create a subscription</a:t>
            </a:r>
          </a:p>
        </p:txBody>
      </p:sp>
      <p:sp>
        <p:nvSpPr>
          <p:cNvPr id="8" name="Rectangle 7">
            <a:extLst>
              <a:ext uri="{FF2B5EF4-FFF2-40B4-BE49-F238E27FC236}">
                <a16:creationId xmlns:a16="http://schemas.microsoft.com/office/drawing/2014/main" id="{8CD30929-7FD0-4673-80E1-2E9A660C7595}"/>
              </a:ext>
              <a:ext uri="{C183D7F6-B498-43B3-948B-1728B52AA6E4}">
                <adec:decorative xmlns:adec="http://schemas.microsoft.com/office/drawing/2017/decorative" val="0"/>
              </a:ext>
            </a:extLst>
          </p:cNvPr>
          <p:cNvSpPr/>
          <p:nvPr/>
        </p:nvSpPr>
        <p:spPr bwMode="auto">
          <a:xfrm>
            <a:off x="418643" y="3098571"/>
            <a:ext cx="5893681"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Logical unit of Azure services that is linked to an Azure account</a:t>
            </a:r>
          </a:p>
        </p:txBody>
      </p:sp>
      <p:sp>
        <p:nvSpPr>
          <p:cNvPr id="11" name="Rectangle 10">
            <a:extLst>
              <a:ext uri="{FF2B5EF4-FFF2-40B4-BE49-F238E27FC236}">
                <a16:creationId xmlns:a16="http://schemas.microsoft.com/office/drawing/2014/main" id="{C9F1EDBB-828D-4D8C-A946-2774E3A80DE4}"/>
              </a:ext>
              <a:ext uri="{C183D7F6-B498-43B3-948B-1728B52AA6E4}">
                <adec:decorative xmlns:adec="http://schemas.microsoft.com/office/drawing/2017/decorative" val="0"/>
              </a:ext>
            </a:extLst>
          </p:cNvPr>
          <p:cNvSpPr/>
          <p:nvPr/>
        </p:nvSpPr>
        <p:spPr bwMode="auto">
          <a:xfrm>
            <a:off x="418643" y="4678025"/>
            <a:ext cx="5893681"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rPr>
              <a:t>Security and billing boundary</a:t>
            </a:r>
          </a:p>
        </p:txBody>
      </p:sp>
      <p:pic>
        <p:nvPicPr>
          <p:cNvPr id="10" name="Picture 2" descr="Flowchart. At the top is the Azure Account. Connected to the account is a Dev Subscription, Test Subscription, and Production Subscription. Each subscription uses different Azure resources">
            <a:extLst>
              <a:ext uri="{FF2B5EF4-FFF2-40B4-BE49-F238E27FC236}">
                <a16:creationId xmlns:a16="http://schemas.microsoft.com/office/drawing/2014/main" id="{91F8BF4C-A37F-4E65-82E6-0A29C333C66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3238" b="-13863"/>
          <a:stretch/>
        </p:blipFill>
        <p:spPr>
          <a:xfrm>
            <a:off x="6474179" y="1519116"/>
            <a:ext cx="5299179" cy="4606939"/>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155693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Obtain a Subscription</a:t>
            </a:r>
          </a:p>
        </p:txBody>
      </p:sp>
      <p:sp>
        <p:nvSpPr>
          <p:cNvPr id="9" name="Rectangle 8">
            <a:extLst>
              <a:ext uri="{FF2B5EF4-FFF2-40B4-BE49-F238E27FC236}">
                <a16:creationId xmlns:a16="http://schemas.microsoft.com/office/drawing/2014/main" id="{1DB2FDA4-859B-48EE-9822-91840F556379}"/>
              </a:ext>
              <a:ext uri="{C183D7F6-B498-43B3-948B-1728B52AA6E4}">
                <adec:decorative xmlns:adec="http://schemas.microsoft.com/office/drawing/2017/decorative" val="0"/>
              </a:ext>
            </a:extLst>
          </p:cNvPr>
          <p:cNvSpPr/>
          <p:nvPr/>
        </p:nvSpPr>
        <p:spPr bwMode="auto">
          <a:xfrm>
            <a:off x="443545" y="1519119"/>
            <a:ext cx="5898475" cy="13276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Enterprise Agreement </a:t>
            </a:r>
            <a:r>
              <a:rPr lang="en-US" sz="1961">
                <a:solidFill>
                  <a:schemeClr val="tx1"/>
                </a:solidFill>
              </a:rPr>
              <a:t>customers make an upfront monetary commitment and consume services throughout the year</a:t>
            </a:r>
          </a:p>
        </p:txBody>
      </p:sp>
      <p:sp>
        <p:nvSpPr>
          <p:cNvPr id="10" name="Rectangle 9">
            <a:extLst>
              <a:ext uri="{FF2B5EF4-FFF2-40B4-BE49-F238E27FC236}">
                <a16:creationId xmlns:a16="http://schemas.microsoft.com/office/drawing/2014/main" id="{06253CC0-16C7-45C8-BA8D-27A2E9F02FFC}"/>
              </a:ext>
              <a:ext uri="{C183D7F6-B498-43B3-948B-1728B52AA6E4}">
                <adec:decorative xmlns:adec="http://schemas.microsoft.com/office/drawing/2017/decorative" val="0"/>
              </a:ext>
            </a:extLst>
          </p:cNvPr>
          <p:cNvSpPr/>
          <p:nvPr/>
        </p:nvSpPr>
        <p:spPr bwMode="auto">
          <a:xfrm>
            <a:off x="443545" y="2975634"/>
            <a:ext cx="5898475" cy="1025796"/>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Resellers</a:t>
            </a:r>
            <a:r>
              <a:rPr lang="en-US" sz="1961">
                <a:solidFill>
                  <a:schemeClr val="tx1"/>
                </a:solidFill>
              </a:rPr>
              <a:t> provide a simple, flexible way to purchase cloud services</a:t>
            </a:r>
          </a:p>
        </p:txBody>
      </p:sp>
      <p:sp>
        <p:nvSpPr>
          <p:cNvPr id="11" name="Rectangle 10">
            <a:extLst>
              <a:ext uri="{FF2B5EF4-FFF2-40B4-BE49-F238E27FC236}">
                <a16:creationId xmlns:a16="http://schemas.microsoft.com/office/drawing/2014/main" id="{AD17F5D7-46F5-4D26-9192-87251CE87D2A}"/>
              </a:ext>
              <a:ext uri="{C183D7F6-B498-43B3-948B-1728B52AA6E4}">
                <adec:decorative xmlns:adec="http://schemas.microsoft.com/office/drawing/2017/decorative" val="0"/>
              </a:ext>
            </a:extLst>
          </p:cNvPr>
          <p:cNvSpPr/>
          <p:nvPr/>
        </p:nvSpPr>
        <p:spPr bwMode="auto">
          <a:xfrm>
            <a:off x="443545" y="4130315"/>
            <a:ext cx="5898475" cy="1025796"/>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Partners</a:t>
            </a:r>
            <a:r>
              <a:rPr lang="en-US" sz="1961">
                <a:solidFill>
                  <a:schemeClr val="tx1"/>
                </a:solidFill>
              </a:rPr>
              <a:t> can design and implement your Azure cloud solution</a:t>
            </a:r>
          </a:p>
        </p:txBody>
      </p:sp>
      <p:sp>
        <p:nvSpPr>
          <p:cNvPr id="12" name="Rectangle 11">
            <a:extLst>
              <a:ext uri="{FF2B5EF4-FFF2-40B4-BE49-F238E27FC236}">
                <a16:creationId xmlns:a16="http://schemas.microsoft.com/office/drawing/2014/main" id="{CEC491F3-9B54-4D23-966A-CDEFF9198351}"/>
              </a:ext>
              <a:ext uri="{C183D7F6-B498-43B3-948B-1728B52AA6E4}">
                <adec:decorative xmlns:adec="http://schemas.microsoft.com/office/drawing/2017/decorative" val="0"/>
              </a:ext>
            </a:extLst>
          </p:cNvPr>
          <p:cNvSpPr/>
          <p:nvPr/>
        </p:nvSpPr>
        <p:spPr bwMode="auto">
          <a:xfrm>
            <a:off x="443545" y="5284994"/>
            <a:ext cx="5898475" cy="84106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Personal free account </a:t>
            </a:r>
            <a:r>
              <a:rPr lang="en-US" sz="1961">
                <a:solidFill>
                  <a:schemeClr val="tx1"/>
                </a:solidFill>
                <a:cs typeface="Segoe UI" panose="020B0502040204020203" pitchFamily="34" charset="0"/>
              </a:rPr>
              <a:t>–</a:t>
            </a:r>
            <a:r>
              <a:rPr lang="en-US" sz="1961">
                <a:solidFill>
                  <a:schemeClr val="tx1"/>
                </a:solidFill>
              </a:rPr>
              <a:t> Start right away</a:t>
            </a:r>
          </a:p>
        </p:txBody>
      </p:sp>
      <p:pic>
        <p:nvPicPr>
          <p:cNvPr id="14" name="Picture 13" descr="Four images representing the four areas on the slide. Decorative">
            <a:extLst>
              <a:ext uri="{FF2B5EF4-FFF2-40B4-BE49-F238E27FC236}">
                <a16:creationId xmlns:a16="http://schemas.microsoft.com/office/drawing/2014/main" id="{43FF486B-C470-434E-97A6-74AC0750CF0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640" t="-2379" r="-6186" b="-2379"/>
          <a:stretch/>
        </p:blipFill>
        <p:spPr>
          <a:xfrm>
            <a:off x="6474180" y="1519116"/>
            <a:ext cx="5299177" cy="4606939"/>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27734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50B8-9CB3-466F-8195-21E6F4ADECFF}"/>
              </a:ext>
            </a:extLst>
          </p:cNvPr>
          <p:cNvSpPr>
            <a:spLocks noGrp="1"/>
          </p:cNvSpPr>
          <p:nvPr>
            <p:ph type="title"/>
          </p:nvPr>
        </p:nvSpPr>
        <p:spPr>
          <a:xfrm>
            <a:off x="455995" y="620827"/>
            <a:ext cx="11306469" cy="403079"/>
          </a:xfrm>
        </p:spPr>
        <p:txBody>
          <a:bodyPr/>
          <a:lstStyle/>
          <a:p>
            <a:r>
              <a:rPr lang="en-US" dirty="0"/>
              <a:t>Identify Subscription Usage</a:t>
            </a:r>
          </a:p>
        </p:txBody>
      </p:sp>
      <p:graphicFrame>
        <p:nvGraphicFramePr>
          <p:cNvPr id="5" name="Table 4">
            <a:extLst>
              <a:ext uri="{FF2B5EF4-FFF2-40B4-BE49-F238E27FC236}">
                <a16:creationId xmlns:a16="http://schemas.microsoft.com/office/drawing/2014/main" id="{7E0A2B37-C2CF-47B4-8811-5C06E7CD89FD}"/>
              </a:ext>
            </a:extLst>
          </p:cNvPr>
          <p:cNvGraphicFramePr>
            <a:graphicFrameLocks noGrp="1"/>
          </p:cNvGraphicFramePr>
          <p:nvPr/>
        </p:nvGraphicFramePr>
        <p:xfrm>
          <a:off x="455996" y="1373864"/>
          <a:ext cx="11354713" cy="4622016"/>
        </p:xfrm>
        <a:graphic>
          <a:graphicData uri="http://schemas.openxmlformats.org/drawingml/2006/table">
            <a:tbl>
              <a:tblPr firstRow="1" bandRow="1">
                <a:tableStyleId>{5C22544A-7EE6-4342-B048-85BDC9FD1C3A}</a:tableStyleId>
              </a:tblPr>
              <a:tblGrid>
                <a:gridCol w="2307982">
                  <a:extLst>
                    <a:ext uri="{9D8B030D-6E8A-4147-A177-3AD203B41FA5}">
                      <a16:colId xmlns:a16="http://schemas.microsoft.com/office/drawing/2014/main" val="1244596785"/>
                    </a:ext>
                  </a:extLst>
                </a:gridCol>
                <a:gridCol w="9046731">
                  <a:extLst>
                    <a:ext uri="{9D8B030D-6E8A-4147-A177-3AD203B41FA5}">
                      <a16:colId xmlns:a16="http://schemas.microsoft.com/office/drawing/2014/main" val="1144169494"/>
                    </a:ext>
                  </a:extLst>
                </a:gridCol>
              </a:tblGrid>
              <a:tr h="537855">
                <a:tc>
                  <a:txBody>
                    <a:bodyPr/>
                    <a:lstStyle/>
                    <a:p>
                      <a:pPr algn="l"/>
                      <a:r>
                        <a:rPr lang="en-US" sz="2400" b="0" dirty="0">
                          <a:latin typeface="+mj-lt"/>
                        </a:rPr>
                        <a:t>Subscription</a:t>
                      </a:r>
                    </a:p>
                  </a:txBody>
                  <a:tcPr marL="134464" marR="134464" marT="89642" marB="89642">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algn="l"/>
                      <a:r>
                        <a:rPr lang="en-US" sz="2400" b="0" dirty="0">
                          <a:latin typeface="+mj-lt"/>
                        </a:rPr>
                        <a:t>Usage</a:t>
                      </a:r>
                    </a:p>
                  </a:txBody>
                  <a:tcPr marL="134464" marR="134464" marT="89642" marB="89642">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3867422487"/>
                  </a:ext>
                </a:extLst>
              </a:tr>
              <a:tr h="986067">
                <a:tc>
                  <a:txBody>
                    <a:bodyPr/>
                    <a:lstStyle/>
                    <a:p>
                      <a:pPr algn="l"/>
                      <a:r>
                        <a:rPr lang="en-US" sz="2200" dirty="0">
                          <a:latin typeface="+mj-lt"/>
                        </a:rPr>
                        <a:t>Free</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a $200 credit for the first 30 days, free limited access for</a:t>
                      </a:r>
                      <a:br>
                        <a:rPr lang="en-US" sz="2200" dirty="0"/>
                      </a:br>
                      <a:r>
                        <a:rPr lang="en-US" sz="2200" dirty="0"/>
                        <a:t>12 months</a:t>
                      </a:r>
                    </a:p>
                  </a:txBody>
                  <a:tcPr marL="134464" marR="0"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7718024"/>
                  </a:ext>
                </a:extLst>
              </a:tr>
              <a:tr h="627497">
                <a:tc>
                  <a:txBody>
                    <a:bodyPr/>
                    <a:lstStyle/>
                    <a:p>
                      <a:pPr algn="l"/>
                      <a:r>
                        <a:rPr lang="en-US" sz="2200" dirty="0">
                          <a:latin typeface="+mj-lt"/>
                        </a:rPr>
                        <a:t>Pay-As-You-Go</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Charges you monthly</a:t>
                      </a: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15247879"/>
                  </a:ext>
                </a:extLst>
              </a:tr>
              <a:tr h="836663">
                <a:tc>
                  <a:txBody>
                    <a:bodyPr/>
                    <a:lstStyle/>
                    <a:p>
                      <a:pPr algn="l"/>
                      <a:r>
                        <a:rPr lang="en-US" sz="2200" dirty="0">
                          <a:latin typeface="+mj-lt"/>
                        </a:rPr>
                        <a:t>CSP</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Agreement with possible discounts through a Microsoft Cloud Solutions Provider Partner – typically for small to medium businesses</a:t>
                      </a: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68380257"/>
                  </a:ext>
                </a:extLst>
              </a:tr>
              <a:tr h="986067">
                <a:tc>
                  <a:txBody>
                    <a:bodyPr/>
                    <a:lstStyle/>
                    <a:p>
                      <a:pPr algn="l"/>
                      <a:r>
                        <a:rPr lang="en-US" sz="2200" dirty="0">
                          <a:latin typeface="+mj-lt"/>
                        </a:rPr>
                        <a:t>Enterprise</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One agreement, with discounts for new licenses and Software</a:t>
                      </a:r>
                      <a:br>
                        <a:rPr lang="en-US" sz="2200" dirty="0"/>
                      </a:br>
                      <a:r>
                        <a:rPr lang="en-US" sz="2200" dirty="0"/>
                        <a:t>Assurance – targeted at enterprise-scale organizations</a:t>
                      </a: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6433382"/>
                  </a:ext>
                </a:extLst>
              </a:tr>
              <a:tr h="627497">
                <a:tc>
                  <a:txBody>
                    <a:bodyPr/>
                    <a:lstStyle/>
                    <a:p>
                      <a:pPr algn="l"/>
                      <a:r>
                        <a:rPr lang="en-US" sz="2200" dirty="0">
                          <a:latin typeface="+mj-lt"/>
                        </a:rPr>
                        <a:t>Student</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2200" dirty="0"/>
                        <a:t>Includes $100 for 12 months – must verify student access</a:t>
                      </a: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421379"/>
                  </a:ext>
                </a:extLst>
              </a:tr>
            </a:tbl>
          </a:graphicData>
        </a:graphic>
      </p:graphicFrame>
    </p:spTree>
    <p:extLst>
      <p:ext uri="{BB962C8B-B14F-4D97-AF65-F5344CB8AC3E}">
        <p14:creationId xmlns:p14="http://schemas.microsoft.com/office/powerpoint/2010/main" val="53520373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36D09-0E04-479E-9B63-D439C0311456}"/>
              </a:ext>
            </a:extLst>
          </p:cNvPr>
          <p:cNvSpPr>
            <a:spLocks noGrp="1"/>
          </p:cNvSpPr>
          <p:nvPr>
            <p:ph type="title"/>
          </p:nvPr>
        </p:nvSpPr>
        <p:spPr/>
        <p:txBody>
          <a:bodyPr/>
          <a:lstStyle/>
          <a:p>
            <a:r>
              <a:rPr lang="en-US" dirty="0">
                <a:solidFill>
                  <a:schemeClr val="tx1"/>
                </a:solidFill>
                <a:cs typeface="Segoe UI"/>
              </a:rPr>
              <a:t>Implement Cost Management</a:t>
            </a:r>
          </a:p>
        </p:txBody>
      </p:sp>
      <p:sp>
        <p:nvSpPr>
          <p:cNvPr id="9" name="Rectangle 8">
            <a:extLst>
              <a:ext uri="{FF2B5EF4-FFF2-40B4-BE49-F238E27FC236}">
                <a16:creationId xmlns:a16="http://schemas.microsoft.com/office/drawing/2014/main" id="{27D4405C-2FD2-4C4D-B51C-41DD47564413}"/>
              </a:ext>
              <a:ext uri="{C183D7F6-B498-43B3-948B-1728B52AA6E4}">
                <adec:decorative xmlns:adec="http://schemas.microsoft.com/office/drawing/2017/decorative" val="0"/>
              </a:ext>
            </a:extLst>
          </p:cNvPr>
          <p:cNvSpPr/>
          <p:nvPr/>
        </p:nvSpPr>
        <p:spPr bwMode="auto">
          <a:xfrm>
            <a:off x="443545" y="1519119"/>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Conduct cost analysis</a:t>
            </a:r>
          </a:p>
        </p:txBody>
      </p:sp>
      <p:sp>
        <p:nvSpPr>
          <p:cNvPr id="10" name="Rectangle 9">
            <a:extLst>
              <a:ext uri="{FF2B5EF4-FFF2-40B4-BE49-F238E27FC236}">
                <a16:creationId xmlns:a16="http://schemas.microsoft.com/office/drawing/2014/main" id="{BDEACC38-26B4-45DF-8810-99676B06E4EA}"/>
              </a:ext>
              <a:ext uri="{C183D7F6-B498-43B3-948B-1728B52AA6E4}">
                <adec:decorative xmlns:adec="http://schemas.microsoft.com/office/drawing/2017/decorative" val="0"/>
              </a:ext>
            </a:extLst>
          </p:cNvPr>
          <p:cNvSpPr/>
          <p:nvPr/>
        </p:nvSpPr>
        <p:spPr bwMode="auto">
          <a:xfrm>
            <a:off x="443545" y="2695320"/>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Create a budget</a:t>
            </a:r>
          </a:p>
        </p:txBody>
      </p:sp>
      <p:sp>
        <p:nvSpPr>
          <p:cNvPr id="11" name="Rectangle 10">
            <a:extLst>
              <a:ext uri="{FF2B5EF4-FFF2-40B4-BE49-F238E27FC236}">
                <a16:creationId xmlns:a16="http://schemas.microsoft.com/office/drawing/2014/main" id="{4CB73FCB-C72E-4FA3-885E-7641168BB5E0}"/>
              </a:ext>
              <a:ext uri="{C183D7F6-B498-43B3-948B-1728B52AA6E4}">
                <adec:decorative xmlns:adec="http://schemas.microsoft.com/office/drawing/2017/decorative" val="0"/>
              </a:ext>
            </a:extLst>
          </p:cNvPr>
          <p:cNvSpPr/>
          <p:nvPr/>
        </p:nvSpPr>
        <p:spPr bwMode="auto">
          <a:xfrm>
            <a:off x="443545" y="3871522"/>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Review recommendations</a:t>
            </a:r>
          </a:p>
        </p:txBody>
      </p:sp>
      <p:sp>
        <p:nvSpPr>
          <p:cNvPr id="12" name="Rectangle 11">
            <a:extLst>
              <a:ext uri="{FF2B5EF4-FFF2-40B4-BE49-F238E27FC236}">
                <a16:creationId xmlns:a16="http://schemas.microsoft.com/office/drawing/2014/main" id="{E034C78B-EFD9-4C59-8273-8DEBD6A8C249}"/>
              </a:ext>
              <a:ext uri="{C183D7F6-B498-43B3-948B-1728B52AA6E4}">
                <adec:decorative xmlns:adec="http://schemas.microsoft.com/office/drawing/2017/decorative" val="0"/>
              </a:ext>
            </a:extLst>
          </p:cNvPr>
          <p:cNvSpPr/>
          <p:nvPr/>
        </p:nvSpPr>
        <p:spPr bwMode="auto">
          <a:xfrm>
            <a:off x="443545" y="5047724"/>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Export the data</a:t>
            </a:r>
          </a:p>
        </p:txBody>
      </p:sp>
      <p:pic>
        <p:nvPicPr>
          <p:cNvPr id="13" name="Picture 12" descr="Screenshot of the Cost Management dashboard showing service name and location costs and forecasts">
            <a:extLst>
              <a:ext uri="{FF2B5EF4-FFF2-40B4-BE49-F238E27FC236}">
                <a16:creationId xmlns:a16="http://schemas.microsoft.com/office/drawing/2014/main" id="{EEE54D60-F5F4-43CF-80EB-2DA5282A092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398" t="-1897" r="-2398" b="-1897"/>
          <a:stretch/>
        </p:blipFill>
        <p:spPr>
          <a:xfrm>
            <a:off x="5919251" y="1519116"/>
            <a:ext cx="5854108" cy="4606939"/>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239724666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Apply Resource Tagging</a:t>
            </a:r>
          </a:p>
        </p:txBody>
      </p:sp>
      <p:sp>
        <p:nvSpPr>
          <p:cNvPr id="15" name="Rectangle 14">
            <a:extLst>
              <a:ext uri="{FF2B5EF4-FFF2-40B4-BE49-F238E27FC236}">
                <a16:creationId xmlns:a16="http://schemas.microsoft.com/office/drawing/2014/main" id="{9CF7744D-412C-4170-B3D3-EE56A388EAAC}"/>
              </a:ext>
              <a:ext uri="{C183D7F6-B498-43B3-948B-1728B52AA6E4}">
                <adec:decorative xmlns:adec="http://schemas.microsoft.com/office/drawing/2017/decorative" val="0"/>
              </a:ext>
            </a:extLst>
          </p:cNvPr>
          <p:cNvSpPr/>
          <p:nvPr/>
        </p:nvSpPr>
        <p:spPr bwMode="auto">
          <a:xfrm>
            <a:off x="443545" y="1519119"/>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Provides metadata for your Azure resources </a:t>
            </a:r>
          </a:p>
        </p:txBody>
      </p:sp>
      <p:sp>
        <p:nvSpPr>
          <p:cNvPr id="16" name="Rectangle 15">
            <a:extLst>
              <a:ext uri="{FF2B5EF4-FFF2-40B4-BE49-F238E27FC236}">
                <a16:creationId xmlns:a16="http://schemas.microsoft.com/office/drawing/2014/main" id="{EAFC77C0-F36C-433B-B35D-9961EF2306E9}"/>
              </a:ext>
              <a:ext uri="{C183D7F6-B498-43B3-948B-1728B52AA6E4}">
                <adec:decorative xmlns:adec="http://schemas.microsoft.com/office/drawing/2017/decorative" val="0"/>
              </a:ext>
            </a:extLst>
          </p:cNvPr>
          <p:cNvSpPr/>
          <p:nvPr/>
        </p:nvSpPr>
        <p:spPr bwMode="auto">
          <a:xfrm>
            <a:off x="443545" y="2695320"/>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Logically organizes resources into a taxonomy </a:t>
            </a:r>
          </a:p>
        </p:txBody>
      </p:sp>
      <p:sp>
        <p:nvSpPr>
          <p:cNvPr id="18" name="Rectangle 17">
            <a:extLst>
              <a:ext uri="{FF2B5EF4-FFF2-40B4-BE49-F238E27FC236}">
                <a16:creationId xmlns:a16="http://schemas.microsoft.com/office/drawing/2014/main" id="{2E0C1068-618E-4598-9F94-094272EBE16A}"/>
              </a:ext>
              <a:ext uri="{C183D7F6-B498-43B3-948B-1728B52AA6E4}">
                <adec:decorative xmlns:adec="http://schemas.microsoft.com/office/drawing/2017/decorative" val="0"/>
              </a:ext>
            </a:extLst>
          </p:cNvPr>
          <p:cNvSpPr/>
          <p:nvPr/>
        </p:nvSpPr>
        <p:spPr bwMode="auto">
          <a:xfrm>
            <a:off x="443545" y="3871522"/>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Consists of a name-value pair</a:t>
            </a:r>
          </a:p>
        </p:txBody>
      </p:sp>
      <p:sp>
        <p:nvSpPr>
          <p:cNvPr id="19" name="Rectangle 18">
            <a:extLst>
              <a:ext uri="{FF2B5EF4-FFF2-40B4-BE49-F238E27FC236}">
                <a16:creationId xmlns:a16="http://schemas.microsoft.com/office/drawing/2014/main" id="{90A59D18-0BC9-40EA-B64F-2A7FEAC8094F}"/>
              </a:ext>
              <a:ext uri="{C183D7F6-B498-43B3-948B-1728B52AA6E4}">
                <adec:decorative xmlns:adec="http://schemas.microsoft.com/office/drawing/2017/decorative" val="0"/>
              </a:ext>
            </a:extLst>
          </p:cNvPr>
          <p:cNvSpPr/>
          <p:nvPr/>
        </p:nvSpPr>
        <p:spPr bwMode="auto">
          <a:xfrm>
            <a:off x="443545" y="5047724"/>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Very useful for rolling up billing information</a:t>
            </a:r>
          </a:p>
        </p:txBody>
      </p:sp>
      <p:pic>
        <p:nvPicPr>
          <p:cNvPr id="20" name="Picture 19" descr="A tag is associated with a resource or a resource group">
            <a:extLst>
              <a:ext uri="{FF2B5EF4-FFF2-40B4-BE49-F238E27FC236}">
                <a16:creationId xmlns:a16="http://schemas.microsoft.com/office/drawing/2014/main" id="{58CD51F4-F03B-4127-A196-A40C36150E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9252" y="1519115"/>
            <a:ext cx="5852259" cy="4607624"/>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297922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93AA-4DA8-4B19-9E38-18F12BE14C8A}"/>
              </a:ext>
            </a:extLst>
          </p:cNvPr>
          <p:cNvSpPr>
            <a:spLocks noGrp="1"/>
          </p:cNvSpPr>
          <p:nvPr>
            <p:ph type="title"/>
          </p:nvPr>
        </p:nvSpPr>
        <p:spPr/>
        <p:txBody>
          <a:bodyPr/>
          <a:lstStyle/>
          <a:p>
            <a:r>
              <a:rPr lang="en-US" dirty="0">
                <a:cs typeface="Segoe UI"/>
              </a:rPr>
              <a:t>Apply Cost Savings</a:t>
            </a:r>
            <a:endParaRPr lang="en-US" dirty="0"/>
          </a:p>
        </p:txBody>
      </p:sp>
      <p:sp>
        <p:nvSpPr>
          <p:cNvPr id="9" name="Rectangle 8">
            <a:extLst>
              <a:ext uri="{FF2B5EF4-FFF2-40B4-BE49-F238E27FC236}">
                <a16:creationId xmlns:a16="http://schemas.microsoft.com/office/drawing/2014/main" id="{D8BDD821-BCFF-4A4B-8306-2ACB41F15AD4}"/>
              </a:ext>
              <a:ext uri="{C183D7F6-B498-43B3-948B-1728B52AA6E4}">
                <adec:decorative xmlns:adec="http://schemas.microsoft.com/office/drawing/2017/decorative" val="0"/>
              </a:ext>
            </a:extLst>
          </p:cNvPr>
          <p:cNvSpPr/>
          <p:nvPr/>
        </p:nvSpPr>
        <p:spPr bwMode="auto">
          <a:xfrm>
            <a:off x="443545" y="1519119"/>
            <a:ext cx="5351656" cy="89157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dirty="0">
                <a:solidFill>
                  <a:schemeClr val="tx1"/>
                </a:solidFill>
                <a:latin typeface="+mj-lt"/>
              </a:rPr>
              <a:t>Azure Reservations </a:t>
            </a:r>
            <a:r>
              <a:rPr lang="en-US" sz="1961" dirty="0">
                <a:solidFill>
                  <a:schemeClr val="tx1"/>
                </a:solidFill>
                <a:latin typeface="+mj-lt"/>
                <a:cs typeface="Segoe UI" panose="020B0502040204020203" pitchFamily="34" charset="0"/>
              </a:rPr>
              <a:t>–</a:t>
            </a:r>
            <a:r>
              <a:rPr lang="en-US" sz="1961" dirty="0">
                <a:solidFill>
                  <a:schemeClr val="tx1"/>
                </a:solidFill>
              </a:rPr>
              <a:t> Helps you save money</a:t>
            </a:r>
            <a:br>
              <a:rPr lang="en-US" sz="1961" dirty="0">
                <a:solidFill>
                  <a:schemeClr val="tx1"/>
                </a:solidFill>
              </a:rPr>
            </a:br>
            <a:r>
              <a:rPr lang="en-US" sz="1961" dirty="0">
                <a:solidFill>
                  <a:schemeClr val="tx1"/>
                </a:solidFill>
              </a:rPr>
              <a:t>by pre-paying for services</a:t>
            </a:r>
          </a:p>
        </p:txBody>
      </p:sp>
      <p:sp>
        <p:nvSpPr>
          <p:cNvPr id="10" name="Rectangle 9">
            <a:extLst>
              <a:ext uri="{FF2B5EF4-FFF2-40B4-BE49-F238E27FC236}">
                <a16:creationId xmlns:a16="http://schemas.microsoft.com/office/drawing/2014/main" id="{6A839273-14F6-4EA0-AA7A-4DDC984CEDAC}"/>
              </a:ext>
              <a:ext uri="{C183D7F6-B498-43B3-948B-1728B52AA6E4}">
                <adec:decorative xmlns:adec="http://schemas.microsoft.com/office/drawing/2017/decorative" val="0"/>
              </a:ext>
            </a:extLst>
          </p:cNvPr>
          <p:cNvSpPr/>
          <p:nvPr/>
        </p:nvSpPr>
        <p:spPr bwMode="auto">
          <a:xfrm>
            <a:off x="443545" y="2496560"/>
            <a:ext cx="5351656" cy="1283096"/>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dirty="0">
                <a:solidFill>
                  <a:schemeClr val="tx1"/>
                </a:solidFill>
                <a:latin typeface="+mj-lt"/>
              </a:rPr>
              <a:t>Azure Hybrid Benefits </a:t>
            </a:r>
            <a:r>
              <a:rPr lang="en-US" sz="1961" dirty="0">
                <a:solidFill>
                  <a:schemeClr val="tx1"/>
                </a:solidFill>
                <a:latin typeface="+mj-lt"/>
                <a:cs typeface="Segoe UI" panose="020B0502040204020203" pitchFamily="34" charset="0"/>
              </a:rPr>
              <a:t>–</a:t>
            </a:r>
            <a:r>
              <a:rPr lang="en-US" sz="1961" dirty="0">
                <a:solidFill>
                  <a:schemeClr val="tx1"/>
                </a:solidFill>
              </a:rPr>
              <a:t> Use Windows Server and SQL Server on-premises licenses with Software Assurance </a:t>
            </a:r>
          </a:p>
        </p:txBody>
      </p:sp>
      <p:sp>
        <p:nvSpPr>
          <p:cNvPr id="11" name="Rectangle 10">
            <a:extLst>
              <a:ext uri="{FF2B5EF4-FFF2-40B4-BE49-F238E27FC236}">
                <a16:creationId xmlns:a16="http://schemas.microsoft.com/office/drawing/2014/main" id="{AD115376-30EB-4A60-83B4-B255E6201B1A}"/>
              </a:ext>
              <a:ext uri="{C183D7F6-B498-43B3-948B-1728B52AA6E4}">
                <adec:decorative xmlns:adec="http://schemas.microsoft.com/office/drawing/2017/decorative" val="0"/>
              </a:ext>
            </a:extLst>
          </p:cNvPr>
          <p:cNvSpPr/>
          <p:nvPr/>
        </p:nvSpPr>
        <p:spPr bwMode="auto">
          <a:xfrm>
            <a:off x="443545" y="3865519"/>
            <a:ext cx="5351656" cy="1283096"/>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Azure Credits </a:t>
            </a:r>
            <a:r>
              <a:rPr lang="en-US" sz="1961">
                <a:solidFill>
                  <a:schemeClr val="tx1"/>
                </a:solidFill>
                <a:latin typeface="+mj-lt"/>
                <a:cs typeface="Segoe UI" panose="020B0502040204020203" pitchFamily="34" charset="0"/>
              </a:rPr>
              <a:t>–</a:t>
            </a:r>
            <a:r>
              <a:rPr lang="en-US" sz="1961">
                <a:solidFill>
                  <a:schemeClr val="tx1"/>
                </a:solidFill>
                <a:cs typeface="Segoe UI" panose="020B0502040204020203" pitchFamily="34" charset="0"/>
              </a:rPr>
              <a:t> </a:t>
            </a:r>
            <a:r>
              <a:rPr lang="en-US" sz="1961">
                <a:solidFill>
                  <a:schemeClr val="tx1"/>
                </a:solidFill>
              </a:rPr>
              <a:t>Monthly credit benefit that allows you to experiment with, develop, and test new solutions on Azure</a:t>
            </a:r>
          </a:p>
        </p:txBody>
      </p:sp>
      <p:sp>
        <p:nvSpPr>
          <p:cNvPr id="12" name="Rectangle 11">
            <a:extLst>
              <a:ext uri="{FF2B5EF4-FFF2-40B4-BE49-F238E27FC236}">
                <a16:creationId xmlns:a16="http://schemas.microsoft.com/office/drawing/2014/main" id="{A259C9E6-A3DC-4507-8B61-9F8CFE71491C}"/>
              </a:ext>
              <a:ext uri="{C183D7F6-B498-43B3-948B-1728B52AA6E4}">
                <adec:decorative xmlns:adec="http://schemas.microsoft.com/office/drawing/2017/decorative" val="0"/>
              </a:ext>
            </a:extLst>
          </p:cNvPr>
          <p:cNvSpPr/>
          <p:nvPr/>
        </p:nvSpPr>
        <p:spPr bwMode="auto">
          <a:xfrm>
            <a:off x="443545" y="5234477"/>
            <a:ext cx="5351656" cy="89157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spcBef>
                <a:spcPts val="1176"/>
              </a:spcBef>
            </a:pPr>
            <a:r>
              <a:rPr lang="en-US" sz="1961">
                <a:solidFill>
                  <a:schemeClr val="tx1"/>
                </a:solidFill>
                <a:latin typeface="+mj-lt"/>
              </a:rPr>
              <a:t>Regions </a:t>
            </a:r>
            <a:r>
              <a:rPr lang="en-US" sz="1961">
                <a:solidFill>
                  <a:schemeClr val="tx1"/>
                </a:solidFill>
                <a:latin typeface="+mj-lt"/>
                <a:cs typeface="Segoe UI" panose="020B0502040204020203" pitchFamily="34" charset="0"/>
              </a:rPr>
              <a:t>–</a:t>
            </a:r>
            <a:r>
              <a:rPr lang="en-US" sz="1961">
                <a:solidFill>
                  <a:schemeClr val="tx1"/>
                </a:solidFill>
              </a:rPr>
              <a:t> Choose low-cost locations and regions</a:t>
            </a:r>
          </a:p>
        </p:txBody>
      </p:sp>
      <p:pic>
        <p:nvPicPr>
          <p:cNvPr id="13" name="Picture 7" descr="Bar chart with three bars. The largest bar is pay-as-you-go. The next bar is 72% savings with Azure reserved instances. The last bar is 80% savings with Azure reserved instances and Azure hybrid benefit">
            <a:extLst>
              <a:ext uri="{FF2B5EF4-FFF2-40B4-BE49-F238E27FC236}">
                <a16:creationId xmlns:a16="http://schemas.microsoft.com/office/drawing/2014/main" id="{531BD71E-6E47-4B69-80C6-67B728FA34B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266" t="-3732" r="-6266" b="-3732"/>
          <a:stretch/>
        </p:blipFill>
        <p:spPr>
          <a:xfrm>
            <a:off x="5919251" y="1519116"/>
            <a:ext cx="5854108" cy="4606939"/>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325735277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tx1"/>
                </a:solidFill>
              </a:rPr>
              <a:t>Create Management Groups</a:t>
            </a:r>
          </a:p>
        </p:txBody>
      </p:sp>
      <p:sp>
        <p:nvSpPr>
          <p:cNvPr id="8" name="Rectangle 7">
            <a:extLst>
              <a:ext uri="{FF2B5EF4-FFF2-40B4-BE49-F238E27FC236}">
                <a16:creationId xmlns:a16="http://schemas.microsoft.com/office/drawing/2014/main" id="{C9F18DA1-C7A9-4D5D-B95A-12E8638F461B}"/>
              </a:ext>
              <a:ext uri="{C183D7F6-B498-43B3-948B-1728B52AA6E4}">
                <adec:decorative xmlns:adec="http://schemas.microsoft.com/office/drawing/2017/decorative" val="0"/>
              </a:ext>
            </a:extLst>
          </p:cNvPr>
          <p:cNvSpPr/>
          <p:nvPr/>
        </p:nvSpPr>
        <p:spPr bwMode="auto">
          <a:xfrm>
            <a:off x="443545" y="1519118"/>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Provides a level of scope above subscriptions</a:t>
            </a:r>
          </a:p>
        </p:txBody>
      </p:sp>
      <p:sp>
        <p:nvSpPr>
          <p:cNvPr id="9" name="Rectangle 8">
            <a:extLst>
              <a:ext uri="{FF2B5EF4-FFF2-40B4-BE49-F238E27FC236}">
                <a16:creationId xmlns:a16="http://schemas.microsoft.com/office/drawing/2014/main" id="{08202D1F-CA7A-4292-BF01-69390AD26196}"/>
              </a:ext>
              <a:ext uri="{C183D7F6-B498-43B3-948B-1728B52AA6E4}">
                <adec:decorative xmlns:adec="http://schemas.microsoft.com/office/drawing/2017/decorative" val="0"/>
              </a:ext>
            </a:extLst>
          </p:cNvPr>
          <p:cNvSpPr/>
          <p:nvPr/>
        </p:nvSpPr>
        <p:spPr bwMode="auto">
          <a:xfrm>
            <a:off x="443545" y="3098572"/>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Targeting of policies and spend budgets across subscriptions and inheritance down the hierarchies</a:t>
            </a:r>
          </a:p>
        </p:txBody>
      </p:sp>
      <p:sp>
        <p:nvSpPr>
          <p:cNvPr id="10" name="Rectangle 9">
            <a:extLst>
              <a:ext uri="{FF2B5EF4-FFF2-40B4-BE49-F238E27FC236}">
                <a16:creationId xmlns:a16="http://schemas.microsoft.com/office/drawing/2014/main" id="{EE6E2F34-A1BE-410F-ACB4-2742DA5B8387}"/>
              </a:ext>
              <a:ext uri="{C183D7F6-B498-43B3-948B-1728B52AA6E4}">
                <adec:decorative xmlns:adec="http://schemas.microsoft.com/office/drawing/2017/decorative" val="0"/>
              </a:ext>
            </a:extLst>
          </p:cNvPr>
          <p:cNvSpPr/>
          <p:nvPr/>
        </p:nvSpPr>
        <p:spPr bwMode="auto">
          <a:xfrm>
            <a:off x="443545" y="4678025"/>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Compliance and cost reporting by organization (business/teams)</a:t>
            </a:r>
          </a:p>
        </p:txBody>
      </p:sp>
      <p:sp>
        <p:nvSpPr>
          <p:cNvPr id="5" name="Rectangle 4">
            <a:extLst>
              <a:ext uri="{FF2B5EF4-FFF2-40B4-BE49-F238E27FC236}">
                <a16:creationId xmlns:a16="http://schemas.microsoft.com/office/drawing/2014/main" id="{06C7797C-EA3B-40E9-A2F1-536960370C2F}"/>
              </a:ext>
              <a:ext uri="{C183D7F6-B498-43B3-948B-1728B52AA6E4}">
                <adec:decorative xmlns:adec="http://schemas.microsoft.com/office/drawing/2017/decorative" val="1"/>
              </a:ext>
            </a:extLst>
          </p:cNvPr>
          <p:cNvSpPr/>
          <p:nvPr/>
        </p:nvSpPr>
        <p:spPr bwMode="auto">
          <a:xfrm>
            <a:off x="5919251" y="1519116"/>
            <a:ext cx="5854108" cy="460693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2" descr="Diagram showing how Azure management groups are used to organize subscriptions in a hierarchy of unified policy and access management. A single top-level management, or root group (Contoso) and every directory below is folded into it">
            <a:extLst>
              <a:ext uri="{FF2B5EF4-FFF2-40B4-BE49-F238E27FC236}">
                <a16:creationId xmlns:a16="http://schemas.microsoft.com/office/drawing/2014/main" id="{E67EE83F-BF82-4A40-8F99-A5815D7E7F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980366" y="2072316"/>
            <a:ext cx="5731876" cy="3500539"/>
          </a:xfrm>
          <a:prstGeom prst="rect">
            <a:avLst/>
          </a:prstGeom>
        </p:spPr>
      </p:pic>
    </p:spTree>
    <p:extLst>
      <p:ext uri="{BB962C8B-B14F-4D97-AF65-F5344CB8AC3E}">
        <p14:creationId xmlns:p14="http://schemas.microsoft.com/office/powerpoint/2010/main" val="320376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4ED2-7C0F-4A3B-99ED-148A0B1F1B8C}"/>
              </a:ext>
            </a:extLst>
          </p:cNvPr>
          <p:cNvSpPr>
            <a:spLocks noGrp="1"/>
          </p:cNvSpPr>
          <p:nvPr>
            <p:ph type="title"/>
          </p:nvPr>
        </p:nvSpPr>
        <p:spPr/>
        <p:txBody>
          <a:bodyPr/>
          <a:lstStyle/>
          <a:p>
            <a:r>
              <a:rPr lang="en-US" dirty="0"/>
              <a:t>Implement Azure Policies</a:t>
            </a:r>
          </a:p>
        </p:txBody>
      </p:sp>
      <p:sp>
        <p:nvSpPr>
          <p:cNvPr id="6" name="Rectangle 5">
            <a:extLst>
              <a:ext uri="{FF2B5EF4-FFF2-40B4-BE49-F238E27FC236}">
                <a16:creationId xmlns:a16="http://schemas.microsoft.com/office/drawing/2014/main" id="{E84E9C54-EDEE-4A9C-A16E-ABD69BFFAA39}"/>
              </a:ext>
              <a:ext uri="{C183D7F6-B498-43B3-948B-1728B52AA6E4}">
                <adec:decorative xmlns:adec="http://schemas.microsoft.com/office/drawing/2017/decorative" val="0"/>
              </a:ext>
            </a:extLst>
          </p:cNvPr>
          <p:cNvSpPr/>
          <p:nvPr/>
        </p:nvSpPr>
        <p:spPr bwMode="auto">
          <a:xfrm>
            <a:off x="443545" y="1519119"/>
            <a:ext cx="5351656" cy="1423645"/>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A service to create, assign, and manage policies</a:t>
            </a:r>
          </a:p>
        </p:txBody>
      </p:sp>
      <p:sp>
        <p:nvSpPr>
          <p:cNvPr id="8" name="Rectangle 7">
            <a:extLst>
              <a:ext uri="{FF2B5EF4-FFF2-40B4-BE49-F238E27FC236}">
                <a16:creationId xmlns:a16="http://schemas.microsoft.com/office/drawing/2014/main" id="{7CE739AD-1067-41B6-A49C-4C1F18A35C88}"/>
              </a:ext>
              <a:ext uri="{C183D7F6-B498-43B3-948B-1728B52AA6E4}">
                <adec:decorative xmlns:adec="http://schemas.microsoft.com/office/drawing/2017/decorative" val="0"/>
              </a:ext>
            </a:extLst>
          </p:cNvPr>
          <p:cNvSpPr/>
          <p:nvPr/>
        </p:nvSpPr>
        <p:spPr bwMode="auto">
          <a:xfrm>
            <a:off x="443545" y="3075721"/>
            <a:ext cx="5351656" cy="1073668"/>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Runs evaluations and scans for non-compliant resources</a:t>
            </a:r>
          </a:p>
        </p:txBody>
      </p:sp>
      <p:sp>
        <p:nvSpPr>
          <p:cNvPr id="9" name="Rectangle 8">
            <a:extLst>
              <a:ext uri="{FF2B5EF4-FFF2-40B4-BE49-F238E27FC236}">
                <a16:creationId xmlns:a16="http://schemas.microsoft.com/office/drawing/2014/main" id="{A48DEB6E-18F9-4D04-85B2-6C005556FCC2}"/>
              </a:ext>
              <a:ext uri="{C183D7F6-B498-43B3-948B-1728B52AA6E4}">
                <adec:decorative xmlns:adec="http://schemas.microsoft.com/office/drawing/2017/decorative" val="0"/>
              </a:ext>
            </a:extLst>
          </p:cNvPr>
          <p:cNvSpPr/>
          <p:nvPr/>
        </p:nvSpPr>
        <p:spPr bwMode="auto">
          <a:xfrm>
            <a:off x="443545" y="4282346"/>
            <a:ext cx="5351656" cy="184371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latin typeface="+mj-lt"/>
              </a:rPr>
              <a:t>Advantages:</a:t>
            </a:r>
          </a:p>
          <a:p>
            <a:pPr>
              <a:spcBef>
                <a:spcPts val="588"/>
              </a:spcBef>
            </a:pPr>
            <a:r>
              <a:rPr lang="en-US" sz="1961" dirty="0">
                <a:solidFill>
                  <a:schemeClr val="tx1"/>
                </a:solidFill>
              </a:rPr>
              <a:t>Enforcement and compliance</a:t>
            </a:r>
          </a:p>
          <a:p>
            <a:pPr>
              <a:spcBef>
                <a:spcPts val="588"/>
              </a:spcBef>
            </a:pPr>
            <a:r>
              <a:rPr lang="en-US" sz="1961" dirty="0">
                <a:solidFill>
                  <a:schemeClr val="tx1"/>
                </a:solidFill>
              </a:rPr>
              <a:t>Apply policies at scale</a:t>
            </a:r>
          </a:p>
          <a:p>
            <a:pPr>
              <a:spcBef>
                <a:spcPts val="588"/>
              </a:spcBef>
            </a:pPr>
            <a:r>
              <a:rPr lang="en-US" sz="1961" dirty="0">
                <a:solidFill>
                  <a:schemeClr val="tx1"/>
                </a:solidFill>
              </a:rPr>
              <a:t>Remediation</a:t>
            </a:r>
          </a:p>
        </p:txBody>
      </p:sp>
      <p:graphicFrame>
        <p:nvGraphicFramePr>
          <p:cNvPr id="5" name="Table 5">
            <a:extLst>
              <a:ext uri="{FF2B5EF4-FFF2-40B4-BE49-F238E27FC236}">
                <a16:creationId xmlns:a16="http://schemas.microsoft.com/office/drawing/2014/main" id="{9F46DC19-A3CC-43D4-860D-67C56B3C4255}"/>
              </a:ext>
            </a:extLst>
          </p:cNvPr>
          <p:cNvGraphicFramePr>
            <a:graphicFrameLocks noGrp="1"/>
          </p:cNvGraphicFramePr>
          <p:nvPr/>
        </p:nvGraphicFramePr>
        <p:xfrm>
          <a:off x="5919250" y="1524409"/>
          <a:ext cx="5843213" cy="4601649"/>
        </p:xfrm>
        <a:graphic>
          <a:graphicData uri="http://schemas.openxmlformats.org/drawingml/2006/table">
            <a:tbl>
              <a:tblPr firstRow="1" bandRow="1">
                <a:tableStyleId>{5C22544A-7EE6-4342-B048-85BDC9FD1C3A}</a:tableStyleId>
              </a:tblPr>
              <a:tblGrid>
                <a:gridCol w="5843213">
                  <a:extLst>
                    <a:ext uri="{9D8B030D-6E8A-4147-A177-3AD203B41FA5}">
                      <a16:colId xmlns:a16="http://schemas.microsoft.com/office/drawing/2014/main" val="2502348108"/>
                    </a:ext>
                  </a:extLst>
                </a:gridCol>
              </a:tblGrid>
              <a:tr h="4423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mj-lt"/>
                          <a:ea typeface="+mn-ea"/>
                          <a:cs typeface="+mn-cs"/>
                        </a:rPr>
                        <a:t>Usage Cases</a:t>
                      </a:r>
                      <a:endParaRPr kumimoji="0" lang="en-US" sz="1800" b="0" i="0" u="none" strike="noStrike" kern="1200" cap="none" spc="0" normalizeH="0" baseline="0" noProof="0" dirty="0">
                        <a:ln>
                          <a:noFill/>
                        </a:ln>
                        <a:solidFill>
                          <a:schemeClr val="bg1"/>
                        </a:solidFill>
                        <a:effectLst/>
                        <a:uLnTx/>
                        <a:uFillTx/>
                        <a:latin typeface="+mj-lt"/>
                        <a:ea typeface="+mn-ea"/>
                        <a:cs typeface="+mn-cs"/>
                      </a:endParaRPr>
                    </a:p>
                  </a:txBody>
                  <a:tcPr marL="91427" marR="91427" marT="45713" marB="45713">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950649416"/>
                  </a:ext>
                </a:extLst>
              </a:tr>
              <a:tr h="7852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resource types</a:t>
                      </a:r>
                      <a:r>
                        <a:rPr kumimoji="0" lang="en-US" sz="1800" b="0" i="0" u="none" strike="noStrike" kern="1200" cap="none" spc="0" normalizeH="0" baseline="0" noProof="0" dirty="0">
                          <a:ln>
                            <a:noFill/>
                          </a:ln>
                          <a:solidFill>
                            <a:schemeClr val="tx2">
                              <a:lumMod val="50000"/>
                            </a:schemeClr>
                          </a:solidFill>
                          <a:effectLst/>
                          <a:uLnTx/>
                          <a:uFillTx/>
                          <a:latin typeface="+mn-lt"/>
                          <a:ea typeface="+mn-ea"/>
                          <a:cs typeface="Segoe UI" panose="020B0502040204020203" pitchFamily="34" charset="0"/>
                        </a:rPr>
                        <a:t>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the resource types that your organization can deploy</a:t>
                      </a:r>
                    </a:p>
                  </a:txBody>
                  <a:tcPr marL="91427" marR="91427" marT="45713" marB="45713"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13561710"/>
                  </a:ext>
                </a:extLst>
              </a:tr>
              <a:tr h="7852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virtual machine SKUs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Specify a set of virtual machine SKUs that your organization can deploy</a:t>
                      </a:r>
                    </a:p>
                  </a:txBody>
                  <a:tcPr marL="91427" marR="91427" marT="45713" marB="45713"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131118"/>
                  </a:ext>
                </a:extLst>
              </a:tr>
              <a:tr h="7852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Allowed locations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Restrict the locations your organization can specify when deploying resources</a:t>
                      </a:r>
                    </a:p>
                  </a:txBody>
                  <a:tcPr marL="91427" marR="91427" marT="45713" marB="45713"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2671478"/>
                  </a:ext>
                </a:extLst>
              </a:tr>
              <a:tr h="7852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Require tag and its value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 Enforces a required tag and its value</a:t>
                      </a:r>
                    </a:p>
                  </a:txBody>
                  <a:tcPr marL="91427" marR="91427" marT="45713" marB="45713"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87691757"/>
                  </a:ext>
                </a:extLst>
              </a:tr>
              <a:tr h="1018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lumMod val="50000"/>
                            </a:schemeClr>
                          </a:solidFill>
                          <a:effectLst/>
                          <a:uLnTx/>
                          <a:uFillTx/>
                          <a:latin typeface="+mj-lt"/>
                          <a:ea typeface="+mn-ea"/>
                          <a:cs typeface="+mn-cs"/>
                        </a:rPr>
                        <a:t>Azure Backup should be enabled for Virtual Machines </a:t>
                      </a:r>
                      <a:r>
                        <a:rPr kumimoji="0" lang="en-US"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a:t>
                      </a:r>
                      <a:r>
                        <a:rPr kumimoji="0" lang="en-US" sz="1800" b="0" i="0" u="none" strike="noStrike" kern="1200" cap="none" spc="0" normalizeH="0" baseline="0" noProof="0" dirty="0">
                          <a:ln>
                            <a:noFill/>
                          </a:ln>
                          <a:solidFill>
                            <a:schemeClr val="tx1"/>
                          </a:solidFill>
                          <a:effectLst/>
                          <a:uLnTx/>
                          <a:uFillTx/>
                          <a:latin typeface="+mn-lt"/>
                          <a:ea typeface="+mn-ea"/>
                          <a:cs typeface="+mn-cs"/>
                        </a:rPr>
                        <a:t> Audit if Azure Backup service is enabled for all Virtual machines</a:t>
                      </a:r>
                    </a:p>
                  </a:txBody>
                  <a:tcPr marL="91427" marR="91427" marT="45713" marB="45713"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7058963"/>
                  </a:ext>
                </a:extLst>
              </a:tr>
            </a:tbl>
          </a:graphicData>
        </a:graphic>
      </p:graphicFrame>
    </p:spTree>
    <p:extLst>
      <p:ext uri="{BB962C8B-B14F-4D97-AF65-F5344CB8AC3E}">
        <p14:creationId xmlns:p14="http://schemas.microsoft.com/office/powerpoint/2010/main" val="18349786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Azure Policies</a:t>
            </a:r>
          </a:p>
        </p:txBody>
      </p:sp>
      <p:sp>
        <p:nvSpPr>
          <p:cNvPr id="8" name="Rectangle 7">
            <a:extLst>
              <a:ext uri="{FF2B5EF4-FFF2-40B4-BE49-F238E27FC236}">
                <a16:creationId xmlns:a16="http://schemas.microsoft.com/office/drawing/2014/main" id="{86A89EE7-2C82-405A-AC26-13169C041F67}"/>
              </a:ext>
              <a:ext uri="{C183D7F6-B498-43B3-948B-1728B52AA6E4}">
                <adec:decorative xmlns:adec="http://schemas.microsoft.com/office/drawing/2017/decorative" val="0"/>
              </a:ext>
            </a:extLst>
          </p:cNvPr>
          <p:cNvSpPr/>
          <p:nvPr/>
        </p:nvSpPr>
        <p:spPr bwMode="auto">
          <a:xfrm>
            <a:off x="443545" y="1519119"/>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marL="336145" indent="-336145">
              <a:spcBef>
                <a:spcPts val="1176"/>
              </a:spcBef>
              <a:buFont typeface="+mj-lt"/>
              <a:buAutoNum type="arabicPeriod"/>
            </a:pPr>
            <a:r>
              <a:rPr lang="en-US" sz="2353" dirty="0">
                <a:solidFill>
                  <a:schemeClr val="tx1"/>
                </a:solidFill>
              </a:rPr>
              <a:t>Create Policy Definitions</a:t>
            </a:r>
          </a:p>
        </p:txBody>
      </p:sp>
      <p:sp>
        <p:nvSpPr>
          <p:cNvPr id="9" name="Rectangle 8">
            <a:extLst>
              <a:ext uri="{FF2B5EF4-FFF2-40B4-BE49-F238E27FC236}">
                <a16:creationId xmlns:a16="http://schemas.microsoft.com/office/drawing/2014/main" id="{55C229D2-252B-4BDD-B9C5-D47A58E40AC3}"/>
              </a:ext>
              <a:ext uri="{C183D7F6-B498-43B3-948B-1728B52AA6E4}">
                <adec:decorative xmlns:adec="http://schemas.microsoft.com/office/drawing/2017/decorative" val="0"/>
              </a:ext>
            </a:extLst>
          </p:cNvPr>
          <p:cNvSpPr/>
          <p:nvPr/>
        </p:nvSpPr>
        <p:spPr bwMode="auto">
          <a:xfrm>
            <a:off x="443545" y="2695320"/>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marL="336145" indent="-336145">
              <a:spcBef>
                <a:spcPts val="1176"/>
              </a:spcBef>
              <a:buFont typeface="+mj-lt"/>
              <a:buAutoNum type="arabicPeriod" startAt="2"/>
            </a:pPr>
            <a:r>
              <a:rPr lang="en-US" sz="2353">
                <a:solidFill>
                  <a:schemeClr val="tx1"/>
                </a:solidFill>
              </a:rPr>
              <a:t>Create Initiative Definitions</a:t>
            </a:r>
          </a:p>
        </p:txBody>
      </p:sp>
      <p:sp>
        <p:nvSpPr>
          <p:cNvPr id="10" name="Rectangle 9">
            <a:extLst>
              <a:ext uri="{FF2B5EF4-FFF2-40B4-BE49-F238E27FC236}">
                <a16:creationId xmlns:a16="http://schemas.microsoft.com/office/drawing/2014/main" id="{55FBA0FF-A3C3-463D-B54E-85D90A33CA79}"/>
              </a:ext>
              <a:ext uri="{C183D7F6-B498-43B3-948B-1728B52AA6E4}">
                <adec:decorative xmlns:adec="http://schemas.microsoft.com/office/drawing/2017/decorative" val="0"/>
              </a:ext>
            </a:extLst>
          </p:cNvPr>
          <p:cNvSpPr/>
          <p:nvPr/>
        </p:nvSpPr>
        <p:spPr bwMode="auto">
          <a:xfrm>
            <a:off x="443545" y="3871522"/>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marL="336145" indent="-336145">
              <a:spcBef>
                <a:spcPts val="1176"/>
              </a:spcBef>
              <a:buFont typeface="+mj-lt"/>
              <a:buAutoNum type="arabicPeriod" startAt="3"/>
            </a:pPr>
            <a:r>
              <a:rPr lang="en-US" sz="2353">
                <a:solidFill>
                  <a:schemeClr val="tx1"/>
                </a:solidFill>
              </a:rPr>
              <a:t>Scope the Initiative Definition</a:t>
            </a:r>
          </a:p>
        </p:txBody>
      </p:sp>
      <p:sp>
        <p:nvSpPr>
          <p:cNvPr id="11" name="Rectangle 10">
            <a:extLst>
              <a:ext uri="{FF2B5EF4-FFF2-40B4-BE49-F238E27FC236}">
                <a16:creationId xmlns:a16="http://schemas.microsoft.com/office/drawing/2014/main" id="{790195F8-DDA9-462E-B194-2B9F9B5B008E}"/>
              </a:ext>
              <a:ext uri="{C183D7F6-B498-43B3-948B-1728B52AA6E4}">
                <adec:decorative xmlns:adec="http://schemas.microsoft.com/office/drawing/2017/decorative" val="0"/>
              </a:ext>
            </a:extLst>
          </p:cNvPr>
          <p:cNvSpPr/>
          <p:nvPr/>
        </p:nvSpPr>
        <p:spPr bwMode="auto">
          <a:xfrm>
            <a:off x="443545" y="5047724"/>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marL="336145" indent="-336145">
              <a:spcBef>
                <a:spcPts val="1176"/>
              </a:spcBef>
              <a:buFont typeface="+mj-lt"/>
              <a:buAutoNum type="arabicPeriod" startAt="4"/>
            </a:pPr>
            <a:r>
              <a:rPr lang="en-US" sz="2353" dirty="0">
                <a:solidFill>
                  <a:schemeClr val="tx1"/>
                </a:solidFill>
              </a:rPr>
              <a:t>Determine Compliance</a:t>
            </a:r>
          </a:p>
        </p:txBody>
      </p:sp>
      <p:pic>
        <p:nvPicPr>
          <p:cNvPr id="12" name="Picture 11" descr="Several policy definitions are grouped into an initiative and assigned to resources">
            <a:extLst>
              <a:ext uri="{FF2B5EF4-FFF2-40B4-BE49-F238E27FC236}">
                <a16:creationId xmlns:a16="http://schemas.microsoft.com/office/drawing/2014/main" id="{8F3B8D7C-E08E-48BA-A991-66395E99F79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607" t="-84760" r="-1415" b="-84760"/>
          <a:stretch/>
        </p:blipFill>
        <p:spPr>
          <a:xfrm>
            <a:off x="5919252" y="1519118"/>
            <a:ext cx="5843212" cy="4606938"/>
          </a:xfrm>
          <a:prstGeom prst="rect">
            <a:avLst/>
          </a:prstGeom>
          <a:solidFill>
            <a:schemeClr val="bg1"/>
          </a:solidFill>
          <a:ln w="19050">
            <a:noFill/>
            <a:headEnd type="none" w="med" len="med"/>
            <a:tailEnd type="none" w="med" len="med"/>
          </a:ln>
          <a:effectLst/>
        </p:spPr>
      </p:pic>
      <p:sp>
        <p:nvSpPr>
          <p:cNvPr id="2" name="Rectangle 1">
            <a:extLst>
              <a:ext uri="{FF2B5EF4-FFF2-40B4-BE49-F238E27FC236}">
                <a16:creationId xmlns:a16="http://schemas.microsoft.com/office/drawing/2014/main" id="{6A1A67EE-F1C4-4A0F-B067-34390EDAA7E2}"/>
              </a:ext>
              <a:ext uri="{C183D7F6-B498-43B3-948B-1728B52AA6E4}">
                <adec:decorative xmlns:adec="http://schemas.microsoft.com/office/drawing/2017/decorative" val="1"/>
              </a:ext>
            </a:extLst>
          </p:cNvPr>
          <p:cNvSpPr/>
          <p:nvPr/>
        </p:nvSpPr>
        <p:spPr bwMode="auto">
          <a:xfrm>
            <a:off x="5919251" y="1519116"/>
            <a:ext cx="5854108" cy="460693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717496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1. Create Policy Definitions</a:t>
            </a:r>
          </a:p>
        </p:txBody>
      </p:sp>
      <p:sp>
        <p:nvSpPr>
          <p:cNvPr id="7" name="Rectangle 6">
            <a:extLst>
              <a:ext uri="{FF2B5EF4-FFF2-40B4-BE49-F238E27FC236}">
                <a16:creationId xmlns:a16="http://schemas.microsoft.com/office/drawing/2014/main" id="{CCD13CC8-9A7F-4B66-B779-5448E0601EEB}"/>
              </a:ext>
              <a:ext uri="{C183D7F6-B498-43B3-948B-1728B52AA6E4}">
                <adec:decorative xmlns:adec="http://schemas.microsoft.com/office/drawing/2017/decorative" val="0"/>
              </a:ext>
            </a:extLst>
          </p:cNvPr>
          <p:cNvSpPr/>
          <p:nvPr/>
        </p:nvSpPr>
        <p:spPr bwMode="auto">
          <a:xfrm>
            <a:off x="443545" y="1519119"/>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Many policy definitions are available</a:t>
            </a:r>
          </a:p>
        </p:txBody>
      </p:sp>
      <p:sp>
        <p:nvSpPr>
          <p:cNvPr id="10" name="Rectangle 9">
            <a:extLst>
              <a:ext uri="{FF2B5EF4-FFF2-40B4-BE49-F238E27FC236}">
                <a16:creationId xmlns:a16="http://schemas.microsoft.com/office/drawing/2014/main" id="{449DF635-E16E-44C9-8087-96AB0CC0E59D}"/>
              </a:ext>
              <a:ext uri="{C183D7F6-B498-43B3-948B-1728B52AA6E4}">
                <adec:decorative xmlns:adec="http://schemas.microsoft.com/office/drawing/2017/decorative" val="0"/>
              </a:ext>
            </a:extLst>
          </p:cNvPr>
          <p:cNvSpPr/>
          <p:nvPr/>
        </p:nvSpPr>
        <p:spPr bwMode="auto">
          <a:xfrm>
            <a:off x="443545" y="2695320"/>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You can import policies from GitHub</a:t>
            </a:r>
          </a:p>
        </p:txBody>
      </p:sp>
      <p:sp>
        <p:nvSpPr>
          <p:cNvPr id="11" name="Rectangle 10">
            <a:extLst>
              <a:ext uri="{FF2B5EF4-FFF2-40B4-BE49-F238E27FC236}">
                <a16:creationId xmlns:a16="http://schemas.microsoft.com/office/drawing/2014/main" id="{34980FA4-8BB1-4870-BC12-930E2BD4B760}"/>
              </a:ext>
              <a:ext uri="{C183D7F6-B498-43B3-948B-1728B52AA6E4}">
                <adec:decorative xmlns:adec="http://schemas.microsoft.com/office/drawing/2017/decorative" val="0"/>
              </a:ext>
            </a:extLst>
          </p:cNvPr>
          <p:cNvSpPr/>
          <p:nvPr/>
        </p:nvSpPr>
        <p:spPr bwMode="auto">
          <a:xfrm>
            <a:off x="443545" y="3871522"/>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Policy Definitions have a specific JSON format </a:t>
            </a:r>
          </a:p>
        </p:txBody>
      </p:sp>
      <p:sp>
        <p:nvSpPr>
          <p:cNvPr id="12" name="Rectangle 11">
            <a:extLst>
              <a:ext uri="{FF2B5EF4-FFF2-40B4-BE49-F238E27FC236}">
                <a16:creationId xmlns:a16="http://schemas.microsoft.com/office/drawing/2014/main" id="{6D323F65-F0AF-4E80-A89A-960483259EEC}"/>
              </a:ext>
              <a:ext uri="{C183D7F6-B498-43B3-948B-1728B52AA6E4}">
                <adec:decorative xmlns:adec="http://schemas.microsoft.com/office/drawing/2017/decorative" val="0"/>
              </a:ext>
            </a:extLst>
          </p:cNvPr>
          <p:cNvSpPr/>
          <p:nvPr/>
        </p:nvSpPr>
        <p:spPr bwMode="auto">
          <a:xfrm>
            <a:off x="443545" y="5047724"/>
            <a:ext cx="5351656" cy="1078332"/>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You can create custom policy definitions</a:t>
            </a:r>
          </a:p>
        </p:txBody>
      </p:sp>
      <p:pic>
        <p:nvPicPr>
          <p:cNvPr id="9" name="Picture 6" descr="Screenshot of the Policy definition page. the import sample policy definition from GitHub link is highlighted">
            <a:extLst>
              <a:ext uri="{FF2B5EF4-FFF2-40B4-BE49-F238E27FC236}">
                <a16:creationId xmlns:a16="http://schemas.microsoft.com/office/drawing/2014/main" id="{21ACA726-A7AC-476B-BB51-99EE8672F3A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58866" t="-1919" r="-58866" b="-1919"/>
          <a:stretch/>
        </p:blipFill>
        <p:spPr>
          <a:xfrm>
            <a:off x="5919251" y="1519116"/>
            <a:ext cx="5854108" cy="4606938"/>
          </a:xfrm>
          <a:prstGeom prst="rect">
            <a:avLst/>
          </a:prstGeom>
          <a:solidFill>
            <a:schemeClr val="bg1"/>
          </a:solid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2181828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2D1CF0-95BA-44EB-9EE8-1B4E09105856}"/>
              </a:ext>
            </a:extLst>
          </p:cNvPr>
          <p:cNvSpPr>
            <a:spLocks noGrp="1"/>
          </p:cNvSpPr>
          <p:nvPr>
            <p:ph type="title"/>
          </p:nvPr>
        </p:nvSpPr>
        <p:spPr/>
        <p:txBody>
          <a:bodyPr/>
          <a:lstStyle/>
          <a:p>
            <a:r>
              <a:rPr lang="en-US" dirty="0"/>
              <a:t>2. Create Initiative Definitions</a:t>
            </a:r>
          </a:p>
        </p:txBody>
      </p:sp>
      <p:sp>
        <p:nvSpPr>
          <p:cNvPr id="9" name="Rectangle 8">
            <a:extLst>
              <a:ext uri="{FF2B5EF4-FFF2-40B4-BE49-F238E27FC236}">
                <a16:creationId xmlns:a16="http://schemas.microsoft.com/office/drawing/2014/main" id="{5CC32537-B959-41AA-8945-1EC064D8BE57}"/>
              </a:ext>
              <a:ext uri="{C183D7F6-B498-43B3-948B-1728B52AA6E4}">
                <adec:decorative xmlns:adec="http://schemas.microsoft.com/office/drawing/2017/decorative" val="0"/>
              </a:ext>
            </a:extLst>
          </p:cNvPr>
          <p:cNvSpPr/>
          <p:nvPr/>
        </p:nvSpPr>
        <p:spPr bwMode="auto">
          <a:xfrm>
            <a:off x="443545" y="1519118"/>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dirty="0">
                <a:solidFill>
                  <a:schemeClr val="tx1"/>
                </a:solidFill>
              </a:rPr>
              <a:t>Group policy definitions</a:t>
            </a:r>
          </a:p>
        </p:txBody>
      </p:sp>
      <p:sp>
        <p:nvSpPr>
          <p:cNvPr id="10" name="Rectangle 9">
            <a:extLst>
              <a:ext uri="{FF2B5EF4-FFF2-40B4-BE49-F238E27FC236}">
                <a16:creationId xmlns:a16="http://schemas.microsoft.com/office/drawing/2014/main" id="{8DA06C78-9348-4D23-82E8-5A15C7757809}"/>
              </a:ext>
              <a:ext uri="{C183D7F6-B498-43B3-948B-1728B52AA6E4}">
                <adec:decorative xmlns:adec="http://schemas.microsoft.com/office/drawing/2017/decorative" val="0"/>
              </a:ext>
            </a:extLst>
          </p:cNvPr>
          <p:cNvSpPr/>
          <p:nvPr/>
        </p:nvSpPr>
        <p:spPr bwMode="auto">
          <a:xfrm>
            <a:off x="443545" y="3098572"/>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Include one or more policies</a:t>
            </a:r>
          </a:p>
        </p:txBody>
      </p:sp>
      <p:sp>
        <p:nvSpPr>
          <p:cNvPr id="11" name="Rectangle 10">
            <a:extLst>
              <a:ext uri="{FF2B5EF4-FFF2-40B4-BE49-F238E27FC236}">
                <a16:creationId xmlns:a16="http://schemas.microsoft.com/office/drawing/2014/main" id="{B535585A-BC6B-47D2-BD11-0E4C349342C8}"/>
              </a:ext>
              <a:ext uri="{C183D7F6-B498-43B3-948B-1728B52AA6E4}">
                <adec:decorative xmlns:adec="http://schemas.microsoft.com/office/drawing/2017/decorative" val="0"/>
              </a:ext>
            </a:extLst>
          </p:cNvPr>
          <p:cNvSpPr/>
          <p:nvPr/>
        </p:nvSpPr>
        <p:spPr bwMode="auto">
          <a:xfrm>
            <a:off x="443545" y="4678025"/>
            <a:ext cx="5351656" cy="144803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spcBef>
                <a:spcPts val="1176"/>
              </a:spcBef>
            </a:pPr>
            <a:r>
              <a:rPr lang="en-US" sz="2353">
                <a:solidFill>
                  <a:schemeClr val="tx1"/>
                </a:solidFill>
              </a:rPr>
              <a:t>Requires planning</a:t>
            </a:r>
          </a:p>
        </p:txBody>
      </p:sp>
      <p:pic>
        <p:nvPicPr>
          <p:cNvPr id="8" name="Picture 4" descr="Screenshot of the New Initiative definition page. Options shown for Definition location, Name, Description, and Category. POLICIES is highlighted with examples of policies that be used to create Initiative definitions">
            <a:extLst>
              <a:ext uri="{FF2B5EF4-FFF2-40B4-BE49-F238E27FC236}">
                <a16:creationId xmlns:a16="http://schemas.microsoft.com/office/drawing/2014/main" id="{DE36556F-BBA4-4CAA-8ECD-5566A28174B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723" t="-2038" r="-1531" b="-2038"/>
          <a:stretch/>
        </p:blipFill>
        <p:spPr>
          <a:xfrm>
            <a:off x="5919250" y="1519116"/>
            <a:ext cx="5843213" cy="4606939"/>
          </a:xfrm>
          <a:prstGeom prst="rect">
            <a:avLst/>
          </a:prstGeom>
          <a:noFill/>
          <a:ln w="19050">
            <a:solidFill>
              <a:schemeClr val="bg1">
                <a:lumMod val="95000"/>
              </a:schemeClr>
            </a:solidFill>
            <a:headEnd type="none" w="med" len="med"/>
            <a:tailEnd type="none" w="med" len="med"/>
          </a:ln>
          <a:effectLst/>
        </p:spPr>
      </p:pic>
    </p:spTree>
    <p:extLst>
      <p:ext uri="{BB962C8B-B14F-4D97-AF65-F5344CB8AC3E}">
        <p14:creationId xmlns:p14="http://schemas.microsoft.com/office/powerpoint/2010/main" val="43993026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3. Scope the Initiative Definition</a:t>
            </a:r>
          </a:p>
        </p:txBody>
      </p:sp>
      <p:pic>
        <p:nvPicPr>
          <p:cNvPr id="8" name="Picture 2" descr="Screenshot of the Definitions page for assigning an Initiative Definition to resources or groups or resources">
            <a:extLst>
              <a:ext uri="{FF2B5EF4-FFF2-40B4-BE49-F238E27FC236}">
                <a16:creationId xmlns:a16="http://schemas.microsoft.com/office/drawing/2014/main" id="{F6E9BE85-3D53-4512-88CD-3126C90D32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243" t="-12819" r="-2143" b="-12819"/>
          <a:stretch/>
        </p:blipFill>
        <p:spPr>
          <a:xfrm>
            <a:off x="418643" y="1169263"/>
            <a:ext cx="11343820" cy="3637056"/>
          </a:xfrm>
          <a:prstGeom prst="rect">
            <a:avLst/>
          </a:prstGeom>
          <a:noFill/>
          <a:ln w="19050">
            <a:solidFill>
              <a:schemeClr val="bg1">
                <a:lumMod val="95000"/>
              </a:schemeClr>
            </a:solidFill>
            <a:headEnd type="none" w="med" len="med"/>
            <a:tailEnd type="none" w="med" len="med"/>
          </a:ln>
          <a:effectLst/>
        </p:spPr>
      </p:pic>
      <p:sp>
        <p:nvSpPr>
          <p:cNvPr id="12" name="Freeform: Shape 11">
            <a:extLst>
              <a:ext uri="{FF2B5EF4-FFF2-40B4-BE49-F238E27FC236}">
                <a16:creationId xmlns:a16="http://schemas.microsoft.com/office/drawing/2014/main" id="{F8FDC64B-C9ED-4822-A03D-B17C8E4D1282}"/>
              </a:ext>
            </a:extLst>
          </p:cNvPr>
          <p:cNvSpPr/>
          <p:nvPr/>
        </p:nvSpPr>
        <p:spPr>
          <a:xfrm>
            <a:off x="418643"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lgn="ctr">
              <a:spcBef>
                <a:spcPts val="1176"/>
              </a:spcBef>
            </a:pPr>
            <a:r>
              <a:rPr lang="en-US" sz="2353">
                <a:solidFill>
                  <a:schemeClr val="tx1"/>
                </a:solidFill>
              </a:rPr>
              <a:t>Assign the definition</a:t>
            </a:r>
            <a:br>
              <a:rPr lang="en-US" sz="2353">
                <a:solidFill>
                  <a:schemeClr val="tx1"/>
                </a:solidFill>
              </a:rPr>
            </a:br>
            <a:r>
              <a:rPr lang="en-US" sz="2353">
                <a:solidFill>
                  <a:schemeClr val="tx1"/>
                </a:solidFill>
              </a:rPr>
              <a:t>to a scope</a:t>
            </a:r>
          </a:p>
        </p:txBody>
      </p:sp>
      <p:sp>
        <p:nvSpPr>
          <p:cNvPr id="13" name="Freeform: Shape 12">
            <a:extLst>
              <a:ext uri="{FF2B5EF4-FFF2-40B4-BE49-F238E27FC236}">
                <a16:creationId xmlns:a16="http://schemas.microsoft.com/office/drawing/2014/main" id="{D61776F2-1DB6-44A0-A7A7-94BE65933B96}"/>
              </a:ext>
            </a:extLst>
          </p:cNvPr>
          <p:cNvSpPr/>
          <p:nvPr/>
        </p:nvSpPr>
        <p:spPr>
          <a:xfrm>
            <a:off x="4249923"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lgn="ctr">
              <a:spcBef>
                <a:spcPts val="1176"/>
              </a:spcBef>
            </a:pPr>
            <a:r>
              <a:rPr lang="en-US" sz="2353">
                <a:solidFill>
                  <a:schemeClr val="tx1"/>
                </a:solidFill>
              </a:rPr>
              <a:t>The scope enforces</a:t>
            </a:r>
            <a:br>
              <a:rPr lang="en-US" sz="2353">
                <a:solidFill>
                  <a:schemeClr val="tx1"/>
                </a:solidFill>
              </a:rPr>
            </a:br>
            <a:r>
              <a:rPr lang="en-US" sz="2353">
                <a:solidFill>
                  <a:schemeClr val="tx1"/>
                </a:solidFill>
              </a:rPr>
              <a:t>the policy</a:t>
            </a:r>
          </a:p>
        </p:txBody>
      </p:sp>
      <p:sp>
        <p:nvSpPr>
          <p:cNvPr id="14" name="Freeform: Shape 13">
            <a:extLst>
              <a:ext uri="{FF2B5EF4-FFF2-40B4-BE49-F238E27FC236}">
                <a16:creationId xmlns:a16="http://schemas.microsoft.com/office/drawing/2014/main" id="{B6B2ECA9-32BD-464D-9A39-9F9D4DCDFFE0}"/>
              </a:ext>
            </a:extLst>
          </p:cNvPr>
          <p:cNvSpPr/>
          <p:nvPr/>
        </p:nvSpPr>
        <p:spPr>
          <a:xfrm>
            <a:off x="8081202"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ctr" anchorCtr="0" forceAA="0" compatLnSpc="1">
            <a:prstTxWarp prst="textNoShape">
              <a:avLst/>
            </a:prstTxWarp>
            <a:noAutofit/>
          </a:bodyPr>
          <a:lstStyle/>
          <a:p>
            <a:pPr algn="ctr">
              <a:spcBef>
                <a:spcPts val="1176"/>
              </a:spcBef>
            </a:pPr>
            <a:r>
              <a:rPr lang="en-US" sz="2353">
                <a:solidFill>
                  <a:schemeClr val="tx1"/>
                </a:solidFill>
              </a:rPr>
              <a:t>Select the subscription,</a:t>
            </a:r>
            <a:br>
              <a:rPr lang="en-US" sz="2353">
                <a:solidFill>
                  <a:schemeClr val="tx1"/>
                </a:solidFill>
              </a:rPr>
            </a:br>
            <a:r>
              <a:rPr lang="en-US" sz="2353">
                <a:solidFill>
                  <a:schemeClr val="tx1"/>
                </a:solidFill>
              </a:rPr>
              <a:t>and optionally the</a:t>
            </a:r>
            <a:br>
              <a:rPr lang="en-US" sz="2353">
                <a:solidFill>
                  <a:schemeClr val="tx1"/>
                </a:solidFill>
              </a:rPr>
            </a:br>
            <a:r>
              <a:rPr lang="en-US" sz="2353">
                <a:solidFill>
                  <a:schemeClr val="tx1"/>
                </a:solidFill>
              </a:rPr>
              <a:t>resource group</a:t>
            </a:r>
          </a:p>
        </p:txBody>
      </p:sp>
    </p:spTree>
    <p:extLst>
      <p:ext uri="{BB962C8B-B14F-4D97-AF65-F5344CB8AC3E}">
        <p14:creationId xmlns:p14="http://schemas.microsoft.com/office/powerpoint/2010/main" val="2740166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4. Determine Compliance</a:t>
            </a:r>
          </a:p>
        </p:txBody>
      </p:sp>
      <p:pic>
        <p:nvPicPr>
          <p:cNvPr id="12" name="Picture 2" descr="Screenshot of the Compliance blade. The East Region policy is selected. There are choices for non-compliant initiatives, non-compliant policies, and non-compliant resources">
            <a:extLst>
              <a:ext uri="{FF2B5EF4-FFF2-40B4-BE49-F238E27FC236}">
                <a16:creationId xmlns:a16="http://schemas.microsoft.com/office/drawing/2014/main" id="{71DECDA0-BD16-4824-8BAC-B5AE8CC3994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027" t="-10506" r="-1712" b="-10521"/>
          <a:stretch/>
        </p:blipFill>
        <p:spPr>
          <a:xfrm>
            <a:off x="418643" y="1169262"/>
            <a:ext cx="11343820" cy="3637057"/>
          </a:xfrm>
          <a:prstGeom prst="rect">
            <a:avLst/>
          </a:prstGeom>
          <a:noFill/>
          <a:ln w="19050">
            <a:solidFill>
              <a:schemeClr val="bg1">
                <a:lumMod val="95000"/>
              </a:schemeClr>
            </a:solidFill>
            <a:headEnd type="none" w="med" len="med"/>
            <a:tailEnd type="none" w="med" len="med"/>
          </a:ln>
          <a:effectLst/>
        </p:spPr>
      </p:pic>
      <p:sp>
        <p:nvSpPr>
          <p:cNvPr id="14" name="Freeform: Shape 13">
            <a:extLst>
              <a:ext uri="{FF2B5EF4-FFF2-40B4-BE49-F238E27FC236}">
                <a16:creationId xmlns:a16="http://schemas.microsoft.com/office/drawing/2014/main" id="{D86A5B11-2AFB-40F8-9A12-46254E4E91F0}"/>
              </a:ext>
            </a:extLst>
          </p:cNvPr>
          <p:cNvSpPr/>
          <p:nvPr/>
        </p:nvSpPr>
        <p:spPr>
          <a:xfrm>
            <a:off x="418643"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Non-compliant initiatives</a:t>
            </a:r>
          </a:p>
        </p:txBody>
      </p:sp>
      <p:sp>
        <p:nvSpPr>
          <p:cNvPr id="15" name="Freeform: Shape 14">
            <a:extLst>
              <a:ext uri="{FF2B5EF4-FFF2-40B4-BE49-F238E27FC236}">
                <a16:creationId xmlns:a16="http://schemas.microsoft.com/office/drawing/2014/main" id="{901D4E05-4EA7-4980-A881-0685BDEAB28F}"/>
              </a:ext>
            </a:extLst>
          </p:cNvPr>
          <p:cNvSpPr/>
          <p:nvPr/>
        </p:nvSpPr>
        <p:spPr>
          <a:xfrm>
            <a:off x="4249923"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Non-compliant policies</a:t>
            </a:r>
          </a:p>
        </p:txBody>
      </p:sp>
      <p:sp>
        <p:nvSpPr>
          <p:cNvPr id="16" name="Freeform: Shape 15">
            <a:extLst>
              <a:ext uri="{FF2B5EF4-FFF2-40B4-BE49-F238E27FC236}">
                <a16:creationId xmlns:a16="http://schemas.microsoft.com/office/drawing/2014/main" id="{BD0D982C-734E-4F3C-8BFD-0C83FD0A9C09}"/>
              </a:ext>
            </a:extLst>
          </p:cNvPr>
          <p:cNvSpPr/>
          <p:nvPr/>
        </p:nvSpPr>
        <p:spPr>
          <a:xfrm>
            <a:off x="8081202" y="4952167"/>
            <a:ext cx="3692155"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Non-compliant resources</a:t>
            </a:r>
          </a:p>
        </p:txBody>
      </p:sp>
    </p:spTree>
    <p:extLst>
      <p:ext uri="{BB962C8B-B14F-4D97-AF65-F5344CB8AC3E}">
        <p14:creationId xmlns:p14="http://schemas.microsoft.com/office/powerpoint/2010/main" val="378995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7465-720B-4261-972B-C0E07DBE9939}"/>
              </a:ext>
            </a:extLst>
          </p:cNvPr>
          <p:cNvSpPr>
            <a:spLocks noGrp="1"/>
          </p:cNvSpPr>
          <p:nvPr>
            <p:ph type="title"/>
          </p:nvPr>
        </p:nvSpPr>
        <p:spPr/>
        <p:txBody>
          <a:bodyPr/>
          <a:lstStyle/>
          <a:p>
            <a:r>
              <a:rPr lang="en-US" dirty="0"/>
              <a:t>Demonstration – Azure Policy</a:t>
            </a:r>
          </a:p>
        </p:txBody>
      </p:sp>
      <p:pic>
        <p:nvPicPr>
          <p:cNvPr id="72" name="Picture 71" descr="Icon of a book with a bookmark">
            <a:extLst>
              <a:ext uri="{FF2B5EF4-FFF2-40B4-BE49-F238E27FC236}">
                <a16:creationId xmlns:a16="http://schemas.microsoft.com/office/drawing/2014/main" id="{73FBF4F1-0B10-4D91-BFA2-57825DF230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4869" y="1440043"/>
            <a:ext cx="850110" cy="853098"/>
          </a:xfrm>
          <a:prstGeom prst="rect">
            <a:avLst/>
          </a:prstGeom>
        </p:spPr>
      </p:pic>
      <p:sp>
        <p:nvSpPr>
          <p:cNvPr id="9" name="TextBox 8">
            <a:extLst>
              <a:ext uri="{FF2B5EF4-FFF2-40B4-BE49-F238E27FC236}">
                <a16:creationId xmlns:a16="http://schemas.microsoft.com/office/drawing/2014/main" id="{CD5D50C7-E740-46D4-B1E0-6C6370714AC7}"/>
              </a:ext>
            </a:extLst>
          </p:cNvPr>
          <p:cNvSpPr txBox="1"/>
          <p:nvPr/>
        </p:nvSpPr>
        <p:spPr>
          <a:xfrm>
            <a:off x="1481591" y="1683629"/>
            <a:ext cx="10291767" cy="331899"/>
          </a:xfrm>
          <a:prstGeom prst="rect">
            <a:avLst/>
          </a:prstGeom>
          <a:noFill/>
        </p:spPr>
        <p:txBody>
          <a:bodyPr wrap="square" lIns="0" tIns="0" rIns="0" bIns="0" rtlCol="0">
            <a:spAutoFit/>
          </a:bodyPr>
          <a:lstStyle/>
          <a:p>
            <a:pPr>
              <a:spcBef>
                <a:spcPts val="588"/>
              </a:spcBef>
            </a:pPr>
            <a:r>
              <a:rPr lang="en-US" sz="2157" dirty="0"/>
              <a:t>Assign a policy</a:t>
            </a:r>
          </a:p>
        </p:txBody>
      </p:sp>
      <p:cxnSp>
        <p:nvCxnSpPr>
          <p:cNvPr id="22" name="Straight Connector 21">
            <a:extLst>
              <a:ext uri="{FF2B5EF4-FFF2-40B4-BE49-F238E27FC236}">
                <a16:creationId xmlns:a16="http://schemas.microsoft.com/office/drawing/2014/main" id="{7FEE4967-E7D9-469A-A8A7-DA97BD0A4525}"/>
              </a:ext>
              <a:ext uri="{C183D7F6-B498-43B3-948B-1728B52AA6E4}">
                <adec:decorative xmlns:adec="http://schemas.microsoft.com/office/drawing/2017/decorative" val="1"/>
              </a:ext>
            </a:extLst>
          </p:cNvPr>
          <p:cNvCxnSpPr>
            <a:cxnSpLocks/>
          </p:cNvCxnSpPr>
          <p:nvPr/>
        </p:nvCxnSpPr>
        <p:spPr>
          <a:xfrm>
            <a:off x="1481591" y="2356856"/>
            <a:ext cx="10266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1" name="Picture 70" descr="Icon of two gears with different sizes">
            <a:extLst>
              <a:ext uri="{FF2B5EF4-FFF2-40B4-BE49-F238E27FC236}">
                <a16:creationId xmlns:a16="http://schemas.microsoft.com/office/drawing/2014/main" id="{737BFFEE-1015-43B1-80BF-D018EAB4F7D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4869" y="2454956"/>
            <a:ext cx="850110" cy="853098"/>
          </a:xfrm>
          <a:prstGeom prst="rect">
            <a:avLst/>
          </a:prstGeom>
        </p:spPr>
      </p:pic>
      <p:sp>
        <p:nvSpPr>
          <p:cNvPr id="14" name="TextBox 13">
            <a:extLst>
              <a:ext uri="{FF2B5EF4-FFF2-40B4-BE49-F238E27FC236}">
                <a16:creationId xmlns:a16="http://schemas.microsoft.com/office/drawing/2014/main" id="{73A7A1E3-6356-4F72-AEC3-3024755BAC0B}"/>
              </a:ext>
            </a:extLst>
          </p:cNvPr>
          <p:cNvSpPr txBox="1"/>
          <p:nvPr/>
        </p:nvSpPr>
        <p:spPr>
          <a:xfrm>
            <a:off x="1481591" y="2698183"/>
            <a:ext cx="10291767" cy="331899"/>
          </a:xfrm>
          <a:prstGeom prst="rect">
            <a:avLst/>
          </a:prstGeom>
          <a:noFill/>
        </p:spPr>
        <p:txBody>
          <a:bodyPr wrap="square" lIns="0" tIns="0" rIns="0" bIns="0" rtlCol="0">
            <a:spAutoFit/>
          </a:bodyPr>
          <a:lstStyle/>
          <a:p>
            <a:pPr>
              <a:spcBef>
                <a:spcPts val="588"/>
              </a:spcBef>
            </a:pPr>
            <a:r>
              <a:rPr lang="en-US" sz="2157"/>
              <a:t>Create and assign an initiative definition</a:t>
            </a:r>
          </a:p>
        </p:txBody>
      </p:sp>
      <p:cxnSp>
        <p:nvCxnSpPr>
          <p:cNvPr id="23" name="Straight Connector 22">
            <a:extLst>
              <a:ext uri="{FF2B5EF4-FFF2-40B4-BE49-F238E27FC236}">
                <a16:creationId xmlns:a16="http://schemas.microsoft.com/office/drawing/2014/main" id="{1888BDC4-0F0F-41BC-AA2D-220CF8CC3943}"/>
              </a:ext>
              <a:ext uri="{C183D7F6-B498-43B3-948B-1728B52AA6E4}">
                <adec:decorative xmlns:adec="http://schemas.microsoft.com/office/drawing/2017/decorative" val="1"/>
              </a:ext>
            </a:extLst>
          </p:cNvPr>
          <p:cNvCxnSpPr>
            <a:cxnSpLocks/>
          </p:cNvCxnSpPr>
          <p:nvPr/>
        </p:nvCxnSpPr>
        <p:spPr>
          <a:xfrm>
            <a:off x="1481591" y="3371410"/>
            <a:ext cx="10266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0" name="Picture 69" descr="Icon of check mark enclosed by an arc">
            <a:extLst>
              <a:ext uri="{FF2B5EF4-FFF2-40B4-BE49-F238E27FC236}">
                <a16:creationId xmlns:a16="http://schemas.microsoft.com/office/drawing/2014/main" id="{1BB76544-4023-4EBD-8D7F-621B6FDB38D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4869" y="3469870"/>
            <a:ext cx="850110" cy="853098"/>
          </a:xfrm>
          <a:prstGeom prst="rect">
            <a:avLst/>
          </a:prstGeom>
        </p:spPr>
      </p:pic>
      <p:sp>
        <p:nvSpPr>
          <p:cNvPr id="19" name="TextBox 18">
            <a:extLst>
              <a:ext uri="{FF2B5EF4-FFF2-40B4-BE49-F238E27FC236}">
                <a16:creationId xmlns:a16="http://schemas.microsoft.com/office/drawing/2014/main" id="{D55E51A7-DCE5-4F6B-ADBE-4ABA19C9C0AA}"/>
              </a:ext>
            </a:extLst>
          </p:cNvPr>
          <p:cNvSpPr txBox="1"/>
          <p:nvPr/>
        </p:nvSpPr>
        <p:spPr>
          <a:xfrm>
            <a:off x="1481591" y="3712737"/>
            <a:ext cx="10291767" cy="331899"/>
          </a:xfrm>
          <a:prstGeom prst="rect">
            <a:avLst/>
          </a:prstGeom>
          <a:noFill/>
        </p:spPr>
        <p:txBody>
          <a:bodyPr wrap="square" lIns="0" tIns="0" rIns="0" bIns="0" rtlCol="0">
            <a:spAutoFit/>
          </a:bodyPr>
          <a:lstStyle/>
          <a:p>
            <a:pPr>
              <a:spcBef>
                <a:spcPts val="588"/>
              </a:spcBef>
            </a:pPr>
            <a:r>
              <a:rPr lang="en-US" sz="2157" dirty="0"/>
              <a:t>Check for compliance</a:t>
            </a:r>
          </a:p>
        </p:txBody>
      </p:sp>
      <p:cxnSp>
        <p:nvCxnSpPr>
          <p:cNvPr id="24" name="Straight Connector 23">
            <a:extLst>
              <a:ext uri="{FF2B5EF4-FFF2-40B4-BE49-F238E27FC236}">
                <a16:creationId xmlns:a16="http://schemas.microsoft.com/office/drawing/2014/main" id="{0A1F1D24-C2BA-40E3-BFED-FA5C55418E7A}"/>
              </a:ext>
              <a:ext uri="{C183D7F6-B498-43B3-948B-1728B52AA6E4}">
                <adec:decorative xmlns:adec="http://schemas.microsoft.com/office/drawing/2017/decorative" val="1"/>
              </a:ext>
            </a:extLst>
          </p:cNvPr>
          <p:cNvCxnSpPr>
            <a:cxnSpLocks/>
          </p:cNvCxnSpPr>
          <p:nvPr/>
        </p:nvCxnSpPr>
        <p:spPr>
          <a:xfrm>
            <a:off x="1481591" y="4385964"/>
            <a:ext cx="10266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 name="Picture 16" descr="Icon of wrench and screw driver">
            <a:extLst>
              <a:ext uri="{FF2B5EF4-FFF2-40B4-BE49-F238E27FC236}">
                <a16:creationId xmlns:a16="http://schemas.microsoft.com/office/drawing/2014/main" id="{4A1F0B17-76CD-4ED2-BFD0-F0A045EBBB4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24869" y="4484784"/>
            <a:ext cx="850110" cy="853098"/>
          </a:xfrm>
          <a:prstGeom prst="rect">
            <a:avLst/>
          </a:prstGeom>
        </p:spPr>
      </p:pic>
      <p:sp>
        <p:nvSpPr>
          <p:cNvPr id="27" name="TextBox 26">
            <a:extLst>
              <a:ext uri="{FF2B5EF4-FFF2-40B4-BE49-F238E27FC236}">
                <a16:creationId xmlns:a16="http://schemas.microsoft.com/office/drawing/2014/main" id="{58E092A1-C596-4C2D-81CF-BF9D995344CC}"/>
              </a:ext>
            </a:extLst>
          </p:cNvPr>
          <p:cNvSpPr txBox="1"/>
          <p:nvPr/>
        </p:nvSpPr>
        <p:spPr>
          <a:xfrm>
            <a:off x="1481591" y="4727291"/>
            <a:ext cx="10291767" cy="331899"/>
          </a:xfrm>
          <a:prstGeom prst="rect">
            <a:avLst/>
          </a:prstGeom>
          <a:noFill/>
        </p:spPr>
        <p:txBody>
          <a:bodyPr wrap="square" lIns="0" tIns="0" rIns="0" bIns="0" rtlCol="0">
            <a:spAutoFit/>
          </a:bodyPr>
          <a:lstStyle/>
          <a:p>
            <a:pPr>
              <a:spcBef>
                <a:spcPts val="588"/>
              </a:spcBef>
            </a:pPr>
            <a:r>
              <a:rPr lang="en-US" sz="2157" dirty="0"/>
              <a:t>Check for remediation tasks</a:t>
            </a:r>
          </a:p>
        </p:txBody>
      </p:sp>
      <p:cxnSp>
        <p:nvCxnSpPr>
          <p:cNvPr id="25" name="Straight Connector 24">
            <a:extLst>
              <a:ext uri="{FF2B5EF4-FFF2-40B4-BE49-F238E27FC236}">
                <a16:creationId xmlns:a16="http://schemas.microsoft.com/office/drawing/2014/main" id="{6EF6DF1C-6E2D-4064-83C0-4632D42E0B72}"/>
              </a:ext>
              <a:ext uri="{C183D7F6-B498-43B3-948B-1728B52AA6E4}">
                <adec:decorative xmlns:adec="http://schemas.microsoft.com/office/drawing/2017/decorative" val="1"/>
              </a:ext>
            </a:extLst>
          </p:cNvPr>
          <p:cNvCxnSpPr>
            <a:cxnSpLocks/>
          </p:cNvCxnSpPr>
          <p:nvPr/>
        </p:nvCxnSpPr>
        <p:spPr>
          <a:xfrm>
            <a:off x="1481591" y="5400518"/>
            <a:ext cx="102668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checkmark inside a badge">
            <a:extLst>
              <a:ext uri="{FF2B5EF4-FFF2-40B4-BE49-F238E27FC236}">
                <a16:creationId xmlns:a16="http://schemas.microsoft.com/office/drawing/2014/main" id="{44DAD938-310D-4B97-9F9C-628A9D7A938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24869" y="5499697"/>
            <a:ext cx="850110" cy="853098"/>
          </a:xfrm>
          <a:prstGeom prst="rect">
            <a:avLst/>
          </a:prstGeom>
        </p:spPr>
      </p:pic>
      <p:sp>
        <p:nvSpPr>
          <p:cNvPr id="28" name="TextBox 27">
            <a:extLst>
              <a:ext uri="{FF2B5EF4-FFF2-40B4-BE49-F238E27FC236}">
                <a16:creationId xmlns:a16="http://schemas.microsoft.com/office/drawing/2014/main" id="{7599D296-90C8-420F-A991-B806C26A961B}"/>
              </a:ext>
            </a:extLst>
          </p:cNvPr>
          <p:cNvSpPr txBox="1"/>
          <p:nvPr/>
        </p:nvSpPr>
        <p:spPr>
          <a:xfrm>
            <a:off x="1481591" y="5741845"/>
            <a:ext cx="10291767" cy="331899"/>
          </a:xfrm>
          <a:prstGeom prst="rect">
            <a:avLst/>
          </a:prstGeom>
          <a:noFill/>
        </p:spPr>
        <p:txBody>
          <a:bodyPr wrap="square" lIns="0" tIns="0" rIns="0" bIns="0" rtlCol="0">
            <a:spAutoFit/>
          </a:bodyPr>
          <a:lstStyle/>
          <a:p>
            <a:pPr>
              <a:spcBef>
                <a:spcPts val="588"/>
              </a:spcBef>
            </a:pPr>
            <a:r>
              <a:rPr lang="en-US" sz="2157"/>
              <a:t>Remove your policy and initiative</a:t>
            </a:r>
          </a:p>
        </p:txBody>
      </p:sp>
    </p:spTree>
    <p:extLst>
      <p:ext uri="{BB962C8B-B14F-4D97-AF65-F5344CB8AC3E}">
        <p14:creationId xmlns:p14="http://schemas.microsoft.com/office/powerpoint/2010/main" val="189078426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E4BC-CB74-4559-A2D6-2F27504E22A8}"/>
              </a:ext>
            </a:extLst>
          </p:cNvPr>
          <p:cNvSpPr>
            <a:spLocks noGrp="1"/>
          </p:cNvSpPr>
          <p:nvPr>
            <p:ph type="title"/>
          </p:nvPr>
        </p:nvSpPr>
        <p:spPr/>
        <p:txBody>
          <a:bodyPr/>
          <a:lstStyle/>
          <a:p>
            <a:r>
              <a:rPr lang="en-US" dirty="0"/>
              <a:t>Implement Role-Based Access Control</a:t>
            </a:r>
          </a:p>
        </p:txBody>
      </p:sp>
      <p:sp>
        <p:nvSpPr>
          <p:cNvPr id="3" name="Rectangle 2">
            <a:extLst>
              <a:ext uri="{FF2B5EF4-FFF2-40B4-BE49-F238E27FC236}">
                <a16:creationId xmlns:a16="http://schemas.microsoft.com/office/drawing/2014/main" id="{58A7CFEA-055C-4959-BDC7-473F4B33F137}"/>
              </a:ext>
            </a:extLst>
          </p:cNvPr>
          <p:cNvSpPr/>
          <p:nvPr/>
        </p:nvSpPr>
        <p:spPr bwMode="auto">
          <a:xfrm>
            <a:off x="418645" y="1359131"/>
            <a:ext cx="5674369" cy="806782"/>
          </a:xfrm>
          <a:prstGeom prst="rect">
            <a:avLst/>
          </a:prstGeom>
          <a:solidFill>
            <a:schemeClr val="tx2">
              <a:lumMod val="50000"/>
            </a:schemeClr>
          </a:solidFill>
          <a:ln w="6350">
            <a:solidFill>
              <a:schemeClr val="tx2"/>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fontAlgn="base">
              <a:spcBef>
                <a:spcPts val="588"/>
              </a:spcBef>
            </a:pPr>
            <a:r>
              <a:rPr lang="en-US" sz="1961" dirty="0">
                <a:latin typeface="+mj-lt"/>
              </a:rPr>
              <a:t>Provides fine-grained access management</a:t>
            </a:r>
            <a:br>
              <a:rPr lang="en-US" sz="1961" dirty="0">
                <a:latin typeface="+mj-lt"/>
              </a:rPr>
            </a:br>
            <a:r>
              <a:rPr lang="en-US" sz="1961" dirty="0">
                <a:latin typeface="+mj-lt"/>
              </a:rPr>
              <a:t>of resources in Azure​</a:t>
            </a:r>
          </a:p>
        </p:txBody>
      </p:sp>
      <p:sp>
        <p:nvSpPr>
          <p:cNvPr id="21" name="Rectangle 20">
            <a:extLst>
              <a:ext uri="{FF2B5EF4-FFF2-40B4-BE49-F238E27FC236}">
                <a16:creationId xmlns:a16="http://schemas.microsoft.com/office/drawing/2014/main" id="{D45D1370-FAFD-4DFA-B8B1-3626810CD054}"/>
              </a:ext>
            </a:extLst>
          </p:cNvPr>
          <p:cNvSpPr/>
          <p:nvPr/>
        </p:nvSpPr>
        <p:spPr>
          <a:xfrm>
            <a:off x="406193" y="2367090"/>
            <a:ext cx="5609723" cy="3974164"/>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4464" tIns="89642" rIns="134464" bIns="89642" numCol="1" spcCol="1270" anchor="t" anchorCtr="0">
            <a:noAutofit/>
          </a:bodyPr>
          <a:lstStyle/>
          <a:p>
            <a:pPr defTabSz="784338">
              <a:lnSpc>
                <a:spcPct val="90000"/>
              </a:lnSpc>
              <a:spcBef>
                <a:spcPct val="0"/>
              </a:spcBef>
              <a:spcAft>
                <a:spcPct val="35000"/>
              </a:spcAft>
            </a:pPr>
            <a:r>
              <a:rPr lang="en-US" sz="1961" dirty="0">
                <a:solidFill>
                  <a:schemeClr val="tx1"/>
                </a:solidFill>
              </a:rPr>
              <a:t>Built on Azure Resource Manager</a:t>
            </a:r>
          </a:p>
          <a:p>
            <a:pPr defTabSz="784338">
              <a:lnSpc>
                <a:spcPct val="90000"/>
              </a:lnSpc>
              <a:spcBef>
                <a:spcPct val="0"/>
              </a:spcBef>
              <a:spcAft>
                <a:spcPct val="35000"/>
              </a:spcAft>
            </a:pPr>
            <a:r>
              <a:rPr lang="en-US" sz="1961" dirty="0">
                <a:solidFill>
                  <a:schemeClr val="tx1"/>
                </a:solidFill>
              </a:rPr>
              <a:t>Segregate duties within your team ​</a:t>
            </a:r>
          </a:p>
          <a:p>
            <a:pPr defTabSz="784338">
              <a:lnSpc>
                <a:spcPct val="90000"/>
              </a:lnSpc>
              <a:spcBef>
                <a:spcPct val="0"/>
              </a:spcBef>
              <a:spcAft>
                <a:spcPct val="35000"/>
              </a:spcAft>
            </a:pPr>
            <a:r>
              <a:rPr lang="en-US" sz="1961" dirty="0">
                <a:solidFill>
                  <a:schemeClr val="tx1"/>
                </a:solidFill>
              </a:rPr>
              <a:t>Grant only the amount of access to users that they need to perform their jobs​</a:t>
            </a:r>
          </a:p>
        </p:txBody>
      </p:sp>
      <p:sp>
        <p:nvSpPr>
          <p:cNvPr id="4" name="Rectangle 3">
            <a:extLst>
              <a:ext uri="{FF2B5EF4-FFF2-40B4-BE49-F238E27FC236}">
                <a16:creationId xmlns:a16="http://schemas.microsoft.com/office/drawing/2014/main" id="{57F94346-8B77-4B87-8F23-25295142830A}"/>
              </a:ext>
            </a:extLst>
          </p:cNvPr>
          <p:cNvSpPr/>
          <p:nvPr/>
        </p:nvSpPr>
        <p:spPr bwMode="auto">
          <a:xfrm>
            <a:off x="6229842" y="1359131"/>
            <a:ext cx="5559105" cy="806782"/>
          </a:xfrm>
          <a:prstGeom prst="rect">
            <a:avLst/>
          </a:prstGeom>
          <a:solidFill>
            <a:schemeClr val="tx2">
              <a:lumMod val="50000"/>
            </a:schemeClr>
          </a:solidFill>
          <a:ln w="6350">
            <a:solidFill>
              <a:schemeClr val="tx2"/>
            </a:solid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fontAlgn="base">
              <a:spcBef>
                <a:spcPts val="588"/>
              </a:spcBef>
            </a:pPr>
            <a:r>
              <a:rPr lang="en-US" sz="1961" dirty="0">
                <a:latin typeface="+mj-lt"/>
              </a:rPr>
              <a:t>Concepts​</a:t>
            </a:r>
          </a:p>
        </p:txBody>
      </p:sp>
      <p:sp>
        <p:nvSpPr>
          <p:cNvPr id="9" name="Rectangle 8">
            <a:extLst>
              <a:ext uri="{FF2B5EF4-FFF2-40B4-BE49-F238E27FC236}">
                <a16:creationId xmlns:a16="http://schemas.microsoft.com/office/drawing/2014/main" id="{04F4DD64-041F-4419-B2D7-2DA2209AB842}"/>
              </a:ext>
            </a:extLst>
          </p:cNvPr>
          <p:cNvSpPr/>
          <p:nvPr/>
        </p:nvSpPr>
        <p:spPr>
          <a:xfrm>
            <a:off x="6176086" y="2367090"/>
            <a:ext cx="5609723" cy="3974164"/>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4464" tIns="89642" rIns="134464" bIns="89642" numCol="1" spcCol="1270" anchor="t" anchorCtr="0">
            <a:noAutofit/>
          </a:bodyPr>
          <a:lstStyle/>
          <a:p>
            <a:pPr defTabSz="784338" fontAlgn="base">
              <a:lnSpc>
                <a:spcPct val="90000"/>
              </a:lnSpc>
              <a:spcBef>
                <a:spcPct val="0"/>
              </a:spcBef>
              <a:spcAft>
                <a:spcPct val="35000"/>
              </a:spcAft>
              <a:buSzPct val="100000"/>
            </a:pPr>
            <a:r>
              <a:rPr lang="en-US" sz="1961" dirty="0">
                <a:solidFill>
                  <a:schemeClr val="tx1"/>
                </a:solidFill>
                <a:latin typeface="+mj-lt"/>
              </a:rPr>
              <a:t>Security principal</a:t>
            </a:r>
            <a:r>
              <a:rPr lang="en-US" sz="1961" dirty="0">
                <a:solidFill>
                  <a:schemeClr val="tx1"/>
                </a:solidFill>
              </a:rPr>
              <a:t>. Object that represents something that is requesting access to resources​</a:t>
            </a:r>
          </a:p>
          <a:p>
            <a:pPr defTabSz="784338" fontAlgn="base">
              <a:lnSpc>
                <a:spcPct val="90000"/>
              </a:lnSpc>
              <a:spcBef>
                <a:spcPct val="0"/>
              </a:spcBef>
              <a:spcAft>
                <a:spcPct val="35000"/>
              </a:spcAft>
              <a:buSzPct val="100000"/>
            </a:pPr>
            <a:r>
              <a:rPr lang="en-US" sz="1961" dirty="0">
                <a:solidFill>
                  <a:schemeClr val="tx1"/>
                </a:solidFill>
                <a:latin typeface="+mj-lt"/>
              </a:rPr>
              <a:t>Role definition. </a:t>
            </a:r>
            <a:r>
              <a:rPr lang="en-US" sz="1961" dirty="0">
                <a:solidFill>
                  <a:schemeClr val="tx1"/>
                </a:solidFill>
              </a:rPr>
              <a:t>Collection of permissions that lists the operations that can be performed​</a:t>
            </a:r>
          </a:p>
          <a:p>
            <a:pPr defTabSz="784338" fontAlgn="base">
              <a:lnSpc>
                <a:spcPct val="90000"/>
              </a:lnSpc>
              <a:spcBef>
                <a:spcPct val="0"/>
              </a:spcBef>
              <a:spcAft>
                <a:spcPct val="35000"/>
              </a:spcAft>
              <a:buSzPct val="100000"/>
            </a:pPr>
            <a:r>
              <a:rPr lang="en-US" sz="1961" dirty="0">
                <a:solidFill>
                  <a:schemeClr val="tx1"/>
                </a:solidFill>
                <a:latin typeface="+mj-lt"/>
              </a:rPr>
              <a:t>Scope. </a:t>
            </a:r>
            <a:r>
              <a:rPr lang="en-US" sz="1961" dirty="0">
                <a:solidFill>
                  <a:schemeClr val="tx1"/>
                </a:solidFill>
              </a:rPr>
              <a:t>Boundary for the level of access that is requested​</a:t>
            </a:r>
          </a:p>
          <a:p>
            <a:pPr marL="0" lvl="1" fontAlgn="base">
              <a:spcBef>
                <a:spcPts val="98"/>
              </a:spcBef>
              <a:spcAft>
                <a:spcPts val="196"/>
              </a:spcAft>
              <a:buSzPct val="100000"/>
            </a:pPr>
            <a:r>
              <a:rPr lang="en-US" sz="1961" dirty="0">
                <a:solidFill>
                  <a:schemeClr val="tx1"/>
                </a:solidFill>
                <a:latin typeface="+mj-lt"/>
                <a:cs typeface="Segoe UI Semilight" panose="020B0402040204020203" pitchFamily="34" charset="0"/>
              </a:rPr>
              <a:t>Assignment. </a:t>
            </a:r>
            <a:r>
              <a:rPr lang="en-US" sz="1961" dirty="0">
                <a:solidFill>
                  <a:schemeClr val="tx1"/>
                </a:solidFill>
                <a:cs typeface="Segoe UI Semilight" panose="020B0402040204020203" pitchFamily="34" charset="0"/>
              </a:rPr>
              <a:t>Attaching a role definition to a security principal at a particular scope​:</a:t>
            </a:r>
          </a:p>
          <a:p>
            <a:pPr marL="336145" lvl="2" indent="-224097" fontAlgn="base">
              <a:spcBef>
                <a:spcPts val="98"/>
              </a:spcBef>
              <a:spcAft>
                <a:spcPts val="392"/>
              </a:spcAft>
              <a:buSzPct val="100000"/>
              <a:buFont typeface="Arial" panose="020B0604020202020204" pitchFamily="34" charset="0"/>
              <a:buChar char="•"/>
            </a:pPr>
            <a:r>
              <a:rPr lang="en-US" sz="1765" dirty="0">
                <a:solidFill>
                  <a:schemeClr val="tx1"/>
                </a:solidFill>
                <a:cs typeface="Segoe UI Semilight" panose="020B0402040204020203" pitchFamily="34" charset="0"/>
              </a:rPr>
              <a:t>Users can grant access described in a role definition by creating an assignment​</a:t>
            </a:r>
          </a:p>
          <a:p>
            <a:pPr marL="336145" lvl="2" indent="-224097" fontAlgn="base">
              <a:spcBef>
                <a:spcPts val="98"/>
              </a:spcBef>
              <a:spcAft>
                <a:spcPts val="392"/>
              </a:spcAft>
              <a:buSzPct val="100000"/>
              <a:buFont typeface="Arial" panose="020B0604020202020204" pitchFamily="34" charset="0"/>
              <a:buChar char="•"/>
            </a:pPr>
            <a:r>
              <a:rPr lang="en-US" sz="1765" dirty="0">
                <a:solidFill>
                  <a:schemeClr val="tx1"/>
                </a:solidFill>
                <a:cs typeface="Segoe UI Semilight" panose="020B0402040204020203" pitchFamily="34" charset="0"/>
              </a:rPr>
              <a:t>Deny assignments are currently read-only and are set by Azure Blueprints and Azure Managed Apps</a:t>
            </a:r>
            <a:endParaRPr lang="en-US" sz="1765" dirty="0">
              <a:solidFill>
                <a:schemeClr val="tx1"/>
              </a:solidFill>
            </a:endParaRPr>
          </a:p>
        </p:txBody>
      </p:sp>
    </p:spTree>
    <p:extLst>
      <p:ext uri="{BB962C8B-B14F-4D97-AF65-F5344CB8AC3E}">
        <p14:creationId xmlns:p14="http://schemas.microsoft.com/office/powerpoint/2010/main" val="404795304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5243-6AC2-40C3-92C0-AB0946072E9B}"/>
              </a:ext>
            </a:extLst>
          </p:cNvPr>
          <p:cNvSpPr>
            <a:spLocks noGrp="1"/>
          </p:cNvSpPr>
          <p:nvPr>
            <p:ph type="title"/>
          </p:nvPr>
        </p:nvSpPr>
        <p:spPr/>
        <p:txBody>
          <a:bodyPr/>
          <a:lstStyle/>
          <a:p>
            <a:r>
              <a:rPr lang="en-US" dirty="0"/>
              <a:t>Create a Role Definition</a:t>
            </a:r>
          </a:p>
        </p:txBody>
      </p:sp>
      <p:sp>
        <p:nvSpPr>
          <p:cNvPr id="12" name="Rectangle 11">
            <a:extLst>
              <a:ext uri="{FF2B5EF4-FFF2-40B4-BE49-F238E27FC236}">
                <a16:creationId xmlns:a16="http://schemas.microsoft.com/office/drawing/2014/main" id="{8967F373-E81E-473B-A7CA-EED7EE5D67EA}"/>
              </a:ext>
              <a:ext uri="{C183D7F6-B498-43B3-948B-1728B52AA6E4}">
                <adec:decorative xmlns:adec="http://schemas.microsoft.com/office/drawing/2017/decorative" val="0"/>
              </a:ext>
            </a:extLst>
          </p:cNvPr>
          <p:cNvSpPr/>
          <p:nvPr/>
        </p:nvSpPr>
        <p:spPr>
          <a:xfrm>
            <a:off x="1" y="1172336"/>
            <a:ext cx="12192000" cy="869532"/>
          </a:xfrm>
          <a:prstGeom prst="rect">
            <a:avLst/>
          </a:prstGeom>
          <a:solidFill>
            <a:srgbClr val="243A5E"/>
          </a:solidFill>
          <a:ln>
            <a:noFill/>
          </a:ln>
        </p:spPr>
        <p:txBody>
          <a:bodyPr wrap="square" lIns="448212" tIns="44821" rIns="89642" bIns="44821" anchor="ctr">
            <a:noAutofit/>
          </a:bodyPr>
          <a:lstStyle/>
          <a:p>
            <a:r>
              <a:rPr lang="en-US" sz="2353" dirty="0">
                <a:solidFill>
                  <a:schemeClr val="bg1"/>
                </a:solidFill>
                <a:latin typeface="+mj-lt"/>
                <a:cs typeface="Segoe UI Semilight" panose="020B0402040204020203" pitchFamily="34" charset="0"/>
              </a:rPr>
              <a:t>Collection of permissions that lists the operations that can be performed</a:t>
            </a:r>
          </a:p>
        </p:txBody>
      </p:sp>
      <p:sp>
        <p:nvSpPr>
          <p:cNvPr id="7" name="Rectangle 6">
            <a:extLst>
              <a:ext uri="{FF2B5EF4-FFF2-40B4-BE49-F238E27FC236}">
                <a16:creationId xmlns:a16="http://schemas.microsoft.com/office/drawing/2014/main" id="{1A851528-0625-4A8E-8C6C-FF7AD75F14BA}"/>
              </a:ext>
              <a:ext uri="{C183D7F6-B498-43B3-948B-1728B52AA6E4}">
                <adec:decorative xmlns:adec="http://schemas.microsoft.com/office/drawing/2017/decorative" val="1"/>
              </a:ext>
            </a:extLst>
          </p:cNvPr>
          <p:cNvSpPr/>
          <p:nvPr/>
        </p:nvSpPr>
        <p:spPr bwMode="auto">
          <a:xfrm>
            <a:off x="421133" y="2159066"/>
            <a:ext cx="11354714" cy="425801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FC491832-88AD-4FC1-9B85-40747CB88073}"/>
              </a:ext>
              <a:ext uri="{C183D7F6-B498-43B3-948B-1728B52AA6E4}">
                <adec:decorative xmlns:adec="http://schemas.microsoft.com/office/drawing/2017/decorative" val="1"/>
              </a:ext>
            </a:extLst>
          </p:cNvPr>
          <p:cNvGrpSpPr/>
          <p:nvPr/>
        </p:nvGrpSpPr>
        <p:grpSpPr>
          <a:xfrm>
            <a:off x="1276983" y="2278310"/>
            <a:ext cx="9643015" cy="4009829"/>
            <a:chOff x="1150936" y="2361598"/>
            <a:chExt cx="9836378" cy="4090234"/>
          </a:xfrm>
        </p:grpSpPr>
        <p:sp>
          <p:nvSpPr>
            <p:cNvPr id="23" name="TextBox 22">
              <a:extLst>
                <a:ext uri="{FF2B5EF4-FFF2-40B4-BE49-F238E27FC236}">
                  <a16:creationId xmlns:a16="http://schemas.microsoft.com/office/drawing/2014/main" id="{2D374160-0DCC-434D-8702-ECA8BD6168AD}"/>
                </a:ext>
                <a:ext uri="{C183D7F6-B498-43B3-948B-1728B52AA6E4}">
                  <adec:decorative xmlns:adec="http://schemas.microsoft.com/office/drawing/2017/decorative" val="0"/>
                </a:ext>
              </a:extLst>
            </p:cNvPr>
            <p:cNvSpPr txBox="1"/>
            <p:nvPr/>
          </p:nvSpPr>
          <p:spPr>
            <a:xfrm>
              <a:off x="1662455" y="4996140"/>
              <a:ext cx="3025363" cy="277059"/>
            </a:xfrm>
            <a:prstGeom prst="rect">
              <a:avLst/>
            </a:prstGeom>
            <a:noFill/>
          </p:spPr>
          <p:txBody>
            <a:bodyPr wrap="square" lIns="0" tIns="0" rIns="0" bIns="0" rtlCol="0">
              <a:spAutoFit/>
            </a:bodyPr>
            <a:lstStyle/>
            <a:p>
              <a:pPr algn="ctr"/>
              <a:r>
                <a:rPr lang="en-IN" sz="1765" dirty="0">
                  <a:latin typeface="+mj-lt"/>
                </a:rPr>
                <a:t>Built-in</a:t>
              </a:r>
              <a:endParaRPr lang="en-US" sz="1765" dirty="0">
                <a:latin typeface="+mj-lt"/>
              </a:endParaRPr>
            </a:p>
          </p:txBody>
        </p:sp>
        <p:sp>
          <p:nvSpPr>
            <p:cNvPr id="21" name="Rectangle: Rounded Corners 20">
              <a:extLst>
                <a:ext uri="{FF2B5EF4-FFF2-40B4-BE49-F238E27FC236}">
                  <a16:creationId xmlns:a16="http://schemas.microsoft.com/office/drawing/2014/main" id="{F3F64D14-5F6F-43F6-8D0D-204C32E6AE0D}"/>
                </a:ext>
              </a:extLst>
            </p:cNvPr>
            <p:cNvSpPr/>
            <p:nvPr/>
          </p:nvSpPr>
          <p:spPr bwMode="auto">
            <a:xfrm>
              <a:off x="1150936" y="2704853"/>
              <a:ext cx="4048401" cy="2285979"/>
            </a:xfrm>
            <a:prstGeom prst="roundRect">
              <a:avLst>
                <a:gd name="adj" fmla="val 10105"/>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9" tIns="71989" rIns="71989" bIns="71989" numCol="1" spcCol="0" rtlCol="0" fromWordArt="0" anchor="t" anchorCtr="0" forceAA="0" compatLnSpc="1">
              <a:prstTxWarp prst="textNoShape">
                <a:avLst/>
              </a:prstTxWarp>
              <a:spAutoFit/>
            </a:bodyPr>
            <a:lstStyle/>
            <a:p>
              <a:pPr defTabSz="932293" fontAlgn="base">
                <a:spcBef>
                  <a:spcPct val="0"/>
                </a:spcBef>
                <a:spcAft>
                  <a:spcPct val="0"/>
                </a:spcAft>
              </a:pPr>
              <a:r>
                <a:rPr lang="en-IN" sz="1568" dirty="0">
                  <a:solidFill>
                    <a:schemeClr val="tx1"/>
                  </a:solidFill>
                  <a:latin typeface="Consolas" panose="020B0609020204030204" pitchFamily="49" charset="0"/>
                </a:rPr>
                <a:t>Owner</a:t>
              </a:r>
            </a:p>
            <a:p>
              <a:pPr defTabSz="932293" fontAlgn="base">
                <a:spcBef>
                  <a:spcPct val="0"/>
                </a:spcBef>
                <a:spcAft>
                  <a:spcPct val="0"/>
                </a:spcAft>
              </a:pPr>
              <a:r>
                <a:rPr lang="en-IN" sz="1568" b="1" dirty="0">
                  <a:solidFill>
                    <a:schemeClr val="tx1"/>
                  </a:solidFill>
                  <a:latin typeface="Consolas" panose="020B0609020204030204" pitchFamily="49" charset="0"/>
                </a:rPr>
                <a:t>Contributor</a:t>
              </a:r>
            </a:p>
            <a:p>
              <a:pPr defTabSz="932293" fontAlgn="base">
                <a:spcBef>
                  <a:spcPct val="0"/>
                </a:spcBef>
                <a:spcAft>
                  <a:spcPct val="0"/>
                </a:spcAft>
              </a:pPr>
              <a:r>
                <a:rPr lang="en-IN" sz="1568" dirty="0">
                  <a:solidFill>
                    <a:schemeClr val="tx1"/>
                  </a:solidFill>
                  <a:latin typeface="Consolas" panose="020B0609020204030204" pitchFamily="49" charset="0"/>
                </a:rPr>
                <a:t>Reader</a:t>
              </a:r>
            </a:p>
            <a:p>
              <a:pPr defTabSz="932293" fontAlgn="base">
                <a:spcBef>
                  <a:spcPct val="0"/>
                </a:spcBef>
                <a:spcAft>
                  <a:spcPct val="0"/>
                </a:spcAft>
              </a:pPr>
              <a:r>
                <a:rPr lang="en-IN" sz="1568" dirty="0">
                  <a:solidFill>
                    <a:schemeClr val="tx1"/>
                  </a:solidFill>
                  <a:latin typeface="Consolas" panose="020B0609020204030204" pitchFamily="49" charset="0"/>
                </a:rPr>
                <a:t> …</a:t>
              </a:r>
            </a:p>
            <a:p>
              <a:pPr defTabSz="932293" fontAlgn="base">
                <a:spcBef>
                  <a:spcPct val="0"/>
                </a:spcBef>
                <a:spcAft>
                  <a:spcPct val="0"/>
                </a:spcAft>
              </a:pPr>
              <a:r>
                <a:rPr lang="en-IN" sz="1568" dirty="0">
                  <a:solidFill>
                    <a:schemeClr val="tx1"/>
                  </a:solidFill>
                  <a:latin typeface="Consolas" panose="020B0609020204030204" pitchFamily="49" charset="0"/>
                </a:rPr>
                <a:t>Backup Operator</a:t>
              </a:r>
            </a:p>
            <a:p>
              <a:pPr defTabSz="932293" fontAlgn="base">
                <a:spcBef>
                  <a:spcPct val="0"/>
                </a:spcBef>
                <a:spcAft>
                  <a:spcPct val="0"/>
                </a:spcAft>
              </a:pPr>
              <a:r>
                <a:rPr lang="en-IN" sz="1568" dirty="0">
                  <a:solidFill>
                    <a:schemeClr val="tx1"/>
                  </a:solidFill>
                  <a:latin typeface="Consolas" panose="020B0609020204030204" pitchFamily="49" charset="0"/>
                </a:rPr>
                <a:t>Security Reader</a:t>
              </a:r>
            </a:p>
            <a:p>
              <a:pPr defTabSz="932293" fontAlgn="base">
                <a:spcBef>
                  <a:spcPct val="0"/>
                </a:spcBef>
                <a:spcAft>
                  <a:spcPct val="0"/>
                </a:spcAft>
              </a:pPr>
              <a:r>
                <a:rPr lang="en-IN" sz="1568" dirty="0">
                  <a:solidFill>
                    <a:schemeClr val="tx1"/>
                  </a:solidFill>
                  <a:latin typeface="Consolas" panose="020B0609020204030204" pitchFamily="49" charset="0"/>
                </a:rPr>
                <a:t>User Access Administrator</a:t>
              </a:r>
            </a:p>
            <a:p>
              <a:pPr defTabSz="932293" fontAlgn="base">
                <a:spcBef>
                  <a:spcPct val="0"/>
                </a:spcBef>
                <a:spcAft>
                  <a:spcPct val="0"/>
                </a:spcAft>
              </a:pPr>
              <a:r>
                <a:rPr lang="en-IN" sz="1568" dirty="0">
                  <a:solidFill>
                    <a:schemeClr val="tx1"/>
                  </a:solidFill>
                  <a:latin typeface="Consolas" panose="020B0609020204030204" pitchFamily="49" charset="0"/>
                </a:rPr>
                <a:t>Virtual Machine Contributor</a:t>
              </a:r>
              <a:endParaRPr lang="en-US" sz="1568" dirty="0">
                <a:solidFill>
                  <a:schemeClr val="tx1"/>
                </a:solidFill>
                <a:latin typeface="Consolas" panose="020B0609020204030204" pitchFamily="49" charset="0"/>
              </a:endParaRPr>
            </a:p>
          </p:txBody>
        </p:sp>
        <p:sp>
          <p:nvSpPr>
            <p:cNvPr id="24" name="TextBox 23">
              <a:extLst>
                <a:ext uri="{FF2B5EF4-FFF2-40B4-BE49-F238E27FC236}">
                  <a16:creationId xmlns:a16="http://schemas.microsoft.com/office/drawing/2014/main" id="{E19398E2-DD93-4FAF-BDD9-48A85F7CC3EA}"/>
                </a:ext>
                <a:ext uri="{C183D7F6-B498-43B3-948B-1728B52AA6E4}">
                  <adec:decorative xmlns:adec="http://schemas.microsoft.com/office/drawing/2017/decorative" val="0"/>
                </a:ext>
              </a:extLst>
            </p:cNvPr>
            <p:cNvSpPr txBox="1"/>
            <p:nvPr/>
          </p:nvSpPr>
          <p:spPr>
            <a:xfrm>
              <a:off x="1662455" y="6174773"/>
              <a:ext cx="3025363" cy="277059"/>
            </a:xfrm>
            <a:prstGeom prst="rect">
              <a:avLst/>
            </a:prstGeom>
            <a:noFill/>
          </p:spPr>
          <p:txBody>
            <a:bodyPr wrap="square" lIns="0" tIns="0" rIns="0" bIns="0" rtlCol="0">
              <a:spAutoFit/>
            </a:bodyPr>
            <a:lstStyle/>
            <a:p>
              <a:pPr algn="ctr"/>
              <a:r>
                <a:rPr lang="en-IN" sz="1765">
                  <a:latin typeface="+mj-lt"/>
                </a:rPr>
                <a:t>Custom</a:t>
              </a:r>
              <a:endParaRPr lang="en-US" sz="1765">
                <a:latin typeface="+mj-lt"/>
              </a:endParaRPr>
            </a:p>
          </p:txBody>
        </p:sp>
        <p:sp>
          <p:nvSpPr>
            <p:cNvPr id="22" name="Rectangle: Rounded Corners 21">
              <a:extLst>
                <a:ext uri="{FF2B5EF4-FFF2-40B4-BE49-F238E27FC236}">
                  <a16:creationId xmlns:a16="http://schemas.microsoft.com/office/drawing/2014/main" id="{D1F349E4-B53A-49D3-8011-1D8CCEFD9DD0}"/>
                </a:ext>
                <a:ext uri="{C183D7F6-B498-43B3-948B-1728B52AA6E4}">
                  <adec:decorative xmlns:adec="http://schemas.microsoft.com/office/drawing/2017/decorative" val="1"/>
                </a:ext>
              </a:extLst>
            </p:cNvPr>
            <p:cNvSpPr/>
            <p:nvPr/>
          </p:nvSpPr>
          <p:spPr bwMode="auto">
            <a:xfrm>
              <a:off x="1150936" y="5453004"/>
              <a:ext cx="4048401" cy="711934"/>
            </a:xfrm>
            <a:prstGeom prst="roundRect">
              <a:avLst/>
            </a:prstGeom>
            <a:noFill/>
            <a:ln w="19050">
              <a:solidFill>
                <a:srgbClr val="107C0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9" tIns="71989" rIns="71989" bIns="71989" numCol="1" spcCol="0" rtlCol="0" fromWordArt="0" anchor="t" anchorCtr="0" forceAA="0" compatLnSpc="1">
              <a:prstTxWarp prst="textNoShape">
                <a:avLst/>
              </a:prstTxWarp>
              <a:spAutoFit/>
            </a:bodyPr>
            <a:lstStyle/>
            <a:p>
              <a:pPr defTabSz="932293" fontAlgn="base">
                <a:spcBef>
                  <a:spcPct val="0"/>
                </a:spcBef>
                <a:spcAft>
                  <a:spcPct val="0"/>
                </a:spcAft>
              </a:pPr>
              <a:r>
                <a:rPr lang="en-IN" sz="1568" dirty="0">
                  <a:solidFill>
                    <a:schemeClr val="tx1"/>
                  </a:solidFill>
                  <a:latin typeface="Consolas" panose="020B0609020204030204" pitchFamily="49" charset="0"/>
                </a:rPr>
                <a:t>Reader Support Tickets</a:t>
              </a:r>
            </a:p>
            <a:p>
              <a:pPr defTabSz="932293" fontAlgn="base">
                <a:spcBef>
                  <a:spcPct val="0"/>
                </a:spcBef>
                <a:spcAft>
                  <a:spcPct val="0"/>
                </a:spcAft>
              </a:pPr>
              <a:r>
                <a:rPr lang="en-IN" sz="1568" dirty="0">
                  <a:solidFill>
                    <a:schemeClr val="tx1"/>
                  </a:solidFill>
                  <a:latin typeface="Consolas" panose="020B0609020204030204" pitchFamily="49" charset="0"/>
                </a:rPr>
                <a:t>Virtual Machine Operator</a:t>
              </a:r>
              <a:endParaRPr lang="en-US" sz="1568" dirty="0">
                <a:solidFill>
                  <a:schemeClr val="tx1"/>
                </a:solidFill>
                <a:latin typeface="Consolas" panose="020B0609020204030204" pitchFamily="49" charset="0"/>
              </a:endParaRPr>
            </a:p>
          </p:txBody>
        </p:sp>
        <p:sp>
          <p:nvSpPr>
            <p:cNvPr id="25" name="Isosceles Triangle 24" descr="A zoom out shape showing more details about Contributor">
              <a:extLst>
                <a:ext uri="{FF2B5EF4-FFF2-40B4-BE49-F238E27FC236}">
                  <a16:creationId xmlns:a16="http://schemas.microsoft.com/office/drawing/2014/main" id="{8CEEAD99-9C40-40AB-A13E-B604AD24BAC5}"/>
                </a:ext>
                <a:ext uri="{C183D7F6-B498-43B3-948B-1728B52AA6E4}">
                  <adec:decorative xmlns:adec="http://schemas.microsoft.com/office/drawing/2017/decorative" val="0"/>
                </a:ext>
              </a:extLst>
            </p:cNvPr>
            <p:cNvSpPr/>
            <p:nvPr/>
          </p:nvSpPr>
          <p:spPr bwMode="auto">
            <a:xfrm rot="16200000">
              <a:off x="2885273" y="2415614"/>
              <a:ext cx="3469918" cy="4048399"/>
            </a:xfrm>
            <a:prstGeom prst="triangle">
              <a:avLst>
                <a:gd name="adj" fmla="val 85665"/>
              </a:avLst>
            </a:prstGeom>
            <a:solidFill>
              <a:schemeClr val="bg1">
                <a:lumMod val="95000"/>
                <a:alpha val="74902"/>
              </a:schemeClr>
            </a:solidFill>
            <a:ln w="19050">
              <a:solidFill>
                <a:schemeClr val="bg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pPr>
              <a:endParaRPr lang="en-US" sz="1700">
                <a:gradFill>
                  <a:gsLst>
                    <a:gs pos="0">
                      <a:srgbClr val="FFFFFF"/>
                    </a:gs>
                    <a:gs pos="100000">
                      <a:srgbClr val="FFFFFF"/>
                    </a:gs>
                  </a:gsLst>
                  <a:lin ang="5400000" scaled="0"/>
                </a:gradFill>
                <a:ea typeface="Segoe UI" pitchFamily="34" charset="0"/>
                <a:cs typeface="Segoe UI" pitchFamily="34" charset="0"/>
              </a:endParaRPr>
            </a:p>
          </p:txBody>
        </p:sp>
        <p:sp>
          <p:nvSpPr>
            <p:cNvPr id="27" name="Rectangle 26">
              <a:extLst>
                <a:ext uri="{FF2B5EF4-FFF2-40B4-BE49-F238E27FC236}">
                  <a16:creationId xmlns:a16="http://schemas.microsoft.com/office/drawing/2014/main" id="{9729CE6F-E55B-4688-AF13-91504361B2CD}"/>
                </a:ext>
                <a:ext uri="{C183D7F6-B498-43B3-948B-1728B52AA6E4}">
                  <adec:decorative xmlns:adec="http://schemas.microsoft.com/office/drawing/2017/decorative" val="0"/>
                </a:ext>
              </a:extLst>
            </p:cNvPr>
            <p:cNvSpPr/>
            <p:nvPr/>
          </p:nvSpPr>
          <p:spPr>
            <a:xfrm>
              <a:off x="7971017" y="2361598"/>
              <a:ext cx="1269659" cy="371244"/>
            </a:xfrm>
            <a:prstGeom prst="rect">
              <a:avLst/>
            </a:prstGeom>
          </p:spPr>
          <p:txBody>
            <a:bodyPr wrap="none">
              <a:spAutoFit/>
            </a:bodyPr>
            <a:lstStyle/>
            <a:p>
              <a:r>
                <a:rPr lang="en-IN" sz="1765" dirty="0">
                  <a:latin typeface="+mj-lt"/>
                  <a:ea typeface="Segoe UI" pitchFamily="34" charset="0"/>
                  <a:cs typeface="Segoe UI" pitchFamily="34" charset="0"/>
                </a:rPr>
                <a:t>Contributor</a:t>
              </a:r>
              <a:endParaRPr lang="en-US" sz="1765" dirty="0">
                <a:latin typeface="+mj-lt"/>
              </a:endParaRPr>
            </a:p>
          </p:txBody>
        </p:sp>
        <p:sp>
          <p:nvSpPr>
            <p:cNvPr id="26" name="Rectangle: Rounded Corners 25">
              <a:extLst>
                <a:ext uri="{FF2B5EF4-FFF2-40B4-BE49-F238E27FC236}">
                  <a16:creationId xmlns:a16="http://schemas.microsoft.com/office/drawing/2014/main" id="{527721F3-7E7C-4DD6-9C7D-F835BB6DE2DB}"/>
                </a:ext>
                <a:ext uri="{C183D7F6-B498-43B3-948B-1728B52AA6E4}">
                  <adec:decorative xmlns:adec="http://schemas.microsoft.com/office/drawing/2017/decorative" val="0"/>
                </a:ext>
              </a:extLst>
            </p:cNvPr>
            <p:cNvSpPr/>
            <p:nvPr/>
          </p:nvSpPr>
          <p:spPr bwMode="auto">
            <a:xfrm>
              <a:off x="6262758" y="2704854"/>
              <a:ext cx="4724556" cy="3449061"/>
            </a:xfrm>
            <a:prstGeom prst="roundRect">
              <a:avLst>
                <a:gd name="adj" fmla="val 10370"/>
              </a:avLst>
            </a:prstGeom>
            <a:solidFill>
              <a:schemeClr val="bg1"/>
            </a:solidFill>
            <a:ln w="190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0" rIns="0" bIns="0" numCol="1" spcCol="0" rtlCol="0" fromWordArt="0" anchor="t" anchorCtr="0" forceAA="0" compatLnSpc="1">
              <a:prstTxWarp prst="textNoShape">
                <a:avLst/>
              </a:prstTxWarp>
              <a:noAutofit/>
            </a:bodyPr>
            <a:lstStyle/>
            <a:p>
              <a:pPr defTabSz="932293" fontAlgn="base">
                <a:spcBef>
                  <a:spcPct val="0"/>
                </a:spcBef>
                <a:spcAft>
                  <a:spcPct val="0"/>
                </a:spcAft>
              </a:pPr>
              <a:r>
                <a:rPr lang="en-US" sz="1568" dirty="0">
                  <a:solidFill>
                    <a:schemeClr val="tx1"/>
                  </a:solidFill>
                  <a:latin typeface="Consolas" panose="020B0609020204030204" pitchFamily="49" charset="0"/>
                </a:rPr>
                <a:t>"Actions": [</a:t>
              </a:r>
            </a:p>
            <a:p>
              <a:pPr defTabSz="932293" fontAlgn="base">
                <a:spcBef>
                  <a:spcPct val="0"/>
                </a:spcBef>
                <a:spcAft>
                  <a:spcPct val="0"/>
                </a:spcAft>
              </a:pPr>
              <a:r>
                <a:rPr lang="en-US" sz="1568" dirty="0">
                  <a:solidFill>
                    <a:schemeClr val="tx1"/>
                  </a:solidFill>
                  <a:latin typeface="Consolas" panose="020B0609020204030204" pitchFamily="49" charset="0"/>
                </a:rPr>
                <a:t> "*"</a:t>
              </a:r>
            </a:p>
            <a:p>
              <a:pPr defTabSz="932293" fontAlgn="base">
                <a:spcBef>
                  <a:spcPct val="0"/>
                </a:spcBef>
                <a:spcAft>
                  <a:spcPct val="0"/>
                </a:spcAft>
              </a:pPr>
              <a:r>
                <a:rPr lang="en-US" sz="1568" dirty="0">
                  <a:solidFill>
                    <a:schemeClr val="tx1"/>
                  </a:solidFill>
                  <a:latin typeface="Consolas" panose="020B0609020204030204" pitchFamily="49" charset="0"/>
                </a:rPr>
                <a:t>],</a:t>
              </a:r>
            </a:p>
            <a:p>
              <a:pPr defTabSz="932293" fontAlgn="base">
                <a:spcBef>
                  <a:spcPct val="0"/>
                </a:spcBef>
                <a:spcAft>
                  <a:spcPct val="0"/>
                </a:spcAft>
              </a:pPr>
              <a:r>
                <a:rPr lang="en-US" sz="1568" dirty="0">
                  <a:solidFill>
                    <a:schemeClr val="tx1"/>
                  </a:solidFill>
                  <a:latin typeface="Consolas" panose="020B0609020204030204" pitchFamily="49" charset="0"/>
                </a:rPr>
                <a:t>"</a:t>
              </a:r>
              <a:r>
                <a:rPr lang="en-US" sz="1568" dirty="0" err="1">
                  <a:solidFill>
                    <a:schemeClr val="tx1"/>
                  </a:solidFill>
                  <a:latin typeface="Consolas" panose="020B0609020204030204" pitchFamily="49" charset="0"/>
                </a:rPr>
                <a:t>NotActions</a:t>
              </a:r>
              <a:r>
                <a:rPr lang="en-US" sz="1568" dirty="0">
                  <a:solidFill>
                    <a:schemeClr val="tx1"/>
                  </a:solidFill>
                  <a:latin typeface="Consolas" panose="020B0609020204030204" pitchFamily="49" charset="0"/>
                </a:rPr>
                <a:t>" : [</a:t>
              </a:r>
            </a:p>
            <a:p>
              <a:pPr defTabSz="932293" fontAlgn="base">
                <a:spcBef>
                  <a:spcPct val="0"/>
                </a:spcBef>
                <a:spcAft>
                  <a:spcPct val="0"/>
                </a:spcAft>
              </a:pPr>
              <a:r>
                <a:rPr lang="en-US" sz="1568" dirty="0">
                  <a:solidFill>
                    <a:schemeClr val="tx1"/>
                  </a:solidFill>
                  <a:latin typeface="Consolas" panose="020B0609020204030204" pitchFamily="49" charset="0"/>
                </a:rPr>
                <a:t> "Authorization/*/Delete",</a:t>
              </a:r>
            </a:p>
            <a:p>
              <a:pPr defTabSz="932293" fontAlgn="base">
                <a:spcBef>
                  <a:spcPct val="0"/>
                </a:spcBef>
                <a:spcAft>
                  <a:spcPct val="0"/>
                </a:spcAft>
              </a:pPr>
              <a:r>
                <a:rPr lang="en-US" sz="1568" dirty="0">
                  <a:solidFill>
                    <a:schemeClr val="tx1"/>
                  </a:solidFill>
                  <a:latin typeface="Consolas" panose="020B0609020204030204" pitchFamily="49" charset="0"/>
                </a:rPr>
                <a:t> "Authorization/*/Write",</a:t>
              </a:r>
            </a:p>
            <a:p>
              <a:pPr defTabSz="932293" fontAlgn="base">
                <a:spcBef>
                  <a:spcPct val="0"/>
                </a:spcBef>
                <a:spcAft>
                  <a:spcPct val="0"/>
                </a:spcAft>
              </a:pPr>
              <a:r>
                <a:rPr lang="en-US" sz="1568" dirty="0">
                  <a:solidFill>
                    <a:schemeClr val="tx1"/>
                  </a:solidFill>
                  <a:latin typeface="Consolas" panose="020B0609020204030204" pitchFamily="49" charset="0"/>
                </a:rPr>
                <a:t> "Authorization/</a:t>
              </a:r>
              <a:r>
                <a:rPr lang="en-US" sz="1568" dirty="0" err="1">
                  <a:solidFill>
                    <a:schemeClr val="tx1"/>
                  </a:solidFill>
                  <a:latin typeface="Consolas" panose="020B0609020204030204" pitchFamily="49" charset="0"/>
                </a:rPr>
                <a:t>elevateAccess</a:t>
              </a:r>
              <a:r>
                <a:rPr lang="en-US" sz="1568" dirty="0">
                  <a:solidFill>
                    <a:schemeClr val="tx1"/>
                  </a:solidFill>
                  <a:latin typeface="Consolas" panose="020B0609020204030204" pitchFamily="49" charset="0"/>
                </a:rPr>
                <a:t>/Action"</a:t>
              </a:r>
            </a:p>
            <a:p>
              <a:pPr defTabSz="932293" fontAlgn="base">
                <a:spcBef>
                  <a:spcPct val="0"/>
                </a:spcBef>
                <a:spcAft>
                  <a:spcPct val="0"/>
                </a:spcAft>
              </a:pPr>
              <a:r>
                <a:rPr lang="en-US" sz="1568" dirty="0">
                  <a:solidFill>
                    <a:schemeClr val="tx1"/>
                  </a:solidFill>
                  <a:latin typeface="Consolas" panose="020B0609020204030204" pitchFamily="49" charset="0"/>
                </a:rPr>
                <a:t>],</a:t>
              </a:r>
            </a:p>
            <a:p>
              <a:pPr defTabSz="932293" fontAlgn="base">
                <a:spcBef>
                  <a:spcPct val="0"/>
                </a:spcBef>
                <a:spcAft>
                  <a:spcPct val="0"/>
                </a:spcAft>
              </a:pPr>
              <a:r>
                <a:rPr lang="en-US" sz="1568" dirty="0">
                  <a:solidFill>
                    <a:schemeClr val="tx1"/>
                  </a:solidFill>
                  <a:latin typeface="Consolas" panose="020B0609020204030204" pitchFamily="49" charset="0"/>
                </a:rPr>
                <a:t>"</a:t>
              </a:r>
              <a:r>
                <a:rPr lang="en-US" sz="1568" dirty="0" err="1">
                  <a:solidFill>
                    <a:schemeClr val="tx1"/>
                  </a:solidFill>
                  <a:latin typeface="Consolas" panose="020B0609020204030204" pitchFamily="49" charset="0"/>
                </a:rPr>
                <a:t>DataActions</a:t>
              </a:r>
              <a:r>
                <a:rPr lang="en-US" sz="1568" dirty="0">
                  <a:solidFill>
                    <a:schemeClr val="tx1"/>
                  </a:solidFill>
                  <a:latin typeface="Consolas" panose="020B0609020204030204" pitchFamily="49" charset="0"/>
                </a:rPr>
                <a:t>" : [],</a:t>
              </a:r>
            </a:p>
            <a:p>
              <a:pPr defTabSz="932293" fontAlgn="base">
                <a:spcBef>
                  <a:spcPct val="0"/>
                </a:spcBef>
                <a:spcAft>
                  <a:spcPct val="0"/>
                </a:spcAft>
              </a:pPr>
              <a:r>
                <a:rPr lang="en-US" sz="1568" dirty="0">
                  <a:solidFill>
                    <a:schemeClr val="tx1"/>
                  </a:solidFill>
                  <a:latin typeface="Consolas" panose="020B0609020204030204" pitchFamily="49" charset="0"/>
                </a:rPr>
                <a:t> "</a:t>
              </a:r>
              <a:r>
                <a:rPr lang="en-US" sz="1568" dirty="0" err="1">
                  <a:solidFill>
                    <a:schemeClr val="tx1"/>
                  </a:solidFill>
                  <a:latin typeface="Consolas" panose="020B0609020204030204" pitchFamily="49" charset="0"/>
                </a:rPr>
                <a:t>NotDataActions</a:t>
              </a:r>
              <a:r>
                <a:rPr lang="en-US" sz="1568" dirty="0">
                  <a:solidFill>
                    <a:schemeClr val="tx1"/>
                  </a:solidFill>
                  <a:latin typeface="Consolas" panose="020B0609020204030204" pitchFamily="49" charset="0"/>
                </a:rPr>
                <a:t>": [],</a:t>
              </a:r>
            </a:p>
            <a:p>
              <a:pPr defTabSz="932293" fontAlgn="base">
                <a:spcBef>
                  <a:spcPct val="0"/>
                </a:spcBef>
                <a:spcAft>
                  <a:spcPct val="0"/>
                </a:spcAft>
              </a:pPr>
              <a:r>
                <a:rPr lang="en-US" sz="1568" dirty="0">
                  <a:solidFill>
                    <a:schemeClr val="tx1"/>
                  </a:solidFill>
                  <a:latin typeface="Consolas" panose="020B0609020204030204" pitchFamily="49" charset="0"/>
                </a:rPr>
                <a:t> "</a:t>
              </a:r>
              <a:r>
                <a:rPr lang="en-US" sz="1568" dirty="0" err="1">
                  <a:solidFill>
                    <a:schemeClr val="tx1"/>
                  </a:solidFill>
                  <a:latin typeface="Consolas" panose="020B0609020204030204" pitchFamily="49" charset="0"/>
                </a:rPr>
                <a:t>AssignableScopes</a:t>
              </a:r>
              <a:r>
                <a:rPr lang="en-US" sz="1568" dirty="0">
                  <a:solidFill>
                    <a:schemeClr val="tx1"/>
                  </a:solidFill>
                  <a:latin typeface="Consolas" panose="020B0609020204030204" pitchFamily="49" charset="0"/>
                </a:rPr>
                <a:t>" : [</a:t>
              </a:r>
            </a:p>
            <a:p>
              <a:pPr defTabSz="932293" fontAlgn="base">
                <a:spcBef>
                  <a:spcPct val="0"/>
                </a:spcBef>
                <a:spcAft>
                  <a:spcPct val="0"/>
                </a:spcAft>
              </a:pPr>
              <a:r>
                <a:rPr lang="en-US" sz="1568" dirty="0">
                  <a:solidFill>
                    <a:schemeClr val="tx1"/>
                  </a:solidFill>
                  <a:latin typeface="Consolas" panose="020B0609020204030204" pitchFamily="49" charset="0"/>
                </a:rPr>
                <a:t> "/"</a:t>
              </a:r>
            </a:p>
            <a:p>
              <a:pPr defTabSz="932293" fontAlgn="base">
                <a:spcBef>
                  <a:spcPct val="0"/>
                </a:spcBef>
                <a:spcAft>
                  <a:spcPct val="0"/>
                </a:spcAft>
              </a:pPr>
              <a:r>
                <a:rPr lang="en-US" sz="1568" dirty="0">
                  <a:solidFill>
                    <a:schemeClr val="tx1"/>
                  </a:solidFill>
                  <a:latin typeface="Consolas" panose="020B0609020204030204" pitchFamily="49" charset="0"/>
                </a:rPr>
                <a:t>]</a:t>
              </a:r>
            </a:p>
          </p:txBody>
        </p:sp>
      </p:grpSp>
    </p:spTree>
    <p:extLst>
      <p:ext uri="{BB962C8B-B14F-4D97-AF65-F5344CB8AC3E}">
        <p14:creationId xmlns:p14="http://schemas.microsoft.com/office/powerpoint/2010/main" val="363387725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5243-6AC2-40C3-92C0-AB0946072E9B}"/>
              </a:ext>
            </a:extLst>
          </p:cNvPr>
          <p:cNvSpPr>
            <a:spLocks noGrp="1"/>
          </p:cNvSpPr>
          <p:nvPr>
            <p:ph type="title"/>
          </p:nvPr>
        </p:nvSpPr>
        <p:spPr/>
        <p:txBody>
          <a:bodyPr/>
          <a:lstStyle/>
          <a:p>
            <a:r>
              <a:rPr lang="en-US" dirty="0"/>
              <a:t>Create a Role Assignment</a:t>
            </a:r>
          </a:p>
        </p:txBody>
      </p:sp>
      <p:sp>
        <p:nvSpPr>
          <p:cNvPr id="45" name="Rectangle 44">
            <a:extLst>
              <a:ext uri="{FF2B5EF4-FFF2-40B4-BE49-F238E27FC236}">
                <a16:creationId xmlns:a16="http://schemas.microsoft.com/office/drawing/2014/main" id="{038032CC-3415-441D-9B5B-493A79A80104}"/>
              </a:ext>
            </a:extLst>
          </p:cNvPr>
          <p:cNvSpPr/>
          <p:nvPr/>
        </p:nvSpPr>
        <p:spPr>
          <a:xfrm>
            <a:off x="0" y="1172335"/>
            <a:ext cx="12192000" cy="870008"/>
          </a:xfrm>
          <a:prstGeom prst="rect">
            <a:avLst/>
          </a:prstGeom>
          <a:solidFill>
            <a:srgbClr val="243A5E"/>
          </a:solidFill>
          <a:ln>
            <a:noFill/>
          </a:ln>
        </p:spPr>
        <p:txBody>
          <a:bodyPr wrap="square" lIns="448212" tIns="44821" rIns="89642" bIns="44821" anchor="ctr">
            <a:noAutofit/>
          </a:bodyPr>
          <a:lstStyle/>
          <a:p>
            <a:r>
              <a:rPr lang="en-US" sz="2353" dirty="0">
                <a:solidFill>
                  <a:schemeClr val="bg1"/>
                </a:solidFill>
                <a:latin typeface="+mj-lt"/>
                <a:cs typeface="Segoe UI Semilight" panose="020B0402040204020203" pitchFamily="34" charset="0"/>
              </a:rPr>
              <a:t>Process of binding a role definition to a user, group, or service principal at a</a:t>
            </a:r>
            <a:br>
              <a:rPr lang="en-US" sz="2353" dirty="0">
                <a:solidFill>
                  <a:schemeClr val="bg1"/>
                </a:solidFill>
                <a:latin typeface="+mj-lt"/>
                <a:cs typeface="Segoe UI Semilight" panose="020B0402040204020203" pitchFamily="34" charset="0"/>
              </a:rPr>
            </a:br>
            <a:r>
              <a:rPr lang="en-US" sz="2353" dirty="0">
                <a:solidFill>
                  <a:schemeClr val="bg1"/>
                </a:solidFill>
                <a:latin typeface="+mj-lt"/>
                <a:cs typeface="Segoe UI Semilight" panose="020B0402040204020203" pitchFamily="34" charset="0"/>
              </a:rPr>
              <a:t>scope for the purpose of granting access</a:t>
            </a:r>
          </a:p>
        </p:txBody>
      </p:sp>
      <p:sp>
        <p:nvSpPr>
          <p:cNvPr id="46" name="Rectangle 45">
            <a:extLst>
              <a:ext uri="{FF2B5EF4-FFF2-40B4-BE49-F238E27FC236}">
                <a16:creationId xmlns:a16="http://schemas.microsoft.com/office/drawing/2014/main" id="{E500AF5A-97DA-4C11-A921-278850B8DB58}"/>
              </a:ext>
              <a:ext uri="{C183D7F6-B498-43B3-948B-1728B52AA6E4}">
                <adec:decorative xmlns:adec="http://schemas.microsoft.com/office/drawing/2017/decorative" val="1"/>
              </a:ext>
            </a:extLst>
          </p:cNvPr>
          <p:cNvSpPr/>
          <p:nvPr/>
        </p:nvSpPr>
        <p:spPr bwMode="auto">
          <a:xfrm>
            <a:off x="418643" y="2159067"/>
            <a:ext cx="11354714" cy="4182187"/>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1AB543FE-AB6E-4161-9557-1905316E5CFD}"/>
              </a:ext>
              <a:ext uri="{C183D7F6-B498-43B3-948B-1728B52AA6E4}">
                <adec:decorative xmlns:adec="http://schemas.microsoft.com/office/drawing/2017/decorative" val="1"/>
              </a:ext>
            </a:extLst>
          </p:cNvPr>
          <p:cNvGrpSpPr/>
          <p:nvPr/>
        </p:nvGrpSpPr>
        <p:grpSpPr>
          <a:xfrm>
            <a:off x="530967" y="2204576"/>
            <a:ext cx="11057660" cy="3932189"/>
            <a:chOff x="541613" y="2281842"/>
            <a:chExt cx="11279389" cy="4011038"/>
          </a:xfrm>
        </p:grpSpPr>
        <p:sp>
          <p:nvSpPr>
            <p:cNvPr id="76" name="Oval 75">
              <a:extLst>
                <a:ext uri="{FF2B5EF4-FFF2-40B4-BE49-F238E27FC236}">
                  <a16:creationId xmlns:a16="http://schemas.microsoft.com/office/drawing/2014/main" id="{EBAFA273-8C16-40D9-8927-8D4383494A11}"/>
                </a:ext>
              </a:extLst>
            </p:cNvPr>
            <p:cNvSpPr/>
            <p:nvPr/>
          </p:nvSpPr>
          <p:spPr>
            <a:xfrm>
              <a:off x="4348266" y="2281842"/>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568">
                  <a:solidFill>
                    <a:schemeClr val="bg1"/>
                  </a:solidFill>
                  <a:latin typeface="+mj-lt"/>
                </a:rPr>
                <a:t>1</a:t>
              </a:r>
            </a:p>
          </p:txBody>
        </p:sp>
        <p:sp>
          <p:nvSpPr>
            <p:cNvPr id="75" name="Rectangle 74">
              <a:extLst>
                <a:ext uri="{FF2B5EF4-FFF2-40B4-BE49-F238E27FC236}">
                  <a16:creationId xmlns:a16="http://schemas.microsoft.com/office/drawing/2014/main" id="{DADA8E8E-29E1-4E10-9395-6CAF48E5FC5E}"/>
                </a:ext>
              </a:extLst>
            </p:cNvPr>
            <p:cNvSpPr/>
            <p:nvPr/>
          </p:nvSpPr>
          <p:spPr>
            <a:xfrm>
              <a:off x="4738434" y="2288160"/>
              <a:ext cx="3114441" cy="338554"/>
            </a:xfrm>
            <a:prstGeom prst="rect">
              <a:avLst/>
            </a:prstGeom>
            <a:solidFill>
              <a:schemeClr val="accent2">
                <a:lumMod val="75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568" dirty="0">
                  <a:solidFill>
                    <a:schemeClr val="bg1"/>
                  </a:solidFill>
                  <a:latin typeface="+mj-lt"/>
                </a:rPr>
                <a:t>Security principal</a:t>
              </a:r>
            </a:p>
          </p:txBody>
        </p:sp>
        <p:sp>
          <p:nvSpPr>
            <p:cNvPr id="68" name="Rectangle: Rounded Corners 11">
              <a:extLst>
                <a:ext uri="{FF2B5EF4-FFF2-40B4-BE49-F238E27FC236}">
                  <a16:creationId xmlns:a16="http://schemas.microsoft.com/office/drawing/2014/main" id="{B7A1FE2D-8334-4973-8452-746AA1A0FA57}"/>
                </a:ext>
                <a:ext uri="{C183D7F6-B498-43B3-948B-1728B52AA6E4}">
                  <adec:decorative xmlns:adec="http://schemas.microsoft.com/office/drawing/2017/decorative" val="1"/>
                </a:ext>
              </a:extLst>
            </p:cNvPr>
            <p:cNvSpPr/>
            <p:nvPr/>
          </p:nvSpPr>
          <p:spPr>
            <a:xfrm>
              <a:off x="4739239" y="2626714"/>
              <a:ext cx="3102269" cy="794006"/>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Freeform 30">
              <a:extLst>
                <a:ext uri="{FF2B5EF4-FFF2-40B4-BE49-F238E27FC236}">
                  <a16:creationId xmlns:a16="http://schemas.microsoft.com/office/drawing/2014/main" id="{23758121-20D2-48A3-84A5-EC4F81BD5ECB}"/>
                </a:ext>
                <a:ext uri="{C183D7F6-B498-43B3-948B-1728B52AA6E4}">
                  <adec:decorative xmlns:adec="http://schemas.microsoft.com/office/drawing/2017/decorative" val="1"/>
                </a:ext>
              </a:extLst>
            </p:cNvPr>
            <p:cNvSpPr>
              <a:spLocks/>
            </p:cNvSpPr>
            <p:nvPr/>
          </p:nvSpPr>
          <p:spPr bwMode="auto">
            <a:xfrm>
              <a:off x="5025787" y="2676632"/>
              <a:ext cx="362308" cy="376620"/>
            </a:xfrm>
            <a:custGeom>
              <a:avLst/>
              <a:gdLst>
                <a:gd name="connsiteX0" fmla="*/ 195412 w 714986"/>
                <a:gd name="connsiteY0" fmla="*/ 433884 h 743230"/>
                <a:gd name="connsiteX1" fmla="*/ 244700 w 714986"/>
                <a:gd name="connsiteY1" fmla="*/ 444841 h 743230"/>
                <a:gd name="connsiteX2" fmla="*/ 308613 w 714986"/>
                <a:gd name="connsiteY2" fmla="*/ 482444 h 743230"/>
                <a:gd name="connsiteX3" fmla="*/ 404211 w 714986"/>
                <a:gd name="connsiteY3" fmla="*/ 526269 h 743230"/>
                <a:gd name="connsiteX4" fmla="*/ 483560 w 714986"/>
                <a:gd name="connsiteY4" fmla="*/ 517612 h 743230"/>
                <a:gd name="connsiteX5" fmla="*/ 546389 w 714986"/>
                <a:gd name="connsiteY5" fmla="*/ 472434 h 743230"/>
                <a:gd name="connsiteX6" fmla="*/ 608677 w 714986"/>
                <a:gd name="connsiteY6" fmla="*/ 471893 h 743230"/>
                <a:gd name="connsiteX7" fmla="*/ 645779 w 714986"/>
                <a:gd name="connsiteY7" fmla="*/ 512742 h 743230"/>
                <a:gd name="connsiteX8" fmla="*/ 705900 w 714986"/>
                <a:gd name="connsiteY8" fmla="*/ 668836 h 743230"/>
                <a:gd name="connsiteX9" fmla="*/ 714837 w 714986"/>
                <a:gd name="connsiteY9" fmla="*/ 734303 h 743230"/>
                <a:gd name="connsiteX10" fmla="*/ 706171 w 714986"/>
                <a:gd name="connsiteY10" fmla="*/ 743230 h 743230"/>
                <a:gd name="connsiteX11" fmla="*/ 357360 w 714986"/>
                <a:gd name="connsiteY11" fmla="*/ 742960 h 743230"/>
                <a:gd name="connsiteX12" fmla="*/ 11799 w 714986"/>
                <a:gd name="connsiteY12" fmla="*/ 742960 h 743230"/>
                <a:gd name="connsiteX13" fmla="*/ 154 w 714986"/>
                <a:gd name="connsiteY13" fmla="*/ 731056 h 743230"/>
                <a:gd name="connsiteX14" fmla="*/ 75711 w 714986"/>
                <a:gd name="connsiteY14" fmla="*/ 508685 h 743230"/>
                <a:gd name="connsiteX15" fmla="*/ 146123 w 714986"/>
                <a:gd name="connsiteY15" fmla="*/ 445652 h 743230"/>
                <a:gd name="connsiteX16" fmla="*/ 195412 w 714986"/>
                <a:gd name="connsiteY16" fmla="*/ 433884 h 743230"/>
                <a:gd name="connsiteX17" fmla="*/ 377050 w 714986"/>
                <a:gd name="connsiteY17" fmla="*/ 469 h 743230"/>
                <a:gd name="connsiteX18" fmla="*/ 483059 w 714986"/>
                <a:gd name="connsiteY18" fmla="*/ 26164 h 743230"/>
                <a:gd name="connsiteX19" fmla="*/ 595466 w 714986"/>
                <a:gd name="connsiteY19" fmla="*/ 213607 h 743230"/>
                <a:gd name="connsiteX20" fmla="*/ 562963 w 714986"/>
                <a:gd name="connsiteY20" fmla="*/ 346412 h 743230"/>
                <a:gd name="connsiteX21" fmla="*/ 426719 w 714986"/>
                <a:gd name="connsiteY21" fmla="*/ 432965 h 743230"/>
                <a:gd name="connsiteX22" fmla="*/ 297518 w 714986"/>
                <a:gd name="connsiteY22" fmla="*/ 396451 h 743230"/>
                <a:gd name="connsiteX23" fmla="*/ 203800 w 714986"/>
                <a:gd name="connsiteY23" fmla="*/ 231729 h 743230"/>
                <a:gd name="connsiteX24" fmla="*/ 202175 w 714986"/>
                <a:gd name="connsiteY24" fmla="*/ 203328 h 743230"/>
                <a:gd name="connsiteX25" fmla="*/ 276120 w 714986"/>
                <a:gd name="connsiteY25" fmla="*/ 41311 h 743230"/>
                <a:gd name="connsiteX26" fmla="*/ 377050 w 714986"/>
                <a:gd name="connsiteY26" fmla="*/ 469 h 743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14986" h="743230">
                  <a:moveTo>
                    <a:pt x="195412" y="433884"/>
                  </a:moveTo>
                  <a:cubicBezTo>
                    <a:pt x="211864" y="434290"/>
                    <a:pt x="228316" y="438483"/>
                    <a:pt x="244700" y="444841"/>
                  </a:cubicBezTo>
                  <a:cubicBezTo>
                    <a:pt x="267991" y="454038"/>
                    <a:pt x="287489" y="469729"/>
                    <a:pt x="308613" y="482444"/>
                  </a:cubicBezTo>
                  <a:cubicBezTo>
                    <a:pt x="338944" y="500569"/>
                    <a:pt x="369547" y="517612"/>
                    <a:pt x="404211" y="526269"/>
                  </a:cubicBezTo>
                  <a:cubicBezTo>
                    <a:pt x="431834" y="533302"/>
                    <a:pt x="457832" y="529245"/>
                    <a:pt x="483560" y="517612"/>
                  </a:cubicBezTo>
                  <a:cubicBezTo>
                    <a:pt x="507933" y="506791"/>
                    <a:pt x="528245" y="490830"/>
                    <a:pt x="546389" y="472434"/>
                  </a:cubicBezTo>
                  <a:cubicBezTo>
                    <a:pt x="566971" y="451333"/>
                    <a:pt x="590532" y="458908"/>
                    <a:pt x="608677" y="471893"/>
                  </a:cubicBezTo>
                  <a:cubicBezTo>
                    <a:pt x="624113" y="482714"/>
                    <a:pt x="634675" y="497864"/>
                    <a:pt x="645779" y="512742"/>
                  </a:cubicBezTo>
                  <a:cubicBezTo>
                    <a:pt x="680172" y="559273"/>
                    <a:pt x="696421" y="612566"/>
                    <a:pt x="705900" y="668836"/>
                  </a:cubicBezTo>
                  <a:cubicBezTo>
                    <a:pt x="709691" y="690478"/>
                    <a:pt x="712399" y="712390"/>
                    <a:pt x="714837" y="734303"/>
                  </a:cubicBezTo>
                  <a:cubicBezTo>
                    <a:pt x="715649" y="741607"/>
                    <a:pt x="713212" y="743230"/>
                    <a:pt x="706171" y="743230"/>
                  </a:cubicBezTo>
                  <a:cubicBezTo>
                    <a:pt x="589991" y="742960"/>
                    <a:pt x="473540" y="742960"/>
                    <a:pt x="357360" y="742960"/>
                  </a:cubicBezTo>
                  <a:cubicBezTo>
                    <a:pt x="242263" y="742960"/>
                    <a:pt x="127166" y="742960"/>
                    <a:pt x="11799" y="742960"/>
                  </a:cubicBezTo>
                  <a:cubicBezTo>
                    <a:pt x="-117" y="742960"/>
                    <a:pt x="-388" y="742960"/>
                    <a:pt x="154" y="731056"/>
                  </a:cubicBezTo>
                  <a:cubicBezTo>
                    <a:pt x="3133" y="649628"/>
                    <a:pt x="26694" y="574693"/>
                    <a:pt x="75711" y="508685"/>
                  </a:cubicBezTo>
                  <a:cubicBezTo>
                    <a:pt x="94939" y="482985"/>
                    <a:pt x="117688" y="461072"/>
                    <a:pt x="146123" y="445652"/>
                  </a:cubicBezTo>
                  <a:cubicBezTo>
                    <a:pt x="162508" y="436860"/>
                    <a:pt x="178960" y="433479"/>
                    <a:pt x="195412" y="433884"/>
                  </a:cubicBezTo>
                  <a:close/>
                  <a:moveTo>
                    <a:pt x="377050" y="469"/>
                  </a:moveTo>
                  <a:cubicBezTo>
                    <a:pt x="413312" y="-2168"/>
                    <a:pt x="450420" y="6284"/>
                    <a:pt x="483059" y="26164"/>
                  </a:cubicBezTo>
                  <a:cubicBezTo>
                    <a:pt x="553212" y="68900"/>
                    <a:pt x="588965" y="132733"/>
                    <a:pt x="595466" y="213607"/>
                  </a:cubicBezTo>
                  <a:cubicBezTo>
                    <a:pt x="599258" y="261211"/>
                    <a:pt x="588695" y="305840"/>
                    <a:pt x="562963" y="346412"/>
                  </a:cubicBezTo>
                  <a:cubicBezTo>
                    <a:pt x="531543" y="396451"/>
                    <a:pt x="486309" y="426744"/>
                    <a:pt x="426719" y="432965"/>
                  </a:cubicBezTo>
                  <a:cubicBezTo>
                    <a:pt x="379048" y="437834"/>
                    <a:pt x="335710" y="424580"/>
                    <a:pt x="297518" y="396451"/>
                  </a:cubicBezTo>
                  <a:cubicBezTo>
                    <a:pt x="241992" y="355608"/>
                    <a:pt x="212197" y="299619"/>
                    <a:pt x="203800" y="231729"/>
                  </a:cubicBezTo>
                  <a:cubicBezTo>
                    <a:pt x="202717" y="222262"/>
                    <a:pt x="202717" y="213066"/>
                    <a:pt x="202175" y="203328"/>
                  </a:cubicBezTo>
                  <a:cubicBezTo>
                    <a:pt x="204071" y="139225"/>
                    <a:pt x="225740" y="83506"/>
                    <a:pt x="276120" y="41311"/>
                  </a:cubicBezTo>
                  <a:cubicBezTo>
                    <a:pt x="305373" y="16833"/>
                    <a:pt x="340789" y="3106"/>
                    <a:pt x="377050" y="469"/>
                  </a:cubicBezTo>
                  <a:close/>
                </a:path>
              </a:pathLst>
            </a:custGeom>
            <a:solidFill>
              <a:schemeClr val="tx2"/>
            </a:solidFill>
            <a:ln>
              <a:noFill/>
            </a:ln>
          </p:spPr>
          <p:txBody>
            <a:bodyPr vert="horz" wrap="square" lIns="89642" tIns="44821" rIns="89642" bIns="44821" numCol="1" anchor="t" anchorCtr="0" compatLnSpc="1">
              <a:prstTxWarp prst="textNoShape">
                <a:avLst/>
              </a:prstTxWarp>
              <a:noAutofit/>
            </a:bodyPr>
            <a:lstStyle/>
            <a:p>
              <a:endParaRPr lang="en-US" sz="1765"/>
            </a:p>
          </p:txBody>
        </p:sp>
        <p:sp>
          <p:nvSpPr>
            <p:cNvPr id="69" name="TextBox 68">
              <a:extLst>
                <a:ext uri="{FF2B5EF4-FFF2-40B4-BE49-F238E27FC236}">
                  <a16:creationId xmlns:a16="http://schemas.microsoft.com/office/drawing/2014/main" id="{3D8655F5-4EF6-4AF4-B8AF-9015E81BB5D9}"/>
                </a:ext>
              </a:extLst>
            </p:cNvPr>
            <p:cNvSpPr txBox="1"/>
            <p:nvPr/>
          </p:nvSpPr>
          <p:spPr>
            <a:xfrm>
              <a:off x="5029032" y="3141592"/>
              <a:ext cx="314189" cy="184666"/>
            </a:xfrm>
            <a:prstGeom prst="rect">
              <a:avLst/>
            </a:prstGeom>
            <a:noFill/>
          </p:spPr>
          <p:txBody>
            <a:bodyPr wrap="square" lIns="0" tIns="0" rIns="0" bIns="0" rtlCol="0" anchor="ctr">
              <a:spAutoFit/>
            </a:bodyPr>
            <a:lstStyle/>
            <a:p>
              <a:pPr algn="ctr"/>
              <a:r>
                <a:rPr lang="en-US" sz="1176">
                  <a:latin typeface="+mj-lt"/>
                </a:rPr>
                <a:t>User</a:t>
              </a:r>
            </a:p>
          </p:txBody>
        </p:sp>
        <p:pic>
          <p:nvPicPr>
            <p:cNvPr id="72" name="Picture 71">
              <a:extLst>
                <a:ext uri="{FF2B5EF4-FFF2-40B4-BE49-F238E27FC236}">
                  <a16:creationId xmlns:a16="http://schemas.microsoft.com/office/drawing/2014/main" id="{A6FEB0BD-FDF4-4DED-8836-DB327B0A9DB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57639" y="2673852"/>
              <a:ext cx="557784" cy="402336"/>
            </a:xfrm>
            <a:prstGeom prst="rect">
              <a:avLst/>
            </a:prstGeom>
          </p:spPr>
        </p:pic>
        <p:sp>
          <p:nvSpPr>
            <p:cNvPr id="67" name="TextBox 66">
              <a:extLst>
                <a:ext uri="{FF2B5EF4-FFF2-40B4-BE49-F238E27FC236}">
                  <a16:creationId xmlns:a16="http://schemas.microsoft.com/office/drawing/2014/main" id="{E3AFA71B-3ED6-48B7-9753-426AABA71EB5}"/>
                </a:ext>
              </a:extLst>
            </p:cNvPr>
            <p:cNvSpPr txBox="1"/>
            <p:nvPr/>
          </p:nvSpPr>
          <p:spPr>
            <a:xfrm>
              <a:off x="5815362" y="3141592"/>
              <a:ext cx="437876" cy="184666"/>
            </a:xfrm>
            <a:prstGeom prst="rect">
              <a:avLst/>
            </a:prstGeom>
            <a:noFill/>
          </p:spPr>
          <p:txBody>
            <a:bodyPr wrap="square" lIns="0" tIns="0" rIns="0" bIns="0" rtlCol="0" anchor="ctr">
              <a:spAutoFit/>
            </a:bodyPr>
            <a:lstStyle/>
            <a:p>
              <a:pPr algn="ctr"/>
              <a:r>
                <a:rPr lang="en-US" sz="1176">
                  <a:latin typeface="+mj-lt"/>
                </a:rPr>
                <a:t>Group</a:t>
              </a:r>
            </a:p>
          </p:txBody>
        </p:sp>
        <p:pic>
          <p:nvPicPr>
            <p:cNvPr id="87" name="Picture 86">
              <a:extLst>
                <a:ext uri="{FF2B5EF4-FFF2-40B4-BE49-F238E27FC236}">
                  <a16:creationId xmlns:a16="http://schemas.microsoft.com/office/drawing/2014/main" id="{72389798-32CC-47D5-A2EF-32CE52BB06A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30946" y="2687739"/>
              <a:ext cx="560832" cy="376428"/>
            </a:xfrm>
            <a:prstGeom prst="rect">
              <a:avLst/>
            </a:prstGeom>
          </p:spPr>
        </p:pic>
        <p:sp>
          <p:nvSpPr>
            <p:cNvPr id="70" name="TextBox 69">
              <a:extLst>
                <a:ext uri="{FF2B5EF4-FFF2-40B4-BE49-F238E27FC236}">
                  <a16:creationId xmlns:a16="http://schemas.microsoft.com/office/drawing/2014/main" id="{F6A7E448-3520-4CD7-B831-FE87E34F1E9E}"/>
                </a:ext>
              </a:extLst>
            </p:cNvPr>
            <p:cNvSpPr txBox="1"/>
            <p:nvPr/>
          </p:nvSpPr>
          <p:spPr>
            <a:xfrm>
              <a:off x="6637382" y="3141592"/>
              <a:ext cx="1147302" cy="184666"/>
            </a:xfrm>
            <a:prstGeom prst="rect">
              <a:avLst/>
            </a:prstGeom>
            <a:noFill/>
          </p:spPr>
          <p:txBody>
            <a:bodyPr wrap="square" lIns="0" tIns="0" rIns="0" bIns="0" rtlCol="0" anchor="ctr">
              <a:spAutoFit/>
            </a:bodyPr>
            <a:lstStyle/>
            <a:p>
              <a:pPr algn="ctr"/>
              <a:r>
                <a:rPr lang="en-US" sz="1176">
                  <a:latin typeface="+mj-lt"/>
                </a:rPr>
                <a:t>Service principal</a:t>
              </a:r>
            </a:p>
          </p:txBody>
        </p:sp>
        <p:cxnSp>
          <p:nvCxnSpPr>
            <p:cNvPr id="93" name="Straight Arrow Connector 92" descr="Arrow pointing from Service principal to Role assignment">
              <a:extLst>
                <a:ext uri="{FF2B5EF4-FFF2-40B4-BE49-F238E27FC236}">
                  <a16:creationId xmlns:a16="http://schemas.microsoft.com/office/drawing/2014/main" id="{9CC8F0DC-3EAA-4E9D-AAB6-E18715265177}"/>
                </a:ext>
              </a:extLst>
            </p:cNvPr>
            <p:cNvCxnSpPr>
              <a:cxnSpLocks/>
            </p:cNvCxnSpPr>
            <p:nvPr/>
          </p:nvCxnSpPr>
          <p:spPr>
            <a:xfrm>
              <a:off x="6209454" y="3424238"/>
              <a:ext cx="0" cy="274451"/>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299BA033-DEA3-4E45-8E9F-877FE78DDB8E}"/>
                </a:ext>
              </a:extLst>
            </p:cNvPr>
            <p:cNvSpPr/>
            <p:nvPr/>
          </p:nvSpPr>
          <p:spPr>
            <a:xfrm>
              <a:off x="4503613" y="3744409"/>
              <a:ext cx="3420446" cy="346172"/>
            </a:xfrm>
            <a:prstGeom prst="rect">
              <a:avLst/>
            </a:prstGeom>
            <a:solidFill>
              <a:srgbClr val="243A5E"/>
            </a:solidFill>
            <a:ln w="19050">
              <a:solidFill>
                <a:srgbClr val="243A5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372">
                  <a:solidFill>
                    <a:schemeClr val="bg1"/>
                  </a:solidFill>
                  <a:latin typeface="+mj-lt"/>
                </a:rPr>
                <a:t>Role assignment</a:t>
              </a:r>
            </a:p>
          </p:txBody>
        </p:sp>
        <p:sp>
          <p:nvSpPr>
            <p:cNvPr id="103" name="Rectangle 102">
              <a:extLst>
                <a:ext uri="{FF2B5EF4-FFF2-40B4-BE49-F238E27FC236}">
                  <a16:creationId xmlns:a16="http://schemas.microsoft.com/office/drawing/2014/main" id="{08D22BAB-3339-46D4-B374-53E1C78D96BE}"/>
                </a:ext>
                <a:ext uri="{C183D7F6-B498-43B3-948B-1728B52AA6E4}">
                  <adec:decorative xmlns:adec="http://schemas.microsoft.com/office/drawing/2017/decorative" val="1"/>
                </a:ext>
              </a:extLst>
            </p:cNvPr>
            <p:cNvSpPr/>
            <p:nvPr/>
          </p:nvSpPr>
          <p:spPr>
            <a:xfrm>
              <a:off x="4508489" y="4076830"/>
              <a:ext cx="3410695" cy="2096125"/>
            </a:xfrm>
            <a:prstGeom prst="rect">
              <a:avLst/>
            </a:prstGeom>
            <a:noFill/>
            <a:ln w="19050">
              <a:solidFill>
                <a:srgbClr val="00188D"/>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N" sz="1400"/>
            </a:p>
          </p:txBody>
        </p:sp>
        <p:sp>
          <p:nvSpPr>
            <p:cNvPr id="105" name="TextBox 104">
              <a:extLst>
                <a:ext uri="{FF2B5EF4-FFF2-40B4-BE49-F238E27FC236}">
                  <a16:creationId xmlns:a16="http://schemas.microsoft.com/office/drawing/2014/main" id="{DA8149C0-6BAD-438D-AE53-36AFDB31CAEF}"/>
                </a:ext>
              </a:extLst>
            </p:cNvPr>
            <p:cNvSpPr txBox="1"/>
            <p:nvPr/>
          </p:nvSpPr>
          <p:spPr>
            <a:xfrm>
              <a:off x="4620152" y="5886016"/>
              <a:ext cx="1912669" cy="276999"/>
            </a:xfrm>
            <a:prstGeom prst="rect">
              <a:avLst/>
            </a:prstGeom>
            <a:noFill/>
          </p:spPr>
          <p:txBody>
            <a:bodyPr wrap="square" rtlCol="0" anchor="ctr">
              <a:noAutofit/>
            </a:bodyPr>
            <a:lstStyle/>
            <a:p>
              <a:pPr algn="ctr"/>
              <a:r>
                <a:rPr lang="en-US" sz="1176">
                  <a:latin typeface="+mj-lt"/>
                  <a:cs typeface="Segoe UI" panose="020B0502040204020203" pitchFamily="34" charset="0"/>
                </a:rPr>
                <a:t>Contributor</a:t>
              </a:r>
            </a:p>
          </p:txBody>
        </p:sp>
        <p:sp>
          <p:nvSpPr>
            <p:cNvPr id="104" name="Rectangle: Rounded Corners 40">
              <a:extLst>
                <a:ext uri="{FF2B5EF4-FFF2-40B4-BE49-F238E27FC236}">
                  <a16:creationId xmlns:a16="http://schemas.microsoft.com/office/drawing/2014/main" id="{934B7253-E6CD-4712-8AB5-BD2B14516DFA}"/>
                </a:ext>
              </a:extLst>
            </p:cNvPr>
            <p:cNvSpPr/>
            <p:nvPr/>
          </p:nvSpPr>
          <p:spPr>
            <a:xfrm>
              <a:off x="4621952" y="4169480"/>
              <a:ext cx="1909069" cy="1733236"/>
            </a:xfrm>
            <a:prstGeom prst="roundRect">
              <a:avLst>
                <a:gd name="adj" fmla="val 0"/>
              </a:avLst>
            </a:prstGeom>
            <a:solidFill>
              <a:schemeClr val="bg1"/>
            </a:solidFill>
            <a:ln w="19050">
              <a:solidFill>
                <a:srgbClr val="00188E"/>
              </a:solidFill>
            </a:ln>
          </p:spPr>
          <p:style>
            <a:lnRef idx="2">
              <a:schemeClr val="dk1"/>
            </a:lnRef>
            <a:fillRef idx="1">
              <a:schemeClr val="lt1"/>
            </a:fillRef>
            <a:effectRef idx="0">
              <a:schemeClr val="dk1"/>
            </a:effectRef>
            <a:fontRef idx="minor">
              <a:schemeClr val="dk1"/>
            </a:fontRef>
          </p:style>
          <p:txBody>
            <a:bodyPr rIns="0" rtlCol="0" anchor="ctr">
              <a:noAutofit/>
            </a:bodyPr>
            <a:lstStyle/>
            <a:p>
              <a:r>
                <a:rPr lang="en-US" sz="1372">
                  <a:latin typeface="Consolas" panose="020B0609020204030204" pitchFamily="49" charset="0"/>
                </a:rPr>
                <a:t>"Actions": [</a:t>
              </a:r>
            </a:p>
            <a:p>
              <a:r>
                <a:rPr lang="en-US" sz="1372">
                  <a:latin typeface="Consolas" panose="020B0609020204030204" pitchFamily="49" charset="0"/>
                </a:rPr>
                <a:t> "*"</a:t>
              </a:r>
            </a:p>
            <a:p>
              <a:r>
                <a:rPr lang="en-US" sz="1372">
                  <a:latin typeface="Consolas" panose="020B0609020204030204" pitchFamily="49" charset="0"/>
                </a:rPr>
                <a:t>],</a:t>
              </a:r>
            </a:p>
            <a:p>
              <a:r>
                <a:rPr lang="en-US" sz="1372">
                  <a:latin typeface="Consolas" panose="020B0609020204030204" pitchFamily="49" charset="0"/>
                </a:rPr>
                <a:t>"</a:t>
              </a:r>
              <a:r>
                <a:rPr lang="en-US" sz="1372" err="1">
                  <a:latin typeface="Consolas" panose="020B0609020204030204" pitchFamily="49" charset="0"/>
                </a:rPr>
                <a:t>NotActions</a:t>
              </a:r>
              <a:r>
                <a:rPr lang="en-US" sz="1372">
                  <a:latin typeface="Consolas" panose="020B0609020204030204" pitchFamily="49" charset="0"/>
                </a:rPr>
                <a:t>": [</a:t>
              </a:r>
            </a:p>
            <a:p>
              <a:r>
                <a:rPr lang="en-US" sz="1372">
                  <a:latin typeface="Consolas" panose="020B0609020204030204" pitchFamily="49" charset="0"/>
                </a:rPr>
                <a:t> "Auth/*/Delete",</a:t>
              </a:r>
            </a:p>
            <a:p>
              <a:r>
                <a:rPr lang="en-US" sz="1372">
                  <a:latin typeface="Consolas" panose="020B0609020204030204" pitchFamily="49" charset="0"/>
                </a:rPr>
                <a:t> "Auth/*/Write",</a:t>
              </a:r>
            </a:p>
            <a:p>
              <a:r>
                <a:rPr lang="en-US" sz="1372">
                  <a:latin typeface="Consolas" panose="020B0609020204030204" pitchFamily="49" charset="0"/>
                </a:rPr>
                <a:t> "Auth/elevate"</a:t>
              </a:r>
            </a:p>
            <a:p>
              <a:r>
                <a:rPr lang="en-US" sz="1372">
                  <a:latin typeface="Consolas" panose="020B0609020204030204" pitchFamily="49" charset="0"/>
                </a:rPr>
                <a:t>]</a:t>
              </a:r>
            </a:p>
          </p:txBody>
        </p:sp>
        <p:pic>
          <p:nvPicPr>
            <p:cNvPr id="132" name="Picture 131">
              <a:extLst>
                <a:ext uri="{FF2B5EF4-FFF2-40B4-BE49-F238E27FC236}">
                  <a16:creationId xmlns:a16="http://schemas.microsoft.com/office/drawing/2014/main" id="{61DDEE83-33AD-474C-ADB2-1AC28BE59AE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19579" y="4185004"/>
              <a:ext cx="557784" cy="402336"/>
            </a:xfrm>
            <a:prstGeom prst="rect">
              <a:avLst/>
            </a:prstGeom>
          </p:spPr>
        </p:pic>
        <p:sp>
          <p:nvSpPr>
            <p:cNvPr id="107" name="TextBox 106">
              <a:extLst>
                <a:ext uri="{FF2B5EF4-FFF2-40B4-BE49-F238E27FC236}">
                  <a16:creationId xmlns:a16="http://schemas.microsoft.com/office/drawing/2014/main" id="{DE345456-211B-4487-A27F-D3F84BC50764}"/>
                </a:ext>
              </a:extLst>
            </p:cNvPr>
            <p:cNvSpPr txBox="1"/>
            <p:nvPr/>
          </p:nvSpPr>
          <p:spPr>
            <a:xfrm>
              <a:off x="6512133" y="4598009"/>
              <a:ext cx="1460325" cy="276999"/>
            </a:xfrm>
            <a:prstGeom prst="rect">
              <a:avLst/>
            </a:prstGeom>
            <a:noFill/>
          </p:spPr>
          <p:txBody>
            <a:bodyPr wrap="square" rtlCol="0" anchor="ctr">
              <a:noAutofit/>
            </a:bodyPr>
            <a:lstStyle/>
            <a:p>
              <a:pPr algn="ctr"/>
              <a:r>
                <a:rPr lang="en-US" sz="1176">
                  <a:latin typeface="+mj-lt"/>
                  <a:cs typeface="Segoe UI" panose="020B0502040204020203" pitchFamily="34" charset="0"/>
                </a:rPr>
                <a:t>Marketing group</a:t>
              </a:r>
            </a:p>
          </p:txBody>
        </p:sp>
        <p:pic>
          <p:nvPicPr>
            <p:cNvPr id="130" name="Graphic 129">
              <a:extLst>
                <a:ext uri="{FF2B5EF4-FFF2-40B4-BE49-F238E27FC236}">
                  <a16:creationId xmlns:a16="http://schemas.microsoft.com/office/drawing/2014/main" id="{C2A34A70-3BDF-4C14-8DB2-59CC80AF625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49458" y="4954565"/>
              <a:ext cx="566295" cy="566295"/>
            </a:xfrm>
            <a:prstGeom prst="rect">
              <a:avLst/>
            </a:prstGeom>
          </p:spPr>
        </p:pic>
        <p:sp>
          <p:nvSpPr>
            <p:cNvPr id="106" name="TextBox 105">
              <a:extLst>
                <a:ext uri="{FF2B5EF4-FFF2-40B4-BE49-F238E27FC236}">
                  <a16:creationId xmlns:a16="http://schemas.microsoft.com/office/drawing/2014/main" id="{952F4380-1B8B-4444-9B65-7BD65040AE2C}"/>
                </a:ext>
              </a:extLst>
            </p:cNvPr>
            <p:cNvSpPr txBox="1"/>
            <p:nvPr/>
          </p:nvSpPr>
          <p:spPr>
            <a:xfrm>
              <a:off x="6440608" y="5520860"/>
              <a:ext cx="1575665" cy="461665"/>
            </a:xfrm>
            <a:prstGeom prst="rect">
              <a:avLst/>
            </a:prstGeom>
            <a:noFill/>
          </p:spPr>
          <p:txBody>
            <a:bodyPr wrap="square" rtlCol="0" anchor="ctr">
              <a:noAutofit/>
            </a:bodyPr>
            <a:lstStyle/>
            <a:p>
              <a:pPr algn="ctr"/>
              <a:r>
                <a:rPr lang="en-US" sz="1176">
                  <a:latin typeface="+mj-lt"/>
                  <a:cs typeface="Segoe UI" panose="020B0502040204020203" pitchFamily="34" charset="0"/>
                </a:rPr>
                <a:t>Pharma-sales</a:t>
              </a:r>
              <a:br>
                <a:rPr lang="en-US" sz="1176">
                  <a:latin typeface="Segoe UI" panose="020B0502040204020203" pitchFamily="34" charset="0"/>
                  <a:cs typeface="Segoe UI" panose="020B0502040204020203" pitchFamily="34" charset="0"/>
                </a:rPr>
              </a:br>
              <a:r>
                <a:rPr lang="en-US" sz="1176">
                  <a:cs typeface="Segoe UI" panose="020B0502040204020203" pitchFamily="34" charset="0"/>
                </a:rPr>
                <a:t>Resource group</a:t>
              </a:r>
            </a:p>
          </p:txBody>
        </p:sp>
        <p:sp>
          <p:nvSpPr>
            <p:cNvPr id="99" name="Oval 98">
              <a:extLst>
                <a:ext uri="{FF2B5EF4-FFF2-40B4-BE49-F238E27FC236}">
                  <a16:creationId xmlns:a16="http://schemas.microsoft.com/office/drawing/2014/main" id="{2DB50D1F-E982-4C67-AE35-21F5749EBBDA}"/>
                </a:ext>
              </a:extLst>
            </p:cNvPr>
            <p:cNvSpPr/>
            <p:nvPr/>
          </p:nvSpPr>
          <p:spPr>
            <a:xfrm>
              <a:off x="541613" y="3711071"/>
              <a:ext cx="365760" cy="3657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IN" sz="1568">
                  <a:solidFill>
                    <a:schemeClr val="bg1"/>
                  </a:solidFill>
                  <a:latin typeface="+mj-lt"/>
                </a:rPr>
                <a:t>2</a:t>
              </a:r>
            </a:p>
          </p:txBody>
        </p:sp>
        <p:sp>
          <p:nvSpPr>
            <p:cNvPr id="98" name="Rectangle 97">
              <a:extLst>
                <a:ext uri="{FF2B5EF4-FFF2-40B4-BE49-F238E27FC236}">
                  <a16:creationId xmlns:a16="http://schemas.microsoft.com/office/drawing/2014/main" id="{A5C03AC1-77C7-4100-B70E-E2C0ED40AB30}"/>
                </a:ext>
              </a:extLst>
            </p:cNvPr>
            <p:cNvSpPr/>
            <p:nvPr/>
          </p:nvSpPr>
          <p:spPr>
            <a:xfrm>
              <a:off x="936287" y="3764785"/>
              <a:ext cx="3013598" cy="323635"/>
            </a:xfrm>
            <a:prstGeom prst="rect">
              <a:avLst/>
            </a:prstGeom>
            <a:solidFill>
              <a:schemeClr val="accent2">
                <a:lumMod val="75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372">
                  <a:solidFill>
                    <a:schemeClr val="bg1"/>
                  </a:solidFill>
                  <a:latin typeface="+mj-lt"/>
                </a:rPr>
                <a:t>Role definition</a:t>
              </a:r>
            </a:p>
          </p:txBody>
        </p:sp>
        <p:sp>
          <p:nvSpPr>
            <p:cNvPr id="94" name="Rectangle: Rounded Corners 12">
              <a:extLst>
                <a:ext uri="{FF2B5EF4-FFF2-40B4-BE49-F238E27FC236}">
                  <a16:creationId xmlns:a16="http://schemas.microsoft.com/office/drawing/2014/main" id="{8983F707-3348-4369-9330-C00A3BCAF2BD}"/>
                </a:ext>
                <a:ext uri="{C183D7F6-B498-43B3-948B-1728B52AA6E4}">
                  <adec:decorative xmlns:adec="http://schemas.microsoft.com/office/drawing/2017/decorative" val="1"/>
                </a:ext>
              </a:extLst>
            </p:cNvPr>
            <p:cNvSpPr/>
            <p:nvPr/>
          </p:nvSpPr>
          <p:spPr>
            <a:xfrm>
              <a:off x="929260" y="4088420"/>
              <a:ext cx="3020626" cy="2204460"/>
            </a:xfrm>
            <a:prstGeom prst="roundRect">
              <a:avLst>
                <a:gd name="adj" fmla="val 0"/>
              </a:avLst>
            </a:prstGeom>
            <a:solidFill>
              <a:srgbClr val="E6E6E6"/>
            </a:solidFill>
            <a:ln w="19050">
              <a:solidFill>
                <a:schemeClr val="accent2">
                  <a:lumMod val="75000"/>
                </a:schemeClr>
              </a:solidFill>
              <a:prstDash val="dash"/>
            </a:ln>
          </p:spPr>
          <p:style>
            <a:lnRef idx="2">
              <a:schemeClr val="dk1"/>
            </a:lnRef>
            <a:fillRef idx="1">
              <a:schemeClr val="lt1"/>
            </a:fillRef>
            <a:effectRef idx="0">
              <a:schemeClr val="dk1"/>
            </a:effectRef>
            <a:fontRef idx="minor">
              <a:schemeClr val="dk1"/>
            </a:fontRef>
          </p:style>
          <p:txBody>
            <a:bodyPr rtlCol="0" anchor="ctr">
              <a:noAutofit/>
            </a:bodyPr>
            <a:lstStyle/>
            <a:p>
              <a:pPr algn="ctr"/>
              <a:endParaRPr lang="en-US" sz="1500"/>
            </a:p>
          </p:txBody>
        </p:sp>
        <p:sp>
          <p:nvSpPr>
            <p:cNvPr id="96" name="Rectangle: Rounded Corners 37">
              <a:extLst>
                <a:ext uri="{FF2B5EF4-FFF2-40B4-BE49-F238E27FC236}">
                  <a16:creationId xmlns:a16="http://schemas.microsoft.com/office/drawing/2014/main" id="{110FD95F-04C9-41A6-B297-BD404A8CED95}"/>
                </a:ext>
              </a:extLst>
            </p:cNvPr>
            <p:cNvSpPr/>
            <p:nvPr/>
          </p:nvSpPr>
          <p:spPr>
            <a:xfrm>
              <a:off x="1062470" y="4090008"/>
              <a:ext cx="2754205" cy="1678862"/>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372">
                  <a:latin typeface="Consolas" panose="020B0609020204030204" pitchFamily="49" charset="0"/>
                </a:rPr>
                <a:t>Owner</a:t>
              </a:r>
            </a:p>
            <a:p>
              <a:r>
                <a:rPr lang="en-US" sz="1372">
                  <a:latin typeface="Consolas" panose="020B0609020204030204" pitchFamily="49" charset="0"/>
                </a:rPr>
                <a:t>Contributor</a:t>
              </a:r>
            </a:p>
            <a:p>
              <a:r>
                <a:rPr lang="en-US" sz="1372">
                  <a:latin typeface="Consolas" panose="020B0609020204030204" pitchFamily="49" charset="0"/>
                </a:rPr>
                <a:t>Reader</a:t>
              </a:r>
            </a:p>
            <a:p>
              <a:r>
                <a:rPr lang="en-US" sz="1372">
                  <a:latin typeface="Consolas" panose="020B0609020204030204" pitchFamily="49" charset="0"/>
                </a:rPr>
                <a:t>…</a:t>
              </a:r>
            </a:p>
            <a:p>
              <a:r>
                <a:rPr lang="en-US" sz="1372">
                  <a:latin typeface="Consolas" panose="020B0609020204030204" pitchFamily="49" charset="0"/>
                </a:rPr>
                <a:t>Backup Operator</a:t>
              </a:r>
            </a:p>
            <a:p>
              <a:r>
                <a:rPr lang="en-US" sz="1372">
                  <a:latin typeface="Consolas" panose="020B0609020204030204" pitchFamily="49" charset="0"/>
                </a:rPr>
                <a:t>Security Reader</a:t>
              </a:r>
            </a:p>
            <a:p>
              <a:r>
                <a:rPr lang="en-US" sz="1372">
                  <a:latin typeface="Consolas" panose="020B0609020204030204" pitchFamily="49" charset="0"/>
                </a:rPr>
                <a:t>Contributor</a:t>
              </a:r>
            </a:p>
          </p:txBody>
        </p:sp>
        <p:sp>
          <p:nvSpPr>
            <p:cNvPr id="97" name="Rectangle: Rounded Corners 38">
              <a:extLst>
                <a:ext uri="{FF2B5EF4-FFF2-40B4-BE49-F238E27FC236}">
                  <a16:creationId xmlns:a16="http://schemas.microsoft.com/office/drawing/2014/main" id="{AE764362-EC39-40A5-AE36-7B6A24BED780}"/>
                </a:ext>
              </a:extLst>
            </p:cNvPr>
            <p:cNvSpPr/>
            <p:nvPr/>
          </p:nvSpPr>
          <p:spPr>
            <a:xfrm>
              <a:off x="1062470" y="5704597"/>
              <a:ext cx="2754204" cy="543293"/>
            </a:xfrm>
            <a:prstGeom prst="roundRect">
              <a:avLst>
                <a:gd name="adj" fmla="val 0"/>
              </a:avLst>
            </a:prstGeom>
            <a:ln w="19050">
              <a:solidFill>
                <a:srgbClr val="00188F"/>
              </a:solidFill>
            </a:ln>
          </p:spPr>
          <p:style>
            <a:lnRef idx="2">
              <a:schemeClr val="dk1"/>
            </a:lnRef>
            <a:fillRef idx="1">
              <a:schemeClr val="lt1"/>
            </a:fillRef>
            <a:effectRef idx="0">
              <a:schemeClr val="dk1"/>
            </a:effectRef>
            <a:fontRef idx="minor">
              <a:schemeClr val="dk1"/>
            </a:fontRef>
          </p:style>
          <p:txBody>
            <a:bodyPr rtlCol="0" anchor="ctr">
              <a:noAutofit/>
            </a:bodyPr>
            <a:lstStyle/>
            <a:p>
              <a:r>
                <a:rPr lang="en-US" sz="1372">
                  <a:latin typeface="Consolas" panose="020B0609020204030204" pitchFamily="49" charset="0"/>
                </a:rPr>
                <a:t>Reader Support Tickets</a:t>
              </a:r>
            </a:p>
            <a:p>
              <a:r>
                <a:rPr lang="en-US" sz="1372">
                  <a:latin typeface="Consolas" panose="020B0609020204030204" pitchFamily="49" charset="0"/>
                </a:rPr>
                <a:t>Virtual Machine Operator</a:t>
              </a:r>
            </a:p>
          </p:txBody>
        </p:sp>
        <p:cxnSp>
          <p:nvCxnSpPr>
            <p:cNvPr id="100" name="Elbow Connector 35" descr="Arrow pointing from Role definition to Role assignment">
              <a:extLst>
                <a:ext uri="{FF2B5EF4-FFF2-40B4-BE49-F238E27FC236}">
                  <a16:creationId xmlns:a16="http://schemas.microsoft.com/office/drawing/2014/main" id="{6B8D0D0B-F843-477D-A1FC-1688597B5A29}"/>
                </a:ext>
              </a:extLst>
            </p:cNvPr>
            <p:cNvCxnSpPr>
              <a:cxnSpLocks/>
            </p:cNvCxnSpPr>
            <p:nvPr/>
          </p:nvCxnSpPr>
          <p:spPr>
            <a:xfrm flipV="1">
              <a:off x="3949919" y="3917495"/>
              <a:ext cx="553694" cy="1181473"/>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3" name="Elbow Connector 135" descr="Arrow pointing from Scope to Role assignment">
              <a:extLst>
                <a:ext uri="{FF2B5EF4-FFF2-40B4-BE49-F238E27FC236}">
                  <a16:creationId xmlns:a16="http://schemas.microsoft.com/office/drawing/2014/main" id="{B8FC24B7-A770-40F6-86E0-7FF37984B437}"/>
                </a:ext>
              </a:extLst>
            </p:cNvPr>
            <p:cNvCxnSpPr>
              <a:cxnSpLocks/>
              <a:stCxn id="134" idx="1"/>
              <a:endCxn id="102" idx="3"/>
            </p:cNvCxnSpPr>
            <p:nvPr/>
          </p:nvCxnSpPr>
          <p:spPr>
            <a:xfrm rot="10800000">
              <a:off x="7924060" y="3917495"/>
              <a:ext cx="737341" cy="1214200"/>
            </a:xfrm>
            <a:prstGeom prst="bentConnector3">
              <a:avLst>
                <a:gd name="adj1" fmla="val 50000"/>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8F96A447-9056-4895-8A61-E1DAADEAA82F}"/>
                </a:ext>
              </a:extLst>
            </p:cNvPr>
            <p:cNvSpPr/>
            <p:nvPr/>
          </p:nvSpPr>
          <p:spPr bwMode="auto">
            <a:xfrm>
              <a:off x="8250335" y="3734615"/>
              <a:ext cx="365760" cy="36576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102" fontAlgn="base">
                <a:spcBef>
                  <a:spcPct val="0"/>
                </a:spcBef>
                <a:spcAft>
                  <a:spcPct val="0"/>
                </a:spcAft>
              </a:pPr>
              <a:r>
                <a:rPr lang="en-US" sz="1568">
                  <a:solidFill>
                    <a:schemeClr val="bg1"/>
                  </a:solidFill>
                  <a:latin typeface="+mj-lt"/>
                  <a:ea typeface="Segoe UI" pitchFamily="34" charset="0"/>
                  <a:cs typeface="Segoe UI" pitchFamily="34" charset="0"/>
                </a:rPr>
                <a:t>3</a:t>
              </a:r>
              <a:endParaRPr lang="en-IN" sz="1568">
                <a:solidFill>
                  <a:schemeClr val="bg1"/>
                </a:solidFill>
                <a:latin typeface="+mj-lt"/>
                <a:ea typeface="Segoe UI" pitchFamily="34" charset="0"/>
                <a:cs typeface="Segoe UI" pitchFamily="34" charset="0"/>
              </a:endParaRPr>
            </a:p>
          </p:txBody>
        </p:sp>
        <p:sp>
          <p:nvSpPr>
            <p:cNvPr id="135" name="Rectangle 134">
              <a:extLst>
                <a:ext uri="{FF2B5EF4-FFF2-40B4-BE49-F238E27FC236}">
                  <a16:creationId xmlns:a16="http://schemas.microsoft.com/office/drawing/2014/main" id="{F43C9451-7A7E-4A9D-801F-B9EF169032C9}"/>
                </a:ext>
              </a:extLst>
            </p:cNvPr>
            <p:cNvSpPr/>
            <p:nvPr/>
          </p:nvSpPr>
          <p:spPr bwMode="auto">
            <a:xfrm>
              <a:off x="8661400" y="3764132"/>
              <a:ext cx="3159602" cy="338328"/>
            </a:xfrm>
            <a:prstGeom prst="rect">
              <a:avLst/>
            </a:prstGeom>
            <a:solidFill>
              <a:schemeClr val="accent2">
                <a:lumMod val="75000"/>
              </a:schemeClr>
            </a:solidFill>
            <a:ln w="190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t" anchorCtr="0" forceAA="0" compatLnSpc="1">
              <a:prstTxWarp prst="textNoShape">
                <a:avLst/>
              </a:prstTxWarp>
              <a:noAutofit/>
            </a:bodyPr>
            <a:lstStyle/>
            <a:p>
              <a:pPr algn="ctr" fontAlgn="base">
                <a:spcBef>
                  <a:spcPct val="0"/>
                </a:spcBef>
                <a:spcAft>
                  <a:spcPct val="0"/>
                </a:spcAft>
              </a:pPr>
              <a:r>
                <a:rPr lang="en-US" sz="1372">
                  <a:solidFill>
                    <a:schemeClr val="bg1"/>
                  </a:solidFill>
                  <a:latin typeface="+mj-lt"/>
                </a:rPr>
                <a:t>Scope</a:t>
              </a:r>
              <a:endParaRPr lang="en-IN" sz="1372">
                <a:solidFill>
                  <a:schemeClr val="bg1"/>
                </a:solidFill>
                <a:latin typeface="+mj-lt"/>
              </a:endParaRPr>
            </a:p>
          </p:txBody>
        </p:sp>
        <p:sp>
          <p:nvSpPr>
            <p:cNvPr id="134" name="Rectangle 133">
              <a:extLst>
                <a:ext uri="{FF2B5EF4-FFF2-40B4-BE49-F238E27FC236}">
                  <a16:creationId xmlns:a16="http://schemas.microsoft.com/office/drawing/2014/main" id="{FD59FDFA-7A22-4AB4-A78E-19C25DF1F242}"/>
                </a:ext>
                <a:ext uri="{C183D7F6-B498-43B3-948B-1728B52AA6E4}">
                  <adec:decorative xmlns:adec="http://schemas.microsoft.com/office/drawing/2017/decorative" val="1"/>
                </a:ext>
              </a:extLst>
            </p:cNvPr>
            <p:cNvSpPr/>
            <p:nvPr/>
          </p:nvSpPr>
          <p:spPr bwMode="auto">
            <a:xfrm>
              <a:off x="8661400" y="4100375"/>
              <a:ext cx="3159602" cy="2062640"/>
            </a:xfrm>
            <a:prstGeom prst="rect">
              <a:avLst/>
            </a:prstGeom>
            <a:solidFill>
              <a:schemeClr val="accent1"/>
            </a:solidFill>
            <a:ln w="19050">
              <a:solidFill>
                <a:schemeClr val="accent2">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pic>
          <p:nvPicPr>
            <p:cNvPr id="149" name="Graphic 148">
              <a:extLst>
                <a:ext uri="{FF2B5EF4-FFF2-40B4-BE49-F238E27FC236}">
                  <a16:creationId xmlns:a16="http://schemas.microsoft.com/office/drawing/2014/main" id="{0707B692-990A-4471-8843-B417AC1EE58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10894" y="4136498"/>
              <a:ext cx="431354" cy="431355"/>
            </a:xfrm>
            <a:prstGeom prst="rect">
              <a:avLst/>
            </a:prstGeom>
          </p:spPr>
        </p:pic>
        <p:sp>
          <p:nvSpPr>
            <p:cNvPr id="137" name="TextBox 136">
              <a:extLst>
                <a:ext uri="{FF2B5EF4-FFF2-40B4-BE49-F238E27FC236}">
                  <a16:creationId xmlns:a16="http://schemas.microsoft.com/office/drawing/2014/main" id="{87A173A4-B79F-4E1A-8E79-378963E9F2C6}"/>
                </a:ext>
              </a:extLst>
            </p:cNvPr>
            <p:cNvSpPr txBox="1"/>
            <p:nvPr/>
          </p:nvSpPr>
          <p:spPr>
            <a:xfrm>
              <a:off x="9365332" y="4237502"/>
              <a:ext cx="1460325" cy="184666"/>
            </a:xfrm>
            <a:prstGeom prst="rect">
              <a:avLst/>
            </a:prstGeom>
            <a:noFill/>
          </p:spPr>
          <p:txBody>
            <a:bodyPr wrap="square" lIns="0" tIns="0" rIns="0" bIns="0" rtlCol="0" anchor="ctr">
              <a:noAutofit/>
            </a:bodyPr>
            <a:lstStyle/>
            <a:p>
              <a:pPr algn="ctr"/>
              <a:r>
                <a:rPr lang="en-US" sz="1176">
                  <a:latin typeface="+mj-lt"/>
                  <a:cs typeface="Segoe UI" panose="020B0502040204020203" pitchFamily="34" charset="0"/>
                </a:rPr>
                <a:t>Management group</a:t>
              </a:r>
            </a:p>
          </p:txBody>
        </p:sp>
        <p:sp>
          <p:nvSpPr>
            <p:cNvPr id="147" name="Rectangle 12" descr="Arrow pointing down">
              <a:extLst>
                <a:ext uri="{FF2B5EF4-FFF2-40B4-BE49-F238E27FC236}">
                  <a16:creationId xmlns:a16="http://schemas.microsoft.com/office/drawing/2014/main" id="{D0E8BB80-9188-4344-B35D-6EE9AE82D72C}"/>
                </a:ext>
              </a:extLst>
            </p:cNvPr>
            <p:cNvSpPr/>
            <p:nvPr/>
          </p:nvSpPr>
          <p:spPr bwMode="auto">
            <a:xfrm>
              <a:off x="9026572" y="4538179"/>
              <a:ext cx="362099" cy="203060"/>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pic>
          <p:nvPicPr>
            <p:cNvPr id="150" name="Picture 149">
              <a:extLst>
                <a:ext uri="{FF2B5EF4-FFF2-40B4-BE49-F238E27FC236}">
                  <a16:creationId xmlns:a16="http://schemas.microsoft.com/office/drawing/2014/main" id="{166A8B6F-1D2D-49ED-9128-7A3FCE5C0B12}"/>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431254" y="4668156"/>
              <a:ext cx="269974" cy="269974"/>
            </a:xfrm>
            <a:prstGeom prst="rect">
              <a:avLst/>
            </a:prstGeom>
          </p:spPr>
        </p:pic>
        <p:sp>
          <p:nvSpPr>
            <p:cNvPr id="138" name="TextBox 137">
              <a:extLst>
                <a:ext uri="{FF2B5EF4-FFF2-40B4-BE49-F238E27FC236}">
                  <a16:creationId xmlns:a16="http://schemas.microsoft.com/office/drawing/2014/main" id="{1E5E4F08-8468-4FFA-AF63-9FAE62CB3784}"/>
                </a:ext>
              </a:extLst>
            </p:cNvPr>
            <p:cNvSpPr txBox="1"/>
            <p:nvPr/>
          </p:nvSpPr>
          <p:spPr>
            <a:xfrm>
              <a:off x="9701228" y="4668156"/>
              <a:ext cx="962935" cy="184666"/>
            </a:xfrm>
            <a:prstGeom prst="rect">
              <a:avLst/>
            </a:prstGeom>
            <a:noFill/>
          </p:spPr>
          <p:txBody>
            <a:bodyPr wrap="square" lIns="0" tIns="0" rIns="0" bIns="0" rtlCol="0" anchor="ctr">
              <a:noAutofit/>
            </a:bodyPr>
            <a:lstStyle/>
            <a:p>
              <a:pPr algn="ctr"/>
              <a:r>
                <a:rPr lang="en-US" sz="1176">
                  <a:latin typeface="+mj-lt"/>
                  <a:cs typeface="Segoe UI" panose="020B0502040204020203" pitchFamily="34" charset="0"/>
                </a:rPr>
                <a:t>Subscription</a:t>
              </a:r>
            </a:p>
          </p:txBody>
        </p:sp>
        <p:sp>
          <p:nvSpPr>
            <p:cNvPr id="146" name="Rectangle 12" descr="Arrow pointing down">
              <a:extLst>
                <a:ext uri="{FF2B5EF4-FFF2-40B4-BE49-F238E27FC236}">
                  <a16:creationId xmlns:a16="http://schemas.microsoft.com/office/drawing/2014/main" id="{F19505B9-35AC-4D8F-8DBF-E89444D3BD25}"/>
                </a:ext>
              </a:extLst>
            </p:cNvPr>
            <p:cNvSpPr/>
            <p:nvPr/>
          </p:nvSpPr>
          <p:spPr bwMode="auto">
            <a:xfrm>
              <a:off x="9523703" y="5028793"/>
              <a:ext cx="200718" cy="232292"/>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pic>
          <p:nvPicPr>
            <p:cNvPr id="141" name="Graphic 140">
              <a:extLst>
                <a:ext uri="{FF2B5EF4-FFF2-40B4-BE49-F238E27FC236}">
                  <a16:creationId xmlns:a16="http://schemas.microsoft.com/office/drawing/2014/main" id="{57EE7D0B-A727-4FF0-B09C-B0BE3947B3F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5071" y="5028793"/>
              <a:ext cx="362099" cy="362099"/>
            </a:xfrm>
            <a:prstGeom prst="rect">
              <a:avLst/>
            </a:prstGeom>
          </p:spPr>
        </p:pic>
        <p:sp>
          <p:nvSpPr>
            <p:cNvPr id="139" name="TextBox 138">
              <a:extLst>
                <a:ext uri="{FF2B5EF4-FFF2-40B4-BE49-F238E27FC236}">
                  <a16:creationId xmlns:a16="http://schemas.microsoft.com/office/drawing/2014/main" id="{F5D2F368-7140-4F8D-95B4-92463777211F}"/>
                </a:ext>
              </a:extLst>
            </p:cNvPr>
            <p:cNvSpPr txBox="1"/>
            <p:nvPr/>
          </p:nvSpPr>
          <p:spPr>
            <a:xfrm>
              <a:off x="10187820" y="5098810"/>
              <a:ext cx="1157063" cy="184666"/>
            </a:xfrm>
            <a:prstGeom prst="rect">
              <a:avLst/>
            </a:prstGeom>
            <a:noFill/>
          </p:spPr>
          <p:txBody>
            <a:bodyPr wrap="square" lIns="0" tIns="0" rIns="0" bIns="0" rtlCol="0" anchor="ctr">
              <a:noAutofit/>
            </a:bodyPr>
            <a:lstStyle/>
            <a:p>
              <a:pPr algn="ctr"/>
              <a:r>
                <a:rPr lang="en-US" sz="1176">
                  <a:latin typeface="+mj-lt"/>
                  <a:cs typeface="Segoe UI" panose="020B0502040204020203" pitchFamily="34" charset="0"/>
                </a:rPr>
                <a:t>Resource group</a:t>
              </a:r>
            </a:p>
          </p:txBody>
        </p:sp>
        <p:sp>
          <p:nvSpPr>
            <p:cNvPr id="145" name="Rectangle 12" descr="Arrow pointing down">
              <a:extLst>
                <a:ext uri="{FF2B5EF4-FFF2-40B4-BE49-F238E27FC236}">
                  <a16:creationId xmlns:a16="http://schemas.microsoft.com/office/drawing/2014/main" id="{CC57C69F-E19B-4050-9CA4-3A29D0AF3548}"/>
                </a:ext>
              </a:extLst>
            </p:cNvPr>
            <p:cNvSpPr/>
            <p:nvPr/>
          </p:nvSpPr>
          <p:spPr bwMode="auto">
            <a:xfrm>
              <a:off x="9950423" y="5413997"/>
              <a:ext cx="261769" cy="309196"/>
            </a:xfrm>
            <a:custGeom>
              <a:avLst/>
              <a:gdLst>
                <a:gd name="connsiteX0" fmla="*/ 0 w 1310640"/>
                <a:gd name="connsiteY0" fmla="*/ 0 h 1205017"/>
                <a:gd name="connsiteX1" fmla="*/ 1310640 w 1310640"/>
                <a:gd name="connsiteY1" fmla="*/ 0 h 1205017"/>
                <a:gd name="connsiteX2" fmla="*/ 1310640 w 1310640"/>
                <a:gd name="connsiteY2" fmla="*/ 1205017 h 1205017"/>
                <a:gd name="connsiteX3" fmla="*/ 0 w 1310640"/>
                <a:gd name="connsiteY3" fmla="*/ 1205017 h 1205017"/>
                <a:gd name="connsiteX4" fmla="*/ 0 w 1310640"/>
                <a:gd name="connsiteY4" fmla="*/ 0 h 1205017"/>
                <a:gd name="connsiteX0" fmla="*/ 1310640 w 1402080"/>
                <a:gd name="connsiteY0" fmla="*/ 0 h 1205017"/>
                <a:gd name="connsiteX1" fmla="*/ 1310640 w 1402080"/>
                <a:gd name="connsiteY1" fmla="*/ 1205017 h 1205017"/>
                <a:gd name="connsiteX2" fmla="*/ 0 w 1402080"/>
                <a:gd name="connsiteY2" fmla="*/ 1205017 h 1205017"/>
                <a:gd name="connsiteX3" fmla="*/ 0 w 1402080"/>
                <a:gd name="connsiteY3" fmla="*/ 0 h 1205017"/>
                <a:gd name="connsiteX4" fmla="*/ 1402080 w 1402080"/>
                <a:gd name="connsiteY4" fmla="*/ 91440 h 1205017"/>
                <a:gd name="connsiteX0" fmla="*/ 1310640 w 1310640"/>
                <a:gd name="connsiteY0" fmla="*/ 0 h 1205017"/>
                <a:gd name="connsiteX1" fmla="*/ 1310640 w 1310640"/>
                <a:gd name="connsiteY1" fmla="*/ 1205017 h 1205017"/>
                <a:gd name="connsiteX2" fmla="*/ 0 w 1310640"/>
                <a:gd name="connsiteY2" fmla="*/ 1205017 h 1205017"/>
                <a:gd name="connsiteX3" fmla="*/ 0 w 1310640"/>
                <a:gd name="connsiteY3" fmla="*/ 0 h 1205017"/>
                <a:gd name="connsiteX0" fmla="*/ 1310640 w 1310640"/>
                <a:gd name="connsiteY0" fmla="*/ 1205017 h 1205017"/>
                <a:gd name="connsiteX1" fmla="*/ 0 w 1310640"/>
                <a:gd name="connsiteY1" fmla="*/ 1205017 h 1205017"/>
                <a:gd name="connsiteX2" fmla="*/ 0 w 1310640"/>
                <a:gd name="connsiteY2" fmla="*/ 0 h 1205017"/>
              </a:gdLst>
              <a:ahLst/>
              <a:cxnLst>
                <a:cxn ang="0">
                  <a:pos x="connsiteX0" y="connsiteY0"/>
                </a:cxn>
                <a:cxn ang="0">
                  <a:pos x="connsiteX1" y="connsiteY1"/>
                </a:cxn>
                <a:cxn ang="0">
                  <a:pos x="connsiteX2" y="connsiteY2"/>
                </a:cxn>
              </a:cxnLst>
              <a:rect l="l" t="t" r="r" b="b"/>
              <a:pathLst>
                <a:path w="1310640" h="1205017">
                  <a:moveTo>
                    <a:pt x="1310640" y="1205017"/>
                  </a:moveTo>
                  <a:lnTo>
                    <a:pt x="0" y="1205017"/>
                  </a:lnTo>
                  <a:lnTo>
                    <a:pt x="0" y="0"/>
                  </a:lnTo>
                </a:path>
              </a:pathLst>
            </a:cu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ea typeface="Segoe UI" pitchFamily="34" charset="0"/>
                <a:cs typeface="Segoe UI" pitchFamily="34" charset="0"/>
              </a:endParaRPr>
            </a:p>
          </p:txBody>
        </p:sp>
        <p:pic>
          <p:nvPicPr>
            <p:cNvPr id="143" name="Graphic 142">
              <a:extLst>
                <a:ext uri="{FF2B5EF4-FFF2-40B4-BE49-F238E27FC236}">
                  <a16:creationId xmlns:a16="http://schemas.microsoft.com/office/drawing/2014/main" id="{84A83042-7A7C-46E2-9CFB-43B5F04965C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219451" y="5517681"/>
              <a:ext cx="359072" cy="359072"/>
            </a:xfrm>
            <a:prstGeom prst="rect">
              <a:avLst/>
            </a:prstGeom>
          </p:spPr>
        </p:pic>
        <p:pic>
          <p:nvPicPr>
            <p:cNvPr id="142" name="Picture 141">
              <a:extLst>
                <a:ext uri="{FF2B5EF4-FFF2-40B4-BE49-F238E27FC236}">
                  <a16:creationId xmlns:a16="http://schemas.microsoft.com/office/drawing/2014/main" id="{DF8C8ABD-A804-44E8-9735-6682405436CD}"/>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800640" y="5526942"/>
              <a:ext cx="264129" cy="340551"/>
            </a:xfrm>
            <a:prstGeom prst="rect">
              <a:avLst/>
            </a:prstGeom>
          </p:spPr>
        </p:pic>
        <p:pic>
          <p:nvPicPr>
            <p:cNvPr id="144" name="Graphic 143">
              <a:extLst>
                <a:ext uri="{FF2B5EF4-FFF2-40B4-BE49-F238E27FC236}">
                  <a16:creationId xmlns:a16="http://schemas.microsoft.com/office/drawing/2014/main" id="{D32538FE-831A-47D5-B246-0858F1B83B55}"/>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273159" y="5521884"/>
              <a:ext cx="350668" cy="350667"/>
            </a:xfrm>
            <a:prstGeom prst="rect">
              <a:avLst/>
            </a:prstGeom>
          </p:spPr>
        </p:pic>
        <p:sp>
          <p:nvSpPr>
            <p:cNvPr id="140" name="TextBox 139">
              <a:extLst>
                <a:ext uri="{FF2B5EF4-FFF2-40B4-BE49-F238E27FC236}">
                  <a16:creationId xmlns:a16="http://schemas.microsoft.com/office/drawing/2014/main" id="{E7F9572B-22B5-479A-9313-2FDCC30C538D}"/>
                </a:ext>
              </a:extLst>
            </p:cNvPr>
            <p:cNvSpPr txBox="1"/>
            <p:nvPr/>
          </p:nvSpPr>
          <p:spPr>
            <a:xfrm>
              <a:off x="10610631" y="5918910"/>
              <a:ext cx="642812" cy="184666"/>
            </a:xfrm>
            <a:prstGeom prst="rect">
              <a:avLst/>
            </a:prstGeom>
            <a:noFill/>
          </p:spPr>
          <p:txBody>
            <a:bodyPr wrap="square" lIns="0" tIns="0" rIns="0" bIns="0" rtlCol="0" anchor="ctr">
              <a:noAutofit/>
            </a:bodyPr>
            <a:lstStyle/>
            <a:p>
              <a:pPr algn="ctr"/>
              <a:r>
                <a:rPr lang="en-US" sz="1176">
                  <a:latin typeface="+mj-lt"/>
                  <a:cs typeface="Segoe UI" panose="020B0502040204020203" pitchFamily="34" charset="0"/>
                </a:rPr>
                <a:t>Resource</a:t>
              </a:r>
            </a:p>
          </p:txBody>
        </p:sp>
      </p:grpSp>
    </p:spTree>
    <p:extLst>
      <p:ext uri="{BB962C8B-B14F-4D97-AF65-F5344CB8AC3E}">
        <p14:creationId xmlns:p14="http://schemas.microsoft.com/office/powerpoint/2010/main" val="133521484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Table listing Azure RBAC roles vs Azure AD administrator roles. ">
            <a:extLst>
              <a:ext uri="{FF2B5EF4-FFF2-40B4-BE49-F238E27FC236}">
                <a16:creationId xmlns:a16="http://schemas.microsoft.com/office/drawing/2014/main" id="{760FCC8E-6ACC-4060-9B3D-E2933E8D1A04}"/>
              </a:ext>
            </a:extLst>
          </p:cNvPr>
          <p:cNvSpPr>
            <a:spLocks noGrp="1"/>
          </p:cNvSpPr>
          <p:nvPr>
            <p:ph type="title"/>
          </p:nvPr>
        </p:nvSpPr>
        <p:spPr/>
        <p:txBody>
          <a:bodyPr/>
          <a:lstStyle/>
          <a:p>
            <a:r>
              <a:rPr lang="en-US" dirty="0"/>
              <a:t>Compare Azure RBAC Roles to Azure AD Roles</a:t>
            </a:r>
          </a:p>
        </p:txBody>
      </p:sp>
      <p:sp>
        <p:nvSpPr>
          <p:cNvPr id="6" name="Rectangle 5">
            <a:extLst>
              <a:ext uri="{FF2B5EF4-FFF2-40B4-BE49-F238E27FC236}">
                <a16:creationId xmlns:a16="http://schemas.microsoft.com/office/drawing/2014/main" id="{87822141-441A-4768-A6BA-7E9DB289DD4F}"/>
              </a:ext>
            </a:extLst>
          </p:cNvPr>
          <p:cNvSpPr/>
          <p:nvPr/>
        </p:nvSpPr>
        <p:spPr>
          <a:xfrm>
            <a:off x="455995" y="1297321"/>
            <a:ext cx="11354714" cy="392245"/>
          </a:xfrm>
          <a:prstGeom prst="rect">
            <a:avLst/>
          </a:prstGeom>
          <a:noFill/>
          <a:ln>
            <a:noFill/>
          </a:ln>
        </p:spPr>
        <p:txBody>
          <a:bodyPr wrap="square" lIns="0" tIns="0" rIns="0" bIns="0" anchor="ctr">
            <a:noAutofit/>
          </a:bodyPr>
          <a:lstStyle/>
          <a:p>
            <a:r>
              <a:rPr lang="en-US" sz="2353" dirty="0">
                <a:latin typeface="+mj-lt"/>
                <a:cs typeface="Segoe UI Semilight" panose="020B0402040204020203" pitchFamily="34" charset="0"/>
              </a:rPr>
              <a:t>Azure and Azure AD offer two types of roles</a:t>
            </a:r>
          </a:p>
        </p:txBody>
      </p:sp>
      <p:graphicFrame>
        <p:nvGraphicFramePr>
          <p:cNvPr id="4" name="Table 3">
            <a:extLst>
              <a:ext uri="{FF2B5EF4-FFF2-40B4-BE49-F238E27FC236}">
                <a16:creationId xmlns:a16="http://schemas.microsoft.com/office/drawing/2014/main" id="{E5A71BA1-B0D9-406E-91CA-6A8012B55DA5}"/>
              </a:ext>
            </a:extLst>
          </p:cNvPr>
          <p:cNvGraphicFramePr>
            <a:graphicFrameLocks noGrp="1"/>
          </p:cNvGraphicFramePr>
          <p:nvPr/>
        </p:nvGraphicFramePr>
        <p:xfrm>
          <a:off x="421630" y="1903397"/>
          <a:ext cx="11354715" cy="3239082"/>
        </p:xfrm>
        <a:graphic>
          <a:graphicData uri="http://schemas.openxmlformats.org/drawingml/2006/table">
            <a:tbl>
              <a:tblPr firstRow="1" firstCol="1" bandCol="1">
                <a:tableStyleId>{69012ECD-51FC-41F1-AA8D-1B2483CD663E}</a:tableStyleId>
              </a:tblPr>
              <a:tblGrid>
                <a:gridCol w="5442392">
                  <a:extLst>
                    <a:ext uri="{9D8B030D-6E8A-4147-A177-3AD203B41FA5}">
                      <a16:colId xmlns:a16="http://schemas.microsoft.com/office/drawing/2014/main" val="1173267169"/>
                    </a:ext>
                  </a:extLst>
                </a:gridCol>
                <a:gridCol w="5912323">
                  <a:extLst>
                    <a:ext uri="{9D8B030D-6E8A-4147-A177-3AD203B41FA5}">
                      <a16:colId xmlns:a16="http://schemas.microsoft.com/office/drawing/2014/main" val="1081038665"/>
                    </a:ext>
                  </a:extLst>
                </a:gridCol>
              </a:tblGrid>
              <a:tr h="475036">
                <a:tc>
                  <a:txBody>
                    <a:bodyPr/>
                    <a:lstStyle/>
                    <a:p>
                      <a:pPr marL="0" marR="0" algn="ctr" defTabSz="932742" rtl="0" eaLnBrk="1" latinLnBrk="0" hangingPunct="1">
                        <a:lnSpc>
                          <a:spcPct val="107000"/>
                        </a:lnSpc>
                        <a:spcBef>
                          <a:spcPts val="0"/>
                        </a:spcBef>
                        <a:spcAft>
                          <a:spcPts val="0"/>
                        </a:spcAft>
                      </a:pPr>
                      <a:r>
                        <a:rPr lang="en-US" sz="2000" b="0" kern="1200" dirty="0">
                          <a:solidFill>
                            <a:schemeClr val="bg1"/>
                          </a:solidFill>
                          <a:effectLst/>
                          <a:latin typeface="+mj-lt"/>
                          <a:ea typeface="+mn-ea"/>
                          <a:cs typeface="+mn-cs"/>
                        </a:rPr>
                        <a:t>Azure RBAC roles</a:t>
                      </a:r>
                    </a:p>
                  </a:txBody>
                  <a:tcPr marL="89642" marR="89642" marT="44821" marB="44821"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7000"/>
                        </a:lnSpc>
                        <a:spcBef>
                          <a:spcPts val="0"/>
                        </a:spcBef>
                        <a:spcAft>
                          <a:spcPts val="0"/>
                        </a:spcAft>
                      </a:pPr>
                      <a:r>
                        <a:rPr lang="en-US" sz="2000" b="0" dirty="0">
                          <a:solidFill>
                            <a:schemeClr val="bg1"/>
                          </a:solidFill>
                          <a:effectLst/>
                          <a:latin typeface="+mj-lt"/>
                        </a:rPr>
                        <a:t>Azure AD roles</a:t>
                      </a:r>
                      <a:endParaRPr lang="en-US" sz="2000" b="0" dirty="0">
                        <a:solidFill>
                          <a:schemeClr val="bg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177452225"/>
                  </a:ext>
                </a:extLst>
              </a:tr>
              <a:tr h="695682">
                <a:tc>
                  <a:txBody>
                    <a:bodyPr/>
                    <a:lstStyle/>
                    <a:p>
                      <a:pPr marL="0" marR="0">
                        <a:lnSpc>
                          <a:spcPct val="107000"/>
                        </a:lnSpc>
                        <a:spcBef>
                          <a:spcPts val="0"/>
                        </a:spcBef>
                        <a:spcAft>
                          <a:spcPts val="0"/>
                        </a:spcAft>
                      </a:pPr>
                      <a:r>
                        <a:rPr lang="en-US" sz="2000" b="0" dirty="0">
                          <a:solidFill>
                            <a:schemeClr val="tx1"/>
                          </a:solidFill>
                          <a:effectLst/>
                        </a:rPr>
                        <a:t>Manage access to Azure resources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Manage</a:t>
                      </a:r>
                      <a:r>
                        <a:rPr lang="en-US" sz="2000" baseline="0" dirty="0">
                          <a:solidFill>
                            <a:schemeClr val="tx1"/>
                          </a:solidFill>
                          <a:effectLst/>
                        </a:rPr>
                        <a:t> access to Azure AD objects</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70188329"/>
                  </a:ext>
                </a:extLst>
              </a:tr>
              <a:tr h="695682">
                <a:tc>
                  <a:txBody>
                    <a:bodyPr/>
                    <a:lstStyle/>
                    <a:p>
                      <a:pPr marL="0" marR="0">
                        <a:lnSpc>
                          <a:spcPct val="107000"/>
                        </a:lnSpc>
                        <a:spcBef>
                          <a:spcPts val="0"/>
                        </a:spcBef>
                        <a:spcAft>
                          <a:spcPts val="0"/>
                        </a:spcAft>
                      </a:pPr>
                      <a:r>
                        <a:rPr lang="en-US" sz="2000" b="0" dirty="0">
                          <a:solidFill>
                            <a:schemeClr val="tx1"/>
                          </a:solidFill>
                          <a:effectLst/>
                        </a:rPr>
                        <a:t>Scope can be specified at multiple levels</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Scope is at the tenant level</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78053974"/>
                  </a:ext>
                </a:extLst>
              </a:tr>
              <a:tr h="1372682">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the Azure portal, Azure CLI, Azure PowerShell, Azure Resource Manager templates, REST API</a:t>
                      </a:r>
                      <a:endParaRPr lang="en-US" sz="2000" b="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b="0" kern="1200" dirty="0">
                          <a:solidFill>
                            <a:schemeClr val="tx1"/>
                          </a:solidFill>
                          <a:effectLst/>
                        </a:rPr>
                        <a:t>Role information can be accessed in Azure portal, Microsoft 365 admin portal, Microsoft Graph, Azure Active Directory PowerShell for Graph</a:t>
                      </a:r>
                      <a:endParaRPr lang="en-US" sz="2000" dirty="0">
                        <a:solidFill>
                          <a:schemeClr val="tx1"/>
                        </a:solidFill>
                        <a:effectLst/>
                        <a:latin typeface="Segoe UI" panose="020B0502040204020203" pitchFamily="34" charset="0"/>
                        <a:ea typeface="Malgun Gothic" panose="020B0503020000020004" pitchFamily="34" charset="-127"/>
                        <a:cs typeface="Times New Roman" panose="02020603050405020304" pitchFamily="18" charset="0"/>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72606257"/>
                  </a:ext>
                </a:extLst>
              </a:tr>
            </a:tbl>
          </a:graphicData>
        </a:graphic>
      </p:graphicFrame>
      <p:pic>
        <p:nvPicPr>
          <p:cNvPr id="7" name="Picture 6" descr="Tick mark">
            <a:extLst>
              <a:ext uri="{FF2B5EF4-FFF2-40B4-BE49-F238E27FC236}">
                <a16:creationId xmlns:a16="http://schemas.microsoft.com/office/drawing/2014/main" id="{EF2AAD51-06C0-4B7A-A91D-8D94498548C3}"/>
              </a:ext>
            </a:extLst>
          </p:cNvPr>
          <p:cNvPicPr>
            <a:picLocks noChangeAspect="1"/>
          </p:cNvPicPr>
          <p:nvPr/>
        </p:nvPicPr>
        <p:blipFill>
          <a:blip r:embed="rId3"/>
          <a:stretch>
            <a:fillRect/>
          </a:stretch>
        </p:blipFill>
        <p:spPr>
          <a:xfrm>
            <a:off x="418643" y="5254940"/>
            <a:ext cx="770992" cy="765016"/>
          </a:xfrm>
          <a:prstGeom prst="rect">
            <a:avLst/>
          </a:prstGeom>
        </p:spPr>
      </p:pic>
      <p:sp>
        <p:nvSpPr>
          <p:cNvPr id="8" name="Freeform: Shape 7">
            <a:extLst>
              <a:ext uri="{FF2B5EF4-FFF2-40B4-BE49-F238E27FC236}">
                <a16:creationId xmlns:a16="http://schemas.microsoft.com/office/drawing/2014/main" id="{1B60E5EB-07FF-40C5-B7D3-487CAECA4699}"/>
              </a:ext>
            </a:extLst>
          </p:cNvPr>
          <p:cNvSpPr/>
          <p:nvPr/>
        </p:nvSpPr>
        <p:spPr bwMode="auto">
          <a:xfrm>
            <a:off x="0" y="5254941"/>
            <a:ext cx="12192000" cy="767030"/>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37" tIns="143428" rIns="179285" bIns="143428" numCol="1" spcCol="0" rtlCol="0" fromWordArt="0" anchor="ctr" anchorCtr="0" forceAA="0" compatLnSpc="1">
            <a:prstTxWarp prst="textNoShape">
              <a:avLst/>
            </a:prstTxWarp>
            <a:noAutofit/>
          </a:bodyPr>
          <a:lstStyle/>
          <a:p>
            <a:pPr defTabSz="914102" fontAlgn="base">
              <a:spcBef>
                <a:spcPct val="0"/>
              </a:spcBef>
              <a:spcAft>
                <a:spcPct val="0"/>
              </a:spcAft>
            </a:pPr>
            <a:r>
              <a:rPr lang="en-US" sz="1765" dirty="0">
                <a:solidFill>
                  <a:schemeClr val="tx1"/>
                </a:solidFill>
                <a:latin typeface="+mj-lt"/>
                <a:cs typeface="Segoe UI Semibold" panose="020B0702040204020203" pitchFamily="34" charset="0"/>
              </a:rPr>
              <a:t> Classic administrator roles should be avoided if using Azure Resource Manager</a:t>
            </a:r>
          </a:p>
        </p:txBody>
      </p:sp>
    </p:spTree>
    <p:extLst>
      <p:ext uri="{BB962C8B-B14F-4D97-AF65-F5344CB8AC3E}">
        <p14:creationId xmlns:p14="http://schemas.microsoft.com/office/powerpoint/2010/main" val="84102821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E447A-B73D-49ED-917E-B8AF76B34BF8}"/>
              </a:ext>
            </a:extLst>
          </p:cNvPr>
          <p:cNvSpPr>
            <a:spLocks noGrp="1"/>
          </p:cNvSpPr>
          <p:nvPr>
            <p:ph type="title"/>
          </p:nvPr>
        </p:nvSpPr>
        <p:spPr/>
        <p:txBody>
          <a:bodyPr/>
          <a:lstStyle/>
          <a:p>
            <a:r>
              <a:rPr lang="en-US" dirty="0"/>
              <a:t>Apply RBAC Authentication</a:t>
            </a:r>
          </a:p>
        </p:txBody>
      </p:sp>
      <p:sp>
        <p:nvSpPr>
          <p:cNvPr id="56" name="Rectangle 55">
            <a:extLst>
              <a:ext uri="{FF2B5EF4-FFF2-40B4-BE49-F238E27FC236}">
                <a16:creationId xmlns:a16="http://schemas.microsoft.com/office/drawing/2014/main" id="{1AEC3CCA-34D4-45D5-B9C6-965396DAD31F}"/>
              </a:ext>
              <a:ext uri="{C183D7F6-B498-43B3-948B-1728B52AA6E4}">
                <adec:decorative xmlns:adec="http://schemas.microsoft.com/office/drawing/2017/decorative" val="1"/>
              </a:ext>
            </a:extLst>
          </p:cNvPr>
          <p:cNvSpPr/>
          <p:nvPr/>
        </p:nvSpPr>
        <p:spPr bwMode="auto">
          <a:xfrm>
            <a:off x="407749" y="1359197"/>
            <a:ext cx="11354714" cy="4613787"/>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grpSp>
        <p:nvGrpSpPr>
          <p:cNvPr id="4" name="Group 3">
            <a:extLst>
              <a:ext uri="{FF2B5EF4-FFF2-40B4-BE49-F238E27FC236}">
                <a16:creationId xmlns:a16="http://schemas.microsoft.com/office/drawing/2014/main" id="{9632CF40-C5CF-4055-9618-F5FDCFB29131}"/>
              </a:ext>
              <a:ext uri="{C183D7F6-B498-43B3-948B-1728B52AA6E4}">
                <adec:decorative xmlns:adec="http://schemas.microsoft.com/office/drawing/2017/decorative" val="1"/>
              </a:ext>
            </a:extLst>
          </p:cNvPr>
          <p:cNvGrpSpPr/>
          <p:nvPr/>
        </p:nvGrpSpPr>
        <p:grpSpPr>
          <a:xfrm>
            <a:off x="876901" y="1537174"/>
            <a:ext cx="10416411" cy="4257833"/>
            <a:chOff x="908136" y="2020506"/>
            <a:chExt cx="10625282" cy="4343211"/>
          </a:xfrm>
        </p:grpSpPr>
        <p:sp>
          <p:nvSpPr>
            <p:cNvPr id="3" name="Rectangle: Rounded Corners 2">
              <a:extLst>
                <a:ext uri="{FF2B5EF4-FFF2-40B4-BE49-F238E27FC236}">
                  <a16:creationId xmlns:a16="http://schemas.microsoft.com/office/drawing/2014/main" id="{0E454B11-56C8-4DE3-B6A4-DBB4B30870F7}"/>
                </a:ext>
                <a:ext uri="{C183D7F6-B498-43B3-948B-1728B52AA6E4}">
                  <adec:decorative xmlns:adec="http://schemas.microsoft.com/office/drawing/2017/decorative" val="1"/>
                </a:ext>
              </a:extLst>
            </p:cNvPr>
            <p:cNvSpPr/>
            <p:nvPr/>
          </p:nvSpPr>
          <p:spPr bwMode="auto">
            <a:xfrm>
              <a:off x="908136" y="2020506"/>
              <a:ext cx="3705065" cy="1456740"/>
            </a:xfrm>
            <a:prstGeom prst="roundRect">
              <a:avLst>
                <a:gd name="adj" fmla="val 5225"/>
              </a:avLst>
            </a:prstGeom>
            <a:solidFill>
              <a:schemeClr val="bg1">
                <a:lumMod val="95000"/>
              </a:schemeClr>
            </a:solidFill>
            <a:ln w="19050">
              <a:solidFill>
                <a:srgbClr val="107C0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9" tIns="71989" rIns="71989" bIns="71989" numCol="1" spcCol="0" rtlCol="0" fromWordArt="0" anchor="t" anchorCtr="0" forceAA="0" compatLnSpc="1">
              <a:prstTxWarp prst="textNoShape">
                <a:avLst/>
              </a:prstTxWarp>
              <a:noAutofit/>
            </a:bodyPr>
            <a:lstStyle/>
            <a:p>
              <a:pPr defTabSz="932293" fontAlgn="base">
                <a:spcBef>
                  <a:spcPct val="0"/>
                </a:spcBef>
                <a:spcAft>
                  <a:spcPct val="0"/>
                </a:spcAft>
              </a:pPr>
              <a:endParaRPr lang="en-US">
                <a:solidFill>
                  <a:schemeClr val="tx1"/>
                </a:solidFill>
                <a:latin typeface="Consolas" panose="020B0609020204030204" pitchFamily="49" charset="0"/>
              </a:endParaRPr>
            </a:p>
          </p:txBody>
        </p:sp>
        <p:pic>
          <p:nvPicPr>
            <p:cNvPr id="69" name="Picture 68">
              <a:extLst>
                <a:ext uri="{FF2B5EF4-FFF2-40B4-BE49-F238E27FC236}">
                  <a16:creationId xmlns:a16="http://schemas.microsoft.com/office/drawing/2014/main" id="{63987F20-EACD-4B71-B02B-BEA4F3BCD19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5101" y="2150460"/>
              <a:ext cx="298704" cy="373380"/>
            </a:xfrm>
            <a:prstGeom prst="rect">
              <a:avLst/>
            </a:prstGeom>
          </p:spPr>
        </p:pic>
        <p:sp>
          <p:nvSpPr>
            <p:cNvPr id="5" name="TextBox 4">
              <a:extLst>
                <a:ext uri="{FF2B5EF4-FFF2-40B4-BE49-F238E27FC236}">
                  <a16:creationId xmlns:a16="http://schemas.microsoft.com/office/drawing/2014/main" id="{C8FF5495-2CF2-4A01-83A6-B6D8841BB02D}"/>
                </a:ext>
              </a:extLst>
            </p:cNvPr>
            <p:cNvSpPr txBox="1"/>
            <p:nvPr/>
          </p:nvSpPr>
          <p:spPr>
            <a:xfrm>
              <a:off x="1622010" y="2146529"/>
              <a:ext cx="977832" cy="430887"/>
            </a:xfrm>
            <a:prstGeom prst="rect">
              <a:avLst/>
            </a:prstGeom>
            <a:noFill/>
          </p:spPr>
          <p:txBody>
            <a:bodyPr wrap="square" lIns="0" tIns="0" rIns="0" bIns="0" rtlCol="0">
              <a:spAutoFit/>
            </a:bodyPr>
            <a:lstStyle/>
            <a:p>
              <a:pPr algn="l"/>
              <a:r>
                <a:rPr lang="en-IN" sz="1372">
                  <a:latin typeface="+mj-lt"/>
                </a:rPr>
                <a:t>Azure AD</a:t>
              </a:r>
            </a:p>
            <a:p>
              <a:pPr algn="l"/>
              <a:r>
                <a:rPr lang="en-IN" sz="1372">
                  <a:latin typeface="+mj-lt"/>
                </a:rPr>
                <a:t>Admin roles</a:t>
              </a:r>
              <a:endParaRPr lang="en-US" sz="1372">
                <a:latin typeface="+mj-lt"/>
              </a:endParaRPr>
            </a:p>
          </p:txBody>
        </p:sp>
        <p:sp>
          <p:nvSpPr>
            <p:cNvPr id="15" name="TextBox 14">
              <a:extLst>
                <a:ext uri="{FF2B5EF4-FFF2-40B4-BE49-F238E27FC236}">
                  <a16:creationId xmlns:a16="http://schemas.microsoft.com/office/drawing/2014/main" id="{60EED074-6FA4-44E2-B0C5-8DC7E985A314}"/>
                </a:ext>
              </a:extLst>
            </p:cNvPr>
            <p:cNvSpPr txBox="1"/>
            <p:nvPr/>
          </p:nvSpPr>
          <p:spPr>
            <a:xfrm>
              <a:off x="1055631" y="2610643"/>
              <a:ext cx="1787635" cy="846386"/>
            </a:xfrm>
            <a:prstGeom prst="rect">
              <a:avLst/>
            </a:prstGeom>
            <a:noFill/>
          </p:spPr>
          <p:txBody>
            <a:bodyPr wrap="square" lIns="0" tIns="0" rIns="0" bIns="0" rtlCol="0">
              <a:spAutoFit/>
            </a:bodyPr>
            <a:lstStyle/>
            <a:p>
              <a:r>
                <a:rPr lang="en-IN" sz="1078"/>
                <a:t>Global admin</a:t>
              </a:r>
            </a:p>
            <a:p>
              <a:r>
                <a:rPr lang="en-IN" sz="1078"/>
                <a:t>Application admin</a:t>
              </a:r>
            </a:p>
            <a:p>
              <a:r>
                <a:rPr lang="en-IN" sz="1078"/>
                <a:t>Application developer</a:t>
              </a:r>
            </a:p>
            <a:p>
              <a:r>
                <a:rPr lang="en-IN" sz="1078"/>
                <a:t>Billing admin</a:t>
              </a:r>
              <a:br>
                <a:rPr lang="en-IN" sz="1078"/>
              </a:br>
              <a:r>
                <a:rPr lang="en-IN" sz="1078"/>
                <a:t>…</a:t>
              </a:r>
              <a:endParaRPr lang="en-US" sz="1078"/>
            </a:p>
          </p:txBody>
        </p:sp>
        <p:pic>
          <p:nvPicPr>
            <p:cNvPr id="6" name="Graphic 5">
              <a:extLst>
                <a:ext uri="{FF2B5EF4-FFF2-40B4-BE49-F238E27FC236}">
                  <a16:creationId xmlns:a16="http://schemas.microsoft.com/office/drawing/2014/main" id="{927B7572-00EA-4163-B080-B5302438598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01372" y="2207565"/>
              <a:ext cx="462749" cy="462749"/>
            </a:xfrm>
            <a:prstGeom prst="rect">
              <a:avLst/>
            </a:prstGeom>
          </p:spPr>
        </p:pic>
        <p:sp>
          <p:nvSpPr>
            <p:cNvPr id="19" name="TextBox 18">
              <a:extLst>
                <a:ext uri="{FF2B5EF4-FFF2-40B4-BE49-F238E27FC236}">
                  <a16:creationId xmlns:a16="http://schemas.microsoft.com/office/drawing/2014/main" id="{188BB41A-C67E-4AC7-B95C-14A366215A12}"/>
                </a:ext>
              </a:extLst>
            </p:cNvPr>
            <p:cNvSpPr txBox="1"/>
            <p:nvPr/>
          </p:nvSpPr>
          <p:spPr>
            <a:xfrm>
              <a:off x="3167751" y="2225209"/>
              <a:ext cx="1318601" cy="430887"/>
            </a:xfrm>
            <a:prstGeom prst="rect">
              <a:avLst/>
            </a:prstGeom>
            <a:noFill/>
          </p:spPr>
          <p:txBody>
            <a:bodyPr wrap="square" lIns="0" tIns="0" rIns="0" bIns="0" rtlCol="0">
              <a:spAutoFit/>
            </a:bodyPr>
            <a:lstStyle/>
            <a:p>
              <a:pPr algn="l"/>
              <a:r>
                <a:rPr lang="en-IN" sz="1372">
                  <a:latin typeface="+mj-lt"/>
                </a:rPr>
                <a:t>Azure Active</a:t>
              </a:r>
            </a:p>
            <a:p>
              <a:pPr algn="l"/>
              <a:r>
                <a:rPr lang="en-IN" sz="1372">
                  <a:latin typeface="+mj-lt"/>
                </a:rPr>
                <a:t>Directory tenant</a:t>
              </a:r>
              <a:endParaRPr lang="en-US" sz="1372">
                <a:latin typeface="+mj-lt"/>
              </a:endParaRPr>
            </a:p>
          </p:txBody>
        </p:sp>
        <p:cxnSp>
          <p:nvCxnSpPr>
            <p:cNvPr id="2051" name="Connector: Elbow 2050" descr="Line connector pointing down">
              <a:extLst>
                <a:ext uri="{FF2B5EF4-FFF2-40B4-BE49-F238E27FC236}">
                  <a16:creationId xmlns:a16="http://schemas.microsoft.com/office/drawing/2014/main" id="{9F81330D-5626-439F-8F02-6765D011D81F}"/>
                </a:ext>
              </a:extLst>
            </p:cNvPr>
            <p:cNvCxnSpPr>
              <a:cxnSpLocks/>
              <a:stCxn id="6" idx="2"/>
              <a:endCxn id="22" idx="0"/>
            </p:cNvCxnSpPr>
            <p:nvPr/>
          </p:nvCxnSpPr>
          <p:spPr>
            <a:xfrm rot="16200000" flipH="1">
              <a:off x="2487261" y="3015799"/>
              <a:ext cx="995727" cy="304755"/>
            </a:xfrm>
            <a:prstGeom prst="bentConnector3">
              <a:avLst>
                <a:gd name="adj1" fmla="val 50000"/>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2FC8147-18E8-466E-B661-C0D5C3251EAC}"/>
                </a:ext>
              </a:extLst>
            </p:cNvPr>
            <p:cNvSpPr txBox="1"/>
            <p:nvPr/>
          </p:nvSpPr>
          <p:spPr>
            <a:xfrm>
              <a:off x="2880652" y="3666041"/>
              <a:ext cx="513700" cy="219740"/>
            </a:xfrm>
            <a:prstGeom prst="rect">
              <a:avLst/>
            </a:prstGeom>
            <a:noFill/>
          </p:spPr>
          <p:txBody>
            <a:bodyPr wrap="square" lIns="0" tIns="0" rIns="0" bIns="0" rtlCol="0">
              <a:spAutoFit/>
            </a:bodyPr>
            <a:lstStyle/>
            <a:p>
              <a:pPr algn="l"/>
              <a:r>
                <a:rPr lang="en-IN" sz="1400">
                  <a:latin typeface="+mj-lt"/>
                </a:rPr>
                <a:t>Root</a:t>
              </a:r>
              <a:endParaRPr lang="en-US" sz="1400">
                <a:latin typeface="+mj-lt"/>
              </a:endParaRPr>
            </a:p>
          </p:txBody>
        </p:sp>
        <p:cxnSp>
          <p:nvCxnSpPr>
            <p:cNvPr id="68" name="Straight Connector 67">
              <a:extLst>
                <a:ext uri="{FF2B5EF4-FFF2-40B4-BE49-F238E27FC236}">
                  <a16:creationId xmlns:a16="http://schemas.microsoft.com/office/drawing/2014/main" id="{5346BCCB-B3AD-4952-8837-A54CD94CC539}"/>
                </a:ext>
                <a:ext uri="{C183D7F6-B498-43B3-948B-1728B52AA6E4}">
                  <adec:decorative xmlns:adec="http://schemas.microsoft.com/office/drawing/2017/decorative" val="1"/>
                </a:ext>
              </a:extLst>
            </p:cNvPr>
            <p:cNvCxnSpPr>
              <a:cxnSpLocks/>
            </p:cNvCxnSpPr>
            <p:nvPr/>
          </p:nvCxnSpPr>
          <p:spPr>
            <a:xfrm flipH="1">
              <a:off x="2683154" y="3609637"/>
              <a:ext cx="153394" cy="271390"/>
            </a:xfrm>
            <a:prstGeom prst="line">
              <a:avLst/>
            </a:prstGeom>
            <a:ln w="571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descr="Line connector">
              <a:extLst>
                <a:ext uri="{FF2B5EF4-FFF2-40B4-BE49-F238E27FC236}">
                  <a16:creationId xmlns:a16="http://schemas.microsoft.com/office/drawing/2014/main" id="{A7B330A4-665E-4AD7-A8A6-744482E92145}"/>
                </a:ext>
              </a:extLst>
            </p:cNvPr>
            <p:cNvCxnSpPr>
              <a:cxnSpLocks/>
            </p:cNvCxnSpPr>
            <p:nvPr/>
          </p:nvCxnSpPr>
          <p:spPr>
            <a:xfrm flipV="1">
              <a:off x="3394353" y="3725038"/>
              <a:ext cx="1537436"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44FA7C5F-A41E-4497-B8BC-265579ED44E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4386" y="3367632"/>
              <a:ext cx="298704" cy="373380"/>
            </a:xfrm>
            <a:prstGeom prst="rect">
              <a:avLst/>
            </a:prstGeom>
          </p:spPr>
        </p:pic>
        <p:sp>
          <p:nvSpPr>
            <p:cNvPr id="55" name="TextBox 54">
              <a:extLst>
                <a:ext uri="{FF2B5EF4-FFF2-40B4-BE49-F238E27FC236}">
                  <a16:creationId xmlns:a16="http://schemas.microsoft.com/office/drawing/2014/main" id="{4C5B20AA-DB8F-4DA8-96E6-BDA38A07C8A1}"/>
                </a:ext>
              </a:extLst>
            </p:cNvPr>
            <p:cNvSpPr txBox="1"/>
            <p:nvPr/>
          </p:nvSpPr>
          <p:spPr>
            <a:xfrm>
              <a:off x="5538652" y="3186041"/>
              <a:ext cx="1474947" cy="553998"/>
            </a:xfrm>
            <a:prstGeom prst="rect">
              <a:avLst/>
            </a:prstGeom>
            <a:noFill/>
          </p:spPr>
          <p:txBody>
            <a:bodyPr wrap="square" lIns="0" tIns="0" rIns="0" bIns="0" rtlCol="0">
              <a:spAutoFit/>
            </a:bodyPr>
            <a:lstStyle/>
            <a:p>
              <a:pPr algn="l"/>
              <a:r>
                <a:rPr lang="en-IN" sz="1176">
                  <a:latin typeface="+mj-lt"/>
                </a:rPr>
                <a:t>Global admin/User access admin (elevated access)</a:t>
              </a:r>
              <a:endParaRPr lang="en-US" sz="1176">
                <a:latin typeface="+mj-lt"/>
              </a:endParaRPr>
            </a:p>
          </p:txBody>
        </p:sp>
        <p:sp>
          <p:nvSpPr>
            <p:cNvPr id="23" name="Rectangle: Rounded Corners 22">
              <a:extLst>
                <a:ext uri="{FF2B5EF4-FFF2-40B4-BE49-F238E27FC236}">
                  <a16:creationId xmlns:a16="http://schemas.microsoft.com/office/drawing/2014/main" id="{CE3EFFC0-C5C2-43F7-8FCC-3A7F1F342B19}"/>
                </a:ext>
                <a:ext uri="{C183D7F6-B498-43B3-948B-1728B52AA6E4}">
                  <adec:decorative xmlns:adec="http://schemas.microsoft.com/office/drawing/2017/decorative" val="1"/>
                </a:ext>
              </a:extLst>
            </p:cNvPr>
            <p:cNvSpPr/>
            <p:nvPr/>
          </p:nvSpPr>
          <p:spPr bwMode="auto">
            <a:xfrm>
              <a:off x="908136" y="3989685"/>
              <a:ext cx="6430765" cy="1576085"/>
            </a:xfrm>
            <a:prstGeom prst="roundRect">
              <a:avLst>
                <a:gd name="adj" fmla="val 3976"/>
              </a:avLst>
            </a:prstGeom>
            <a:solidFill>
              <a:schemeClr val="bg1">
                <a:lumMod val="95000"/>
              </a:schemeClr>
            </a:solidFill>
            <a:ln w="19050">
              <a:solidFill>
                <a:srgbClr val="0178D4"/>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9" tIns="71989" rIns="71989" bIns="71989" numCol="1" spcCol="0" rtlCol="0" fromWordArt="0" anchor="t" anchorCtr="0" forceAA="0" compatLnSpc="1">
              <a:prstTxWarp prst="textNoShape">
                <a:avLst/>
              </a:prstTxWarp>
              <a:noAutofit/>
            </a:bodyPr>
            <a:lstStyle/>
            <a:p>
              <a:pPr defTabSz="932293" fontAlgn="base">
                <a:spcBef>
                  <a:spcPct val="0"/>
                </a:spcBef>
                <a:spcAft>
                  <a:spcPct val="0"/>
                </a:spcAft>
              </a:pPr>
              <a:endParaRPr lang="en-US">
                <a:solidFill>
                  <a:schemeClr val="tx1"/>
                </a:solidFill>
                <a:latin typeface="Consolas" panose="020B0609020204030204" pitchFamily="49" charset="0"/>
              </a:endParaRPr>
            </a:p>
          </p:txBody>
        </p:sp>
        <p:pic>
          <p:nvPicPr>
            <p:cNvPr id="27" name="Picture 26">
              <a:extLst>
                <a:ext uri="{FF2B5EF4-FFF2-40B4-BE49-F238E27FC236}">
                  <a16:creationId xmlns:a16="http://schemas.microsoft.com/office/drawing/2014/main" id="{79BF043D-9A41-4F2E-9848-59A44C828FAB}"/>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7357" y="4131702"/>
              <a:ext cx="298704" cy="373380"/>
            </a:xfrm>
            <a:prstGeom prst="rect">
              <a:avLst/>
            </a:prstGeom>
          </p:spPr>
        </p:pic>
        <p:sp>
          <p:nvSpPr>
            <p:cNvPr id="26" name="TextBox 25">
              <a:extLst>
                <a:ext uri="{FF2B5EF4-FFF2-40B4-BE49-F238E27FC236}">
                  <a16:creationId xmlns:a16="http://schemas.microsoft.com/office/drawing/2014/main" id="{F9789CC5-48F4-4AE5-A87C-274E4396E03C}"/>
                </a:ext>
              </a:extLst>
            </p:cNvPr>
            <p:cNvSpPr txBox="1"/>
            <p:nvPr/>
          </p:nvSpPr>
          <p:spPr>
            <a:xfrm>
              <a:off x="1674267" y="4158251"/>
              <a:ext cx="968855" cy="430887"/>
            </a:xfrm>
            <a:prstGeom prst="rect">
              <a:avLst/>
            </a:prstGeom>
            <a:noFill/>
          </p:spPr>
          <p:txBody>
            <a:bodyPr wrap="square" lIns="0" tIns="0" rIns="0" bIns="0" rtlCol="0">
              <a:spAutoFit/>
            </a:bodyPr>
            <a:lstStyle/>
            <a:p>
              <a:pPr algn="l"/>
              <a:r>
                <a:rPr lang="en-IN" sz="1372">
                  <a:latin typeface="+mj-lt"/>
                </a:rPr>
                <a:t>Azure RBAC</a:t>
              </a:r>
            </a:p>
            <a:p>
              <a:pPr algn="l"/>
              <a:r>
                <a:rPr lang="en-IN" sz="1372">
                  <a:latin typeface="+mj-lt"/>
                </a:rPr>
                <a:t>roles</a:t>
              </a:r>
              <a:endParaRPr lang="en-US" sz="1372">
                <a:latin typeface="+mj-lt"/>
              </a:endParaRPr>
            </a:p>
          </p:txBody>
        </p:sp>
        <p:sp>
          <p:nvSpPr>
            <p:cNvPr id="28" name="TextBox 27">
              <a:extLst>
                <a:ext uri="{FF2B5EF4-FFF2-40B4-BE49-F238E27FC236}">
                  <a16:creationId xmlns:a16="http://schemas.microsoft.com/office/drawing/2014/main" id="{9B8A3B07-86AB-4309-8983-010B04C1637E}"/>
                </a:ext>
              </a:extLst>
            </p:cNvPr>
            <p:cNvSpPr txBox="1"/>
            <p:nvPr/>
          </p:nvSpPr>
          <p:spPr>
            <a:xfrm>
              <a:off x="1107887" y="4591885"/>
              <a:ext cx="1406678" cy="846386"/>
            </a:xfrm>
            <a:prstGeom prst="rect">
              <a:avLst/>
            </a:prstGeom>
            <a:noFill/>
          </p:spPr>
          <p:txBody>
            <a:bodyPr wrap="square" lIns="0" tIns="0" rIns="0" bIns="0" rtlCol="0">
              <a:spAutoFit/>
            </a:bodyPr>
            <a:lstStyle/>
            <a:p>
              <a:r>
                <a:rPr lang="en-IN" sz="1078"/>
                <a:t>Owner</a:t>
              </a:r>
            </a:p>
            <a:p>
              <a:r>
                <a:rPr lang="en-IN" sz="1078"/>
                <a:t>Contributor</a:t>
              </a:r>
            </a:p>
            <a:p>
              <a:r>
                <a:rPr lang="en-IN" sz="1078"/>
                <a:t>Reader</a:t>
              </a:r>
            </a:p>
            <a:p>
              <a:r>
                <a:rPr lang="en-IN" sz="1078"/>
                <a:t>User access admin</a:t>
              </a:r>
            </a:p>
            <a:p>
              <a:r>
                <a:rPr lang="en-IN" sz="1078"/>
                <a:t>…</a:t>
              </a:r>
              <a:endParaRPr lang="en-US" sz="1078"/>
            </a:p>
          </p:txBody>
        </p:sp>
        <p:cxnSp>
          <p:nvCxnSpPr>
            <p:cNvPr id="67" name="Connector: Elbow 66" descr="Line connector pointing down">
              <a:extLst>
                <a:ext uri="{FF2B5EF4-FFF2-40B4-BE49-F238E27FC236}">
                  <a16:creationId xmlns:a16="http://schemas.microsoft.com/office/drawing/2014/main" id="{F79DEABD-187F-487B-BC75-4401CCEEB8DE}"/>
                </a:ext>
              </a:extLst>
            </p:cNvPr>
            <p:cNvCxnSpPr>
              <a:cxnSpLocks/>
              <a:stCxn id="22" idx="2"/>
              <a:endCxn id="34" idx="1"/>
            </p:cNvCxnSpPr>
            <p:nvPr/>
          </p:nvCxnSpPr>
          <p:spPr>
            <a:xfrm rot="16200000" flipH="1">
              <a:off x="3036017" y="3987266"/>
              <a:ext cx="459821" cy="256850"/>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50DE747-60F8-4CFF-B8E9-EB798FBC38BE}"/>
                </a:ext>
              </a:extLst>
            </p:cNvPr>
            <p:cNvSpPr txBox="1"/>
            <p:nvPr/>
          </p:nvSpPr>
          <p:spPr>
            <a:xfrm>
              <a:off x="3973496" y="4145432"/>
              <a:ext cx="2051844" cy="215444"/>
            </a:xfrm>
            <a:prstGeom prst="rect">
              <a:avLst/>
            </a:prstGeom>
            <a:noFill/>
          </p:spPr>
          <p:txBody>
            <a:bodyPr wrap="square" lIns="0" tIns="0" rIns="0" bIns="0" rtlCol="0">
              <a:spAutoFit/>
            </a:bodyPr>
            <a:lstStyle/>
            <a:p>
              <a:pPr algn="l"/>
              <a:r>
                <a:rPr lang="en-IN" sz="1372">
                  <a:latin typeface="+mj-lt"/>
                </a:rPr>
                <a:t>Root management group</a:t>
              </a:r>
              <a:endParaRPr lang="en-US" sz="1372">
                <a:latin typeface="+mj-lt"/>
              </a:endParaRPr>
            </a:p>
          </p:txBody>
        </p:sp>
        <p:pic>
          <p:nvPicPr>
            <p:cNvPr id="34" name="Graphic 33">
              <a:extLst>
                <a:ext uri="{FF2B5EF4-FFF2-40B4-BE49-F238E27FC236}">
                  <a16:creationId xmlns:a16="http://schemas.microsoft.com/office/drawing/2014/main" id="{1DDC0CF8-80BC-4C68-8C2D-E76CE5B553C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94352" y="4097748"/>
              <a:ext cx="495705" cy="495707"/>
            </a:xfrm>
            <a:prstGeom prst="rect">
              <a:avLst/>
            </a:prstGeom>
          </p:spPr>
        </p:pic>
        <p:cxnSp>
          <p:nvCxnSpPr>
            <p:cNvPr id="72" name="Connector: Elbow 71" descr="Line connector pointing down">
              <a:extLst>
                <a:ext uri="{FF2B5EF4-FFF2-40B4-BE49-F238E27FC236}">
                  <a16:creationId xmlns:a16="http://schemas.microsoft.com/office/drawing/2014/main" id="{216BC84A-3BFF-40F5-A33D-858B2547E820}"/>
                </a:ext>
              </a:extLst>
            </p:cNvPr>
            <p:cNvCxnSpPr>
              <a:cxnSpLocks/>
              <a:stCxn id="34" idx="2"/>
              <a:endCxn id="37" idx="1"/>
            </p:cNvCxnSpPr>
            <p:nvPr/>
          </p:nvCxnSpPr>
          <p:spPr>
            <a:xfrm rot="16200000" flipH="1">
              <a:off x="3540265" y="4695384"/>
              <a:ext cx="369011" cy="165132"/>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6ED9393-DA6E-4258-BD18-9C383B8EEC64}"/>
                </a:ext>
              </a:extLst>
            </p:cNvPr>
            <p:cNvSpPr txBox="1"/>
            <p:nvPr/>
          </p:nvSpPr>
          <p:spPr>
            <a:xfrm>
              <a:off x="4386481" y="4762287"/>
              <a:ext cx="1123213" cy="430887"/>
            </a:xfrm>
            <a:prstGeom prst="rect">
              <a:avLst/>
            </a:prstGeom>
            <a:noFill/>
          </p:spPr>
          <p:txBody>
            <a:bodyPr wrap="square" lIns="0" tIns="0" rIns="0" bIns="0" rtlCol="0">
              <a:spAutoFit/>
            </a:bodyPr>
            <a:lstStyle/>
            <a:p>
              <a:pPr algn="l"/>
              <a:r>
                <a:rPr lang="en-IN" sz="1372">
                  <a:latin typeface="+mj-lt"/>
                </a:rPr>
                <a:t>Management</a:t>
              </a:r>
              <a:br>
                <a:rPr lang="en-IN" sz="1372">
                  <a:latin typeface="+mj-lt"/>
                </a:rPr>
              </a:br>
              <a:r>
                <a:rPr lang="en-IN" sz="1372">
                  <a:latin typeface="+mj-lt"/>
                </a:rPr>
                <a:t>group</a:t>
              </a:r>
              <a:endParaRPr lang="en-US" sz="1372">
                <a:latin typeface="+mj-lt"/>
              </a:endParaRPr>
            </a:p>
          </p:txBody>
        </p:sp>
        <p:pic>
          <p:nvPicPr>
            <p:cNvPr id="37" name="Graphic 36">
              <a:extLst>
                <a:ext uri="{FF2B5EF4-FFF2-40B4-BE49-F238E27FC236}">
                  <a16:creationId xmlns:a16="http://schemas.microsoft.com/office/drawing/2014/main" id="{3C849749-B810-489B-9388-76B59D6CA54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07337" y="4714603"/>
              <a:ext cx="495705" cy="495706"/>
            </a:xfrm>
            <a:prstGeom prst="rect">
              <a:avLst/>
            </a:prstGeom>
          </p:spPr>
        </p:pic>
        <p:sp>
          <p:nvSpPr>
            <p:cNvPr id="38" name="Rectangle: Rounded Corners 37">
              <a:extLst>
                <a:ext uri="{FF2B5EF4-FFF2-40B4-BE49-F238E27FC236}">
                  <a16:creationId xmlns:a16="http://schemas.microsoft.com/office/drawing/2014/main" id="{18BD2D5C-5265-4D95-8A83-0BFB92938BEC}"/>
                </a:ext>
                <a:ext uri="{C183D7F6-B498-43B3-948B-1728B52AA6E4}">
                  <adec:decorative xmlns:adec="http://schemas.microsoft.com/office/drawing/2017/decorative" val="1"/>
                </a:ext>
              </a:extLst>
            </p:cNvPr>
            <p:cNvSpPr/>
            <p:nvPr/>
          </p:nvSpPr>
          <p:spPr bwMode="auto">
            <a:xfrm>
              <a:off x="5675163" y="4551640"/>
              <a:ext cx="4566433" cy="1812077"/>
            </a:xfrm>
            <a:prstGeom prst="roundRect">
              <a:avLst>
                <a:gd name="adj" fmla="val 3631"/>
              </a:avLst>
            </a:prstGeom>
            <a:solidFill>
              <a:schemeClr val="bg1"/>
            </a:solidFill>
            <a:ln w="19050">
              <a:solidFill>
                <a:srgbClr val="B4009F"/>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1989" tIns="71989" rIns="71989" bIns="71989" numCol="1" spcCol="0" rtlCol="0" fromWordArt="0" anchor="t" anchorCtr="0" forceAA="0" compatLnSpc="1">
              <a:prstTxWarp prst="textNoShape">
                <a:avLst/>
              </a:prstTxWarp>
              <a:noAutofit/>
            </a:bodyPr>
            <a:lstStyle/>
            <a:p>
              <a:pPr defTabSz="932293" fontAlgn="base">
                <a:spcBef>
                  <a:spcPct val="0"/>
                </a:spcBef>
                <a:spcAft>
                  <a:spcPct val="0"/>
                </a:spcAft>
              </a:pPr>
              <a:endParaRPr lang="en-US">
                <a:solidFill>
                  <a:schemeClr val="tx1"/>
                </a:solidFill>
                <a:latin typeface="Consolas" panose="020B0609020204030204" pitchFamily="49" charset="0"/>
              </a:endParaRPr>
            </a:p>
          </p:txBody>
        </p:sp>
        <p:cxnSp>
          <p:nvCxnSpPr>
            <p:cNvPr id="81" name="Straight Connector 80" descr="Line connector pointing left">
              <a:extLst>
                <a:ext uri="{FF2B5EF4-FFF2-40B4-BE49-F238E27FC236}">
                  <a16:creationId xmlns:a16="http://schemas.microsoft.com/office/drawing/2014/main" id="{B1487B7B-6F21-4500-9161-216342B1CF8C}"/>
                </a:ext>
              </a:extLst>
            </p:cNvPr>
            <p:cNvCxnSpPr>
              <a:cxnSpLocks/>
            </p:cNvCxnSpPr>
            <p:nvPr/>
          </p:nvCxnSpPr>
          <p:spPr>
            <a:xfrm flipV="1">
              <a:off x="5538652" y="4854427"/>
              <a:ext cx="1690682" cy="0"/>
            </a:xfrm>
            <a:prstGeom prst="line">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6441DAFB-3077-401A-A6EB-969CCBDECF4B}"/>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437330" y="4817674"/>
              <a:ext cx="269974" cy="269974"/>
            </a:xfrm>
            <a:prstGeom prst="rect">
              <a:avLst/>
            </a:prstGeom>
          </p:spPr>
        </p:pic>
        <p:sp>
          <p:nvSpPr>
            <p:cNvPr id="46" name="TextBox 45">
              <a:extLst>
                <a:ext uri="{FF2B5EF4-FFF2-40B4-BE49-F238E27FC236}">
                  <a16:creationId xmlns:a16="http://schemas.microsoft.com/office/drawing/2014/main" id="{283CFF63-EED4-415C-83EA-E091A4771B38}"/>
                </a:ext>
              </a:extLst>
            </p:cNvPr>
            <p:cNvSpPr txBox="1"/>
            <p:nvPr/>
          </p:nvSpPr>
          <p:spPr>
            <a:xfrm>
              <a:off x="7728920" y="4862370"/>
              <a:ext cx="1013098" cy="215444"/>
            </a:xfrm>
            <a:prstGeom prst="rect">
              <a:avLst/>
            </a:prstGeom>
            <a:noFill/>
          </p:spPr>
          <p:txBody>
            <a:bodyPr wrap="square" lIns="0" tIns="0" rIns="0" bIns="0" rtlCol="0">
              <a:spAutoFit/>
            </a:bodyPr>
            <a:lstStyle/>
            <a:p>
              <a:pPr algn="l"/>
              <a:r>
                <a:rPr lang="en-IN" sz="1372">
                  <a:latin typeface="+mj-lt"/>
                </a:rPr>
                <a:t>Subscription</a:t>
              </a:r>
              <a:endParaRPr lang="en-US" sz="1372">
                <a:latin typeface="+mj-lt"/>
              </a:endParaRPr>
            </a:p>
          </p:txBody>
        </p:sp>
        <p:cxnSp>
          <p:nvCxnSpPr>
            <p:cNvPr id="14" name="Straight Connector 13" descr="Line connector pointing left">
              <a:extLst>
                <a:ext uri="{FF2B5EF4-FFF2-40B4-BE49-F238E27FC236}">
                  <a16:creationId xmlns:a16="http://schemas.microsoft.com/office/drawing/2014/main" id="{5837AD98-23E6-48FD-B41A-6DEB858EF95D}"/>
                </a:ext>
              </a:extLst>
            </p:cNvPr>
            <p:cNvCxnSpPr>
              <a:cxnSpLocks/>
              <a:stCxn id="46" idx="3"/>
            </p:cNvCxnSpPr>
            <p:nvPr/>
          </p:nvCxnSpPr>
          <p:spPr>
            <a:xfrm flipV="1">
              <a:off x="8742018" y="4962456"/>
              <a:ext cx="1683313" cy="0"/>
            </a:xfrm>
            <a:prstGeom prst="line">
              <a:avLst/>
            </a:prstGeom>
            <a:ln w="28575">
              <a:solidFill>
                <a:srgbClr val="243A5E"/>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 name="Freeform 38">
              <a:extLst>
                <a:ext uri="{FF2B5EF4-FFF2-40B4-BE49-F238E27FC236}">
                  <a16:creationId xmlns:a16="http://schemas.microsoft.com/office/drawing/2014/main" id="{9FF459FF-3939-4F6D-AD10-55C9B3F6E07A}"/>
                </a:ext>
                <a:ext uri="{C183D7F6-B498-43B3-948B-1728B52AA6E4}">
                  <adec:decorative xmlns:adec="http://schemas.microsoft.com/office/drawing/2017/decorative" val="1"/>
                </a:ext>
              </a:extLst>
            </p:cNvPr>
            <p:cNvSpPr>
              <a:spLocks/>
            </p:cNvSpPr>
            <p:nvPr/>
          </p:nvSpPr>
          <p:spPr bwMode="auto">
            <a:xfrm>
              <a:off x="10407065" y="4474206"/>
              <a:ext cx="1033871" cy="679824"/>
            </a:xfrm>
            <a:custGeom>
              <a:avLst/>
              <a:gdLst>
                <a:gd name="T0" fmla="*/ 2242 w 2661"/>
                <a:gd name="T1" fmla="*/ 773 h 1749"/>
                <a:gd name="T2" fmla="*/ 2243 w 2661"/>
                <a:gd name="T3" fmla="*/ 738 h 1749"/>
                <a:gd name="T4" fmla="*/ 1505 w 2661"/>
                <a:gd name="T5" fmla="*/ 0 h 1749"/>
                <a:gd name="T6" fmla="*/ 890 w 2661"/>
                <a:gd name="T7" fmla="*/ 330 h 1749"/>
                <a:gd name="T8" fmla="*/ 677 w 2661"/>
                <a:gd name="T9" fmla="*/ 270 h 1749"/>
                <a:gd name="T10" fmla="*/ 266 w 2661"/>
                <a:gd name="T11" fmla="*/ 681 h 1749"/>
                <a:gd name="T12" fmla="*/ 266 w 2661"/>
                <a:gd name="T13" fmla="*/ 689 h 1749"/>
                <a:gd name="T14" fmla="*/ 0 w 2661"/>
                <a:gd name="T15" fmla="*/ 1174 h 1749"/>
                <a:gd name="T16" fmla="*/ 543 w 2661"/>
                <a:gd name="T17" fmla="*/ 1748 h 1749"/>
                <a:gd name="T18" fmla="*/ 543 w 2661"/>
                <a:gd name="T19" fmla="*/ 1748 h 1749"/>
                <a:gd name="T20" fmla="*/ 544 w 2661"/>
                <a:gd name="T21" fmla="*/ 1748 h 1749"/>
                <a:gd name="T22" fmla="*/ 575 w 2661"/>
                <a:gd name="T23" fmla="*/ 1749 h 1749"/>
                <a:gd name="T24" fmla="*/ 607 w 2661"/>
                <a:gd name="T25" fmla="*/ 1748 h 1749"/>
                <a:gd name="T26" fmla="*/ 2142 w 2661"/>
                <a:gd name="T27" fmla="*/ 1748 h 1749"/>
                <a:gd name="T28" fmla="*/ 2171 w 2661"/>
                <a:gd name="T29" fmla="*/ 1749 h 1749"/>
                <a:gd name="T30" fmla="*/ 2661 w 2661"/>
                <a:gd name="T31" fmla="*/ 1258 h 1749"/>
                <a:gd name="T32" fmla="*/ 2242 w 2661"/>
                <a:gd name="T33" fmla="*/ 773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61" h="1749">
                  <a:moveTo>
                    <a:pt x="2242" y="773"/>
                  </a:moveTo>
                  <a:cubicBezTo>
                    <a:pt x="2242" y="761"/>
                    <a:pt x="2243" y="749"/>
                    <a:pt x="2243" y="738"/>
                  </a:cubicBezTo>
                  <a:cubicBezTo>
                    <a:pt x="2243" y="330"/>
                    <a:pt x="1912" y="0"/>
                    <a:pt x="1505" y="0"/>
                  </a:cubicBezTo>
                  <a:cubicBezTo>
                    <a:pt x="1248" y="0"/>
                    <a:pt x="1022" y="131"/>
                    <a:pt x="890" y="330"/>
                  </a:cubicBezTo>
                  <a:cubicBezTo>
                    <a:pt x="828" y="292"/>
                    <a:pt x="755" y="270"/>
                    <a:pt x="677" y="270"/>
                  </a:cubicBezTo>
                  <a:cubicBezTo>
                    <a:pt x="450" y="270"/>
                    <a:pt x="266" y="454"/>
                    <a:pt x="266" y="681"/>
                  </a:cubicBezTo>
                  <a:cubicBezTo>
                    <a:pt x="266" y="684"/>
                    <a:pt x="266" y="686"/>
                    <a:pt x="266" y="689"/>
                  </a:cubicBezTo>
                  <a:cubicBezTo>
                    <a:pt x="106" y="791"/>
                    <a:pt x="0" y="970"/>
                    <a:pt x="0" y="1174"/>
                  </a:cubicBezTo>
                  <a:cubicBezTo>
                    <a:pt x="0" y="1481"/>
                    <a:pt x="240" y="1732"/>
                    <a:pt x="543" y="1748"/>
                  </a:cubicBezTo>
                  <a:cubicBezTo>
                    <a:pt x="543" y="1748"/>
                    <a:pt x="543" y="1748"/>
                    <a:pt x="543" y="1748"/>
                  </a:cubicBezTo>
                  <a:cubicBezTo>
                    <a:pt x="544" y="1748"/>
                    <a:pt x="544" y="1748"/>
                    <a:pt x="544" y="1748"/>
                  </a:cubicBezTo>
                  <a:cubicBezTo>
                    <a:pt x="554" y="1749"/>
                    <a:pt x="565" y="1749"/>
                    <a:pt x="575" y="1749"/>
                  </a:cubicBezTo>
                  <a:cubicBezTo>
                    <a:pt x="586" y="1749"/>
                    <a:pt x="596" y="1749"/>
                    <a:pt x="607" y="1748"/>
                  </a:cubicBezTo>
                  <a:cubicBezTo>
                    <a:pt x="2142" y="1748"/>
                    <a:pt x="2142" y="1748"/>
                    <a:pt x="2142" y="1748"/>
                  </a:cubicBezTo>
                  <a:cubicBezTo>
                    <a:pt x="2151" y="1749"/>
                    <a:pt x="2161" y="1749"/>
                    <a:pt x="2171" y="1749"/>
                  </a:cubicBezTo>
                  <a:cubicBezTo>
                    <a:pt x="2442" y="1749"/>
                    <a:pt x="2661" y="1530"/>
                    <a:pt x="2661" y="1258"/>
                  </a:cubicBezTo>
                  <a:cubicBezTo>
                    <a:pt x="2661" y="1011"/>
                    <a:pt x="2479" y="807"/>
                    <a:pt x="2242" y="773"/>
                  </a:cubicBezTo>
                  <a:close/>
                </a:path>
              </a:pathLst>
            </a:custGeom>
            <a:solidFill>
              <a:srgbClr val="FFFFFF"/>
            </a:solidFill>
            <a:ln w="19050">
              <a:solidFill>
                <a:schemeClr val="tx2"/>
              </a:solidFill>
            </a:ln>
          </p:spPr>
          <p:txBody>
            <a:bodyPr vert="horz" wrap="square" lIns="91414" tIns="45706" rIns="91414" bIns="45706" numCol="1" anchor="t" anchorCtr="0" compatLnSpc="1">
              <a:prstTxWarp prst="textNoShape">
                <a:avLst/>
              </a:prstTxWarp>
            </a:bodyPr>
            <a:lstStyle/>
            <a:p>
              <a:pPr defTabSz="914049">
                <a:defRPr/>
              </a:pPr>
              <a:endParaRPr lang="en-US" kern="0"/>
            </a:p>
          </p:txBody>
        </p:sp>
        <p:pic>
          <p:nvPicPr>
            <p:cNvPr id="61" name="Picture 2" descr="Microsoft Azure Icon">
              <a:extLst>
                <a:ext uri="{FF2B5EF4-FFF2-40B4-BE49-F238E27FC236}">
                  <a16:creationId xmlns:a16="http://schemas.microsoft.com/office/drawing/2014/main" id="{42B5A8DF-99A2-4DE6-A2C2-1336818E3DE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0710665" y="4687909"/>
              <a:ext cx="440972" cy="346898"/>
            </a:xfrm>
            <a:prstGeom prst="rect">
              <a:avLst/>
            </a:prstGeom>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5963A65D-236E-4451-AAC2-6DF45FD55AD9}"/>
                </a:ext>
              </a:extLst>
            </p:cNvPr>
            <p:cNvSpPr txBox="1"/>
            <p:nvPr/>
          </p:nvSpPr>
          <p:spPr>
            <a:xfrm>
              <a:off x="10372844" y="5165092"/>
              <a:ext cx="1160574" cy="215444"/>
            </a:xfrm>
            <a:prstGeom prst="rect">
              <a:avLst/>
            </a:prstGeom>
            <a:noFill/>
          </p:spPr>
          <p:txBody>
            <a:bodyPr wrap="square" lIns="0" tIns="0" rIns="0" bIns="0" rtlCol="0">
              <a:spAutoFit/>
            </a:bodyPr>
            <a:lstStyle/>
            <a:p>
              <a:pPr algn="l"/>
              <a:r>
                <a:rPr lang="en-IN" sz="1372">
                  <a:latin typeface="+mj-lt"/>
                </a:rPr>
                <a:t>Azure account</a:t>
              </a:r>
              <a:endParaRPr lang="en-US" sz="1372">
                <a:latin typeface="+mj-lt"/>
              </a:endParaRPr>
            </a:p>
          </p:txBody>
        </p:sp>
        <p:pic>
          <p:nvPicPr>
            <p:cNvPr id="65" name="Picture 64">
              <a:extLst>
                <a:ext uri="{FF2B5EF4-FFF2-40B4-BE49-F238E27FC236}">
                  <a16:creationId xmlns:a16="http://schemas.microsoft.com/office/drawing/2014/main" id="{4B7F22C1-7A5A-449C-BF1A-87C922783F8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70879" y="4952661"/>
              <a:ext cx="298704" cy="373380"/>
            </a:xfrm>
            <a:prstGeom prst="rect">
              <a:avLst/>
            </a:prstGeom>
          </p:spPr>
        </p:pic>
        <p:sp>
          <p:nvSpPr>
            <p:cNvPr id="62" name="TextBox 61">
              <a:extLst>
                <a:ext uri="{FF2B5EF4-FFF2-40B4-BE49-F238E27FC236}">
                  <a16:creationId xmlns:a16="http://schemas.microsoft.com/office/drawing/2014/main" id="{69073EA2-5D83-45DA-8A72-636B1C92B8CA}"/>
                </a:ext>
              </a:extLst>
            </p:cNvPr>
            <p:cNvSpPr txBox="1"/>
            <p:nvPr/>
          </p:nvSpPr>
          <p:spPr>
            <a:xfrm>
              <a:off x="6407788" y="4979210"/>
              <a:ext cx="968855" cy="430887"/>
            </a:xfrm>
            <a:prstGeom prst="rect">
              <a:avLst/>
            </a:prstGeom>
            <a:noFill/>
          </p:spPr>
          <p:txBody>
            <a:bodyPr wrap="square" lIns="0" tIns="0" rIns="0" bIns="0" rtlCol="0">
              <a:spAutoFit/>
            </a:bodyPr>
            <a:lstStyle/>
            <a:p>
              <a:pPr algn="l"/>
              <a:r>
                <a:rPr lang="en-IN" sz="1372">
                  <a:latin typeface="+mj-lt"/>
                </a:rPr>
                <a:t>Azure RBAC</a:t>
              </a:r>
            </a:p>
            <a:p>
              <a:pPr algn="l"/>
              <a:r>
                <a:rPr lang="en-IN" sz="1372">
                  <a:latin typeface="+mj-lt"/>
                </a:rPr>
                <a:t>roles</a:t>
              </a:r>
              <a:endParaRPr lang="en-US" sz="1372">
                <a:latin typeface="+mj-lt"/>
              </a:endParaRPr>
            </a:p>
          </p:txBody>
        </p:sp>
        <p:sp>
          <p:nvSpPr>
            <p:cNvPr id="63" name="TextBox 62">
              <a:extLst>
                <a:ext uri="{FF2B5EF4-FFF2-40B4-BE49-F238E27FC236}">
                  <a16:creationId xmlns:a16="http://schemas.microsoft.com/office/drawing/2014/main" id="{3CCBEFBF-188B-4406-A681-84B4B0761D29}"/>
                </a:ext>
              </a:extLst>
            </p:cNvPr>
            <p:cNvSpPr txBox="1"/>
            <p:nvPr/>
          </p:nvSpPr>
          <p:spPr>
            <a:xfrm>
              <a:off x="5841409" y="5412844"/>
              <a:ext cx="1406678" cy="846386"/>
            </a:xfrm>
            <a:prstGeom prst="rect">
              <a:avLst/>
            </a:prstGeom>
            <a:noFill/>
          </p:spPr>
          <p:txBody>
            <a:bodyPr wrap="square" lIns="0" tIns="0" rIns="0" bIns="0" rtlCol="0">
              <a:spAutoFit/>
            </a:bodyPr>
            <a:lstStyle/>
            <a:p>
              <a:r>
                <a:rPr lang="en-IN" sz="1078"/>
                <a:t>Owner</a:t>
              </a:r>
            </a:p>
            <a:p>
              <a:r>
                <a:rPr lang="en-IN" sz="1078"/>
                <a:t>Contributor</a:t>
              </a:r>
            </a:p>
            <a:p>
              <a:r>
                <a:rPr lang="en-IN" sz="1078"/>
                <a:t>Reader</a:t>
              </a:r>
            </a:p>
            <a:p>
              <a:r>
                <a:rPr lang="en-IN" sz="1078"/>
                <a:t>User access admin</a:t>
              </a:r>
            </a:p>
            <a:p>
              <a:r>
                <a:rPr lang="en-IN" sz="1078"/>
                <a:t>…</a:t>
              </a:r>
              <a:endParaRPr lang="en-US" sz="1078"/>
            </a:p>
          </p:txBody>
        </p:sp>
        <p:cxnSp>
          <p:nvCxnSpPr>
            <p:cNvPr id="86" name="Connector: Elbow 85" descr="Line connector pointing down">
              <a:extLst>
                <a:ext uri="{FF2B5EF4-FFF2-40B4-BE49-F238E27FC236}">
                  <a16:creationId xmlns:a16="http://schemas.microsoft.com/office/drawing/2014/main" id="{AD0892AF-5B4D-415C-9C4F-1AC776183806}"/>
                </a:ext>
              </a:extLst>
            </p:cNvPr>
            <p:cNvCxnSpPr>
              <a:cxnSpLocks/>
              <a:endCxn id="52" idx="1"/>
            </p:cNvCxnSpPr>
            <p:nvPr/>
          </p:nvCxnSpPr>
          <p:spPr>
            <a:xfrm rot="16200000" flipH="1">
              <a:off x="7508722" y="5173382"/>
              <a:ext cx="145076" cy="21373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52" name="Graphic 51">
              <a:extLst>
                <a:ext uri="{FF2B5EF4-FFF2-40B4-BE49-F238E27FC236}">
                  <a16:creationId xmlns:a16="http://schemas.microsoft.com/office/drawing/2014/main" id="{D1DA51C3-094F-4F21-96CB-9BB1EAED7F5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88133" y="5165105"/>
              <a:ext cx="375394" cy="375395"/>
            </a:xfrm>
            <a:prstGeom prst="rect">
              <a:avLst/>
            </a:prstGeom>
          </p:spPr>
        </p:pic>
        <p:sp>
          <p:nvSpPr>
            <p:cNvPr id="50" name="TextBox 49">
              <a:extLst>
                <a:ext uri="{FF2B5EF4-FFF2-40B4-BE49-F238E27FC236}">
                  <a16:creationId xmlns:a16="http://schemas.microsoft.com/office/drawing/2014/main" id="{561F72A4-ECF1-42CA-8150-55D2992DD70D}"/>
                </a:ext>
              </a:extLst>
            </p:cNvPr>
            <p:cNvSpPr txBox="1"/>
            <p:nvPr/>
          </p:nvSpPr>
          <p:spPr>
            <a:xfrm>
              <a:off x="8133481" y="5252718"/>
              <a:ext cx="1277658" cy="215444"/>
            </a:xfrm>
            <a:prstGeom prst="rect">
              <a:avLst/>
            </a:prstGeom>
            <a:noFill/>
          </p:spPr>
          <p:txBody>
            <a:bodyPr wrap="square" lIns="0" tIns="0" rIns="0" bIns="0" rtlCol="0">
              <a:spAutoFit/>
            </a:bodyPr>
            <a:lstStyle/>
            <a:p>
              <a:pPr algn="l"/>
              <a:r>
                <a:rPr lang="en-IN" sz="1372">
                  <a:latin typeface="+mj-lt"/>
                </a:rPr>
                <a:t>Resource group</a:t>
              </a:r>
              <a:endParaRPr lang="en-US" sz="1372">
                <a:latin typeface="+mj-lt"/>
              </a:endParaRPr>
            </a:p>
          </p:txBody>
        </p:sp>
        <p:cxnSp>
          <p:nvCxnSpPr>
            <p:cNvPr id="89" name="Connector: Elbow 88" descr="Line connector pointing down">
              <a:extLst>
                <a:ext uri="{FF2B5EF4-FFF2-40B4-BE49-F238E27FC236}">
                  <a16:creationId xmlns:a16="http://schemas.microsoft.com/office/drawing/2014/main" id="{83CB5F39-7340-40E0-90CD-CDE16B40D642}"/>
                </a:ext>
              </a:extLst>
            </p:cNvPr>
            <p:cNvCxnSpPr>
              <a:cxnSpLocks/>
              <a:stCxn id="52" idx="2"/>
            </p:cNvCxnSpPr>
            <p:nvPr/>
          </p:nvCxnSpPr>
          <p:spPr>
            <a:xfrm rot="16200000" flipH="1">
              <a:off x="7814481" y="5601831"/>
              <a:ext cx="400148" cy="277457"/>
            </a:xfrm>
            <a:prstGeom prst="bentConnector2">
              <a:avLst/>
            </a:prstGeom>
            <a:ln w="19050">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052" name="Graphic 2051">
              <a:extLst>
                <a:ext uri="{FF2B5EF4-FFF2-40B4-BE49-F238E27FC236}">
                  <a16:creationId xmlns:a16="http://schemas.microsoft.com/office/drawing/2014/main" id="{E793C178-1389-42B0-9590-0B187EAA98E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94285" y="5779629"/>
              <a:ext cx="322011" cy="322012"/>
            </a:xfrm>
            <a:prstGeom prst="rect">
              <a:avLst/>
            </a:prstGeom>
          </p:spPr>
        </p:pic>
        <p:pic>
          <p:nvPicPr>
            <p:cNvPr id="2054" name="Graphic 2053">
              <a:extLst>
                <a:ext uri="{FF2B5EF4-FFF2-40B4-BE49-F238E27FC236}">
                  <a16:creationId xmlns:a16="http://schemas.microsoft.com/office/drawing/2014/main" id="{381D129F-F99F-4004-8896-8E702D5D659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49372" y="5770209"/>
              <a:ext cx="338234" cy="338235"/>
            </a:xfrm>
            <a:prstGeom prst="rect">
              <a:avLst/>
            </a:prstGeom>
          </p:spPr>
        </p:pic>
        <p:pic>
          <p:nvPicPr>
            <p:cNvPr id="43" name="Graphic 42">
              <a:extLst>
                <a:ext uri="{FF2B5EF4-FFF2-40B4-BE49-F238E27FC236}">
                  <a16:creationId xmlns:a16="http://schemas.microsoft.com/office/drawing/2014/main" id="{3FC787F2-78BA-4535-A4AF-C4443E4F58B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23297" y="5770059"/>
              <a:ext cx="338492" cy="338493"/>
            </a:xfrm>
            <a:prstGeom prst="rect">
              <a:avLst/>
            </a:prstGeom>
          </p:spPr>
        </p:pic>
        <p:sp>
          <p:nvSpPr>
            <p:cNvPr id="53" name="TextBox 52">
              <a:extLst>
                <a:ext uri="{FF2B5EF4-FFF2-40B4-BE49-F238E27FC236}">
                  <a16:creationId xmlns:a16="http://schemas.microsoft.com/office/drawing/2014/main" id="{E6B06B35-38D3-4C6E-B4AE-1EC01B96D52E}"/>
                </a:ext>
              </a:extLst>
            </p:cNvPr>
            <p:cNvSpPr txBox="1"/>
            <p:nvPr/>
          </p:nvSpPr>
          <p:spPr>
            <a:xfrm>
              <a:off x="9399823" y="5842683"/>
              <a:ext cx="737446" cy="215444"/>
            </a:xfrm>
            <a:prstGeom prst="rect">
              <a:avLst/>
            </a:prstGeom>
            <a:noFill/>
          </p:spPr>
          <p:txBody>
            <a:bodyPr wrap="square" lIns="0" tIns="0" rIns="0" bIns="0" rtlCol="0">
              <a:spAutoFit/>
            </a:bodyPr>
            <a:lstStyle/>
            <a:p>
              <a:pPr algn="l"/>
              <a:r>
                <a:rPr lang="en-IN" sz="1372">
                  <a:latin typeface="+mj-lt"/>
                </a:rPr>
                <a:t>Resource</a:t>
              </a:r>
              <a:endParaRPr lang="en-US" sz="1372">
                <a:latin typeface="+mj-lt"/>
              </a:endParaRPr>
            </a:p>
          </p:txBody>
        </p:sp>
      </p:grpSp>
    </p:spTree>
    <p:extLst>
      <p:ext uri="{BB962C8B-B14F-4D97-AF65-F5344CB8AC3E}">
        <p14:creationId xmlns:p14="http://schemas.microsoft.com/office/powerpoint/2010/main" val="220754343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D5EE60-2B12-4E4C-B36C-24332182AFDA}"/>
              </a:ext>
            </a:extLst>
          </p:cNvPr>
          <p:cNvSpPr>
            <a:spLocks noGrp="1"/>
          </p:cNvSpPr>
          <p:nvPr>
            <p:ph type="title"/>
          </p:nvPr>
        </p:nvSpPr>
        <p:spPr/>
        <p:txBody>
          <a:bodyPr/>
          <a:lstStyle/>
          <a:p>
            <a:r>
              <a:rPr lang="en-US" dirty="0"/>
              <a:t>Determine Azure RBAC Roles</a:t>
            </a:r>
          </a:p>
        </p:txBody>
      </p:sp>
      <p:graphicFrame>
        <p:nvGraphicFramePr>
          <p:cNvPr id="5" name="Table 4" descr="Table showing the types of RBAC roles  in Azure (owner, contributor, reader and user access administrator) with a description of their  permissions and details">
            <a:extLst>
              <a:ext uri="{FF2B5EF4-FFF2-40B4-BE49-F238E27FC236}">
                <a16:creationId xmlns:a16="http://schemas.microsoft.com/office/drawing/2014/main" id="{28B084FB-790F-4462-88E3-45ED7DC0F2DC}"/>
              </a:ext>
            </a:extLst>
          </p:cNvPr>
          <p:cNvGraphicFramePr>
            <a:graphicFrameLocks noGrp="1"/>
          </p:cNvGraphicFramePr>
          <p:nvPr/>
        </p:nvGraphicFramePr>
        <p:xfrm>
          <a:off x="418643" y="1292189"/>
          <a:ext cx="11343819" cy="4803259"/>
        </p:xfrm>
        <a:graphic>
          <a:graphicData uri="http://schemas.openxmlformats.org/drawingml/2006/table">
            <a:tbl>
              <a:tblPr firstRow="1" firstCol="1" bandRow="1">
                <a:tableStyleId>{B301B821-A1FF-4177-AEE7-76D212191A09}</a:tableStyleId>
              </a:tblPr>
              <a:tblGrid>
                <a:gridCol w="2569438">
                  <a:extLst>
                    <a:ext uri="{9D8B030D-6E8A-4147-A177-3AD203B41FA5}">
                      <a16:colId xmlns:a16="http://schemas.microsoft.com/office/drawing/2014/main" val="1101825562"/>
                    </a:ext>
                  </a:extLst>
                </a:gridCol>
                <a:gridCol w="3971660">
                  <a:extLst>
                    <a:ext uri="{9D8B030D-6E8A-4147-A177-3AD203B41FA5}">
                      <a16:colId xmlns:a16="http://schemas.microsoft.com/office/drawing/2014/main" val="236706924"/>
                    </a:ext>
                  </a:extLst>
                </a:gridCol>
                <a:gridCol w="4802721">
                  <a:extLst>
                    <a:ext uri="{9D8B030D-6E8A-4147-A177-3AD203B41FA5}">
                      <a16:colId xmlns:a16="http://schemas.microsoft.com/office/drawing/2014/main" val="521193641"/>
                    </a:ext>
                  </a:extLst>
                </a:gridCol>
              </a:tblGrid>
              <a:tr h="484508">
                <a:tc>
                  <a:txBody>
                    <a:bodyPr/>
                    <a:lstStyle/>
                    <a:p>
                      <a:pPr marL="0" marR="0" algn="l">
                        <a:lnSpc>
                          <a:spcPct val="107000"/>
                        </a:lnSpc>
                        <a:spcBef>
                          <a:spcPts val="0"/>
                        </a:spcBef>
                        <a:spcAft>
                          <a:spcPts val="0"/>
                        </a:spcAft>
                      </a:pPr>
                      <a:r>
                        <a:rPr lang="en-US" sz="2200" b="0" dirty="0">
                          <a:solidFill>
                            <a:schemeClr val="bg1"/>
                          </a:solidFill>
                          <a:effectLst/>
                          <a:latin typeface="+mj-lt"/>
                        </a:rPr>
                        <a:t>RBAC role in Azure</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7000"/>
                        </a:lnSpc>
                        <a:spcBef>
                          <a:spcPts val="0"/>
                        </a:spcBef>
                        <a:spcAft>
                          <a:spcPts val="0"/>
                        </a:spcAft>
                      </a:pPr>
                      <a:r>
                        <a:rPr lang="en-US" sz="2200" b="0" dirty="0">
                          <a:solidFill>
                            <a:schemeClr val="bg1"/>
                          </a:solidFill>
                          <a:effectLst/>
                          <a:latin typeface="+mj-lt"/>
                        </a:rPr>
                        <a:t>Permissions</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7000"/>
                        </a:lnSpc>
                        <a:spcBef>
                          <a:spcPts val="0"/>
                        </a:spcBef>
                        <a:spcAft>
                          <a:spcPts val="0"/>
                        </a:spcAft>
                      </a:pPr>
                      <a:r>
                        <a:rPr lang="en-US" sz="2200" b="0" dirty="0">
                          <a:solidFill>
                            <a:schemeClr val="bg1"/>
                          </a:solidFill>
                          <a:effectLst/>
                          <a:latin typeface="+mj-lt"/>
                        </a:rPr>
                        <a:t>Notes</a:t>
                      </a:r>
                      <a:endParaRPr lang="en-US" sz="2200" b="0" dirty="0">
                        <a:solidFill>
                          <a:schemeClr val="bg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2628152625"/>
                  </a:ext>
                </a:extLst>
              </a:tr>
              <a:tr h="1673053">
                <a:tc>
                  <a:txBody>
                    <a:bodyPr/>
                    <a:lstStyle/>
                    <a:p>
                      <a:pPr marL="0" marR="0" algn="l">
                        <a:lnSpc>
                          <a:spcPct val="107000"/>
                        </a:lnSpc>
                        <a:spcBef>
                          <a:spcPts val="0"/>
                        </a:spcBef>
                        <a:spcAft>
                          <a:spcPts val="0"/>
                        </a:spcAft>
                      </a:pPr>
                      <a:r>
                        <a:rPr lang="en-US" sz="2000" b="0" dirty="0">
                          <a:solidFill>
                            <a:schemeClr val="tx1"/>
                          </a:solidFill>
                          <a:effectLst/>
                          <a:latin typeface="+mj-lt"/>
                        </a:rPr>
                        <a:t>Owner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a:solidFill>
                            <a:schemeClr val="tx1"/>
                          </a:solidFill>
                          <a:effectLst/>
                          <a:latin typeface="+mn-lt"/>
                        </a:rPr>
                        <a:t>Has full access to all resources and can delegate access to others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a:solidFill>
                            <a:schemeClr val="tx1"/>
                          </a:solidFill>
                          <a:effectLst/>
                          <a:latin typeface="+mn-lt"/>
                        </a:rPr>
                        <a:t>The Service Administrator and</a:t>
                      </a:r>
                      <a:br>
                        <a:rPr lang="en-US" sz="2000" b="0">
                          <a:solidFill>
                            <a:schemeClr val="tx1"/>
                          </a:solidFill>
                          <a:effectLst/>
                          <a:latin typeface="+mn-lt"/>
                        </a:rPr>
                      </a:br>
                      <a:r>
                        <a:rPr lang="en-US" sz="2000" b="0">
                          <a:solidFill>
                            <a:schemeClr val="tx1"/>
                          </a:solidFill>
                          <a:effectLst/>
                          <a:latin typeface="+mn-lt"/>
                        </a:rPr>
                        <a:t>Co-Administrators are assigned the Owner role at the subscription scope. This applies to all resource types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23102123"/>
                  </a:ext>
                </a:extLst>
              </a:tr>
              <a:tr h="1195660">
                <a:tc>
                  <a:txBody>
                    <a:bodyPr/>
                    <a:lstStyle/>
                    <a:p>
                      <a:pPr marL="0" marR="0" algn="l">
                        <a:lnSpc>
                          <a:spcPct val="107000"/>
                        </a:lnSpc>
                        <a:spcBef>
                          <a:spcPts val="0"/>
                        </a:spcBef>
                        <a:spcAft>
                          <a:spcPts val="0"/>
                        </a:spcAft>
                      </a:pPr>
                      <a:r>
                        <a:rPr lang="en-US" sz="2000" b="0" dirty="0">
                          <a:solidFill>
                            <a:schemeClr val="tx1"/>
                          </a:solidFill>
                          <a:effectLst/>
                          <a:latin typeface="+mj-lt"/>
                        </a:rPr>
                        <a:t>Contributor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a:solidFill>
                            <a:schemeClr val="tx1"/>
                          </a:solidFill>
                          <a:effectLst/>
                          <a:latin typeface="+mn-lt"/>
                        </a:rPr>
                        <a:t>Creates and manages all types of Azure resources but cannot grant access to others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a:solidFill>
                            <a:schemeClr val="tx1"/>
                          </a:solidFill>
                          <a:effectLst/>
                          <a:latin typeface="+mn-lt"/>
                        </a:rPr>
                        <a:t>This applies to all resource types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58311705"/>
                  </a:ext>
                </a:extLst>
              </a:tr>
              <a:tr h="627232">
                <a:tc>
                  <a:txBody>
                    <a:bodyPr/>
                    <a:lstStyle/>
                    <a:p>
                      <a:pPr marL="0" marR="0" algn="l">
                        <a:lnSpc>
                          <a:spcPct val="107000"/>
                        </a:lnSpc>
                        <a:spcBef>
                          <a:spcPts val="0"/>
                        </a:spcBef>
                        <a:spcAft>
                          <a:spcPts val="0"/>
                        </a:spcAft>
                      </a:pPr>
                      <a:r>
                        <a:rPr lang="en-US" sz="2000" b="0" dirty="0">
                          <a:solidFill>
                            <a:schemeClr val="tx1"/>
                          </a:solidFill>
                          <a:effectLst/>
                          <a:latin typeface="+mj-lt"/>
                        </a:rPr>
                        <a:t>Reader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a:solidFill>
                            <a:schemeClr val="tx1"/>
                          </a:solidFill>
                          <a:effectLst/>
                          <a:latin typeface="+mn-lt"/>
                        </a:rPr>
                        <a:t>Views Azure resources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a:solidFill>
                            <a:schemeClr val="tx1"/>
                          </a:solidFill>
                          <a:effectLst/>
                          <a:latin typeface="+mn-lt"/>
                        </a:rPr>
                        <a:t>This applies to all resource types</a:t>
                      </a:r>
                      <a:endParaRPr lang="en-US" sz="2000" b="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95281607"/>
                  </a:ext>
                </a:extLst>
              </a:tr>
              <a:tr h="822806">
                <a:tc>
                  <a:txBody>
                    <a:bodyPr/>
                    <a:lstStyle/>
                    <a:p>
                      <a:pPr marL="0" marR="0" algn="l">
                        <a:lnSpc>
                          <a:spcPct val="107000"/>
                        </a:lnSpc>
                        <a:spcBef>
                          <a:spcPts val="0"/>
                        </a:spcBef>
                        <a:spcAft>
                          <a:spcPts val="0"/>
                        </a:spcAft>
                      </a:pPr>
                      <a:r>
                        <a:rPr lang="en-US" sz="2000" b="0" dirty="0">
                          <a:solidFill>
                            <a:schemeClr val="tx1"/>
                          </a:solidFill>
                          <a:effectLst/>
                          <a:latin typeface="+mj-lt"/>
                        </a:rPr>
                        <a:t>User Access Administrator</a:t>
                      </a:r>
                      <a:endParaRPr lang="en-US" sz="2000" b="0" dirty="0">
                        <a:solidFill>
                          <a:schemeClr val="tx1"/>
                        </a:solidFill>
                        <a:effectLst/>
                        <a:latin typeface="+mj-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7000"/>
                        </a:lnSpc>
                        <a:spcBef>
                          <a:spcPts val="0"/>
                        </a:spcBef>
                        <a:spcAft>
                          <a:spcPts val="0"/>
                        </a:spcAft>
                      </a:pPr>
                      <a:r>
                        <a:rPr lang="en-US" sz="2000" b="0" dirty="0">
                          <a:solidFill>
                            <a:schemeClr val="tx1"/>
                          </a:solidFill>
                          <a:effectLst/>
                          <a:latin typeface="+mn-lt"/>
                        </a:rPr>
                        <a:t>Manages user access to</a:t>
                      </a:r>
                      <a:br>
                        <a:rPr lang="en-US" sz="2000" b="0" dirty="0">
                          <a:solidFill>
                            <a:schemeClr val="tx1"/>
                          </a:solidFill>
                          <a:effectLst/>
                          <a:latin typeface="+mn-lt"/>
                        </a:rPr>
                      </a:br>
                      <a:r>
                        <a:rPr lang="en-US" sz="2000" b="0" dirty="0">
                          <a:solidFill>
                            <a:schemeClr val="tx1"/>
                          </a:solidFill>
                          <a:effectLst/>
                          <a:latin typeface="+mn-lt"/>
                        </a:rPr>
                        <a:t>Azure resources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algn="l">
                        <a:lnSpc>
                          <a:spcPct val="107000"/>
                        </a:lnSpc>
                        <a:spcBef>
                          <a:spcPts val="0"/>
                        </a:spcBef>
                        <a:spcAft>
                          <a:spcPts val="0"/>
                        </a:spcAft>
                      </a:pPr>
                      <a:r>
                        <a:rPr lang="en-US" sz="2000" b="0" dirty="0">
                          <a:solidFill>
                            <a:schemeClr val="tx1"/>
                          </a:solidFill>
                          <a:effectLst/>
                          <a:latin typeface="+mn-lt"/>
                        </a:rPr>
                        <a:t>This</a:t>
                      </a:r>
                      <a:r>
                        <a:rPr lang="en-US" sz="2000" b="0" baseline="0" dirty="0">
                          <a:solidFill>
                            <a:schemeClr val="tx1"/>
                          </a:solidFill>
                          <a:effectLst/>
                          <a:latin typeface="+mn-lt"/>
                        </a:rPr>
                        <a:t> applies to managing access, rather than to managing resources</a:t>
                      </a:r>
                      <a:endParaRPr lang="en-US" sz="2000" b="0" dirty="0">
                        <a:solidFill>
                          <a:schemeClr val="tx1"/>
                        </a:solidFill>
                        <a:effectLst/>
                        <a:latin typeface="+mn-lt"/>
                        <a:ea typeface="Malgun Gothic" panose="020B0503020000020004" pitchFamily="34" charset="-127"/>
                        <a:cs typeface="Times New Roman" panose="02020603050405020304" pitchFamily="18" charset="0"/>
                      </a:endParaRPr>
                    </a:p>
                  </a:txBody>
                  <a:tcPr marL="89642" marR="89642" marT="44821" marB="44821"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96763368"/>
                  </a:ext>
                </a:extLst>
              </a:tr>
            </a:tbl>
          </a:graphicData>
        </a:graphic>
      </p:graphicFrame>
    </p:spTree>
    <p:extLst>
      <p:ext uri="{BB962C8B-B14F-4D97-AF65-F5344CB8AC3E}">
        <p14:creationId xmlns:p14="http://schemas.microsoft.com/office/powerpoint/2010/main" val="383229462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6947-3F02-48BF-A456-13B4C0FFCF7F}"/>
              </a:ext>
            </a:extLst>
          </p:cNvPr>
          <p:cNvSpPr>
            <a:spLocks noGrp="1"/>
          </p:cNvSpPr>
          <p:nvPr>
            <p:ph type="title"/>
          </p:nvPr>
        </p:nvSpPr>
        <p:spPr/>
        <p:txBody>
          <a:bodyPr/>
          <a:lstStyle/>
          <a:p>
            <a:r>
              <a:rPr lang="en-US" dirty="0"/>
              <a:t>Lab 02a – Manage Subscriptions and Azure RBAC</a:t>
            </a:r>
          </a:p>
        </p:txBody>
      </p:sp>
      <p:sp>
        <p:nvSpPr>
          <p:cNvPr id="18" name="Text Placeholder 2">
            <a:extLst>
              <a:ext uri="{FF2B5EF4-FFF2-40B4-BE49-F238E27FC236}">
                <a16:creationId xmlns:a16="http://schemas.microsoft.com/office/drawing/2014/main" id="{3B4629CD-0B11-4BD3-9ABA-B3DFAA47F77F}"/>
              </a:ext>
            </a:extLst>
          </p:cNvPr>
          <p:cNvSpPr txBox="1">
            <a:spLocks/>
          </p:cNvSpPr>
          <p:nvPr/>
        </p:nvSpPr>
        <p:spPr>
          <a:xfrm>
            <a:off x="418644" y="1353684"/>
            <a:ext cx="11354714" cy="20215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53" spc="0" dirty="0">
                <a:solidFill>
                  <a:schemeClr val="tx2">
                    <a:lumMod val="50000"/>
                  </a:schemeClr>
                </a:solidFill>
                <a:cs typeface="Segoe UI Semilight"/>
              </a:rPr>
              <a:t>Lab scenario</a:t>
            </a:r>
          </a:p>
          <a:p>
            <a:pPr>
              <a:buSzPct val="100000"/>
            </a:pPr>
            <a:r>
              <a:rPr lang="en-US" sz="1961" spc="0" dirty="0">
                <a:solidFill>
                  <a:schemeClr val="tx1"/>
                </a:solidFill>
                <a:latin typeface="+mn-lt"/>
              </a:rPr>
              <a:t>To improve the management of Azure resources in Contoso, you have been tasked with implementing the following functionality:</a:t>
            </a:r>
          </a:p>
          <a:p>
            <a:pPr marL="393726" indent="-256778">
              <a:spcBef>
                <a:spcPts val="588"/>
              </a:spcBef>
              <a:buSzPct val="100000"/>
              <a:buFont typeface="Arial" panose="020B0604020202020204" pitchFamily="34" charset="0"/>
              <a:buChar char="•"/>
            </a:pPr>
            <a:r>
              <a:rPr lang="en-US" sz="1961" spc="0" dirty="0">
                <a:solidFill>
                  <a:schemeClr val="tx1"/>
                </a:solidFill>
                <a:latin typeface="+mn-lt"/>
              </a:rPr>
              <a:t>Using management groups for the Contoso’s Azure subscriptions</a:t>
            </a:r>
          </a:p>
          <a:p>
            <a:pPr marL="393726" indent="-256778">
              <a:spcBef>
                <a:spcPts val="588"/>
              </a:spcBef>
              <a:buSzPct val="100000"/>
              <a:buFont typeface="Arial" panose="020B0604020202020204" pitchFamily="34" charset="0"/>
              <a:buChar char="•"/>
            </a:pPr>
            <a:r>
              <a:rPr lang="en-US" sz="1961" spc="0" dirty="0">
                <a:solidFill>
                  <a:schemeClr val="tx1"/>
                </a:solidFill>
                <a:latin typeface="+mn-lt"/>
              </a:rPr>
              <a:t>Granting user permissions for submitting support requests. This user would only be able to create support request tickets and view resource groups</a:t>
            </a:r>
          </a:p>
        </p:txBody>
      </p:sp>
      <p:sp>
        <p:nvSpPr>
          <p:cNvPr id="25" name="Text Placeholder 2">
            <a:extLst>
              <a:ext uri="{FF2B5EF4-FFF2-40B4-BE49-F238E27FC236}">
                <a16:creationId xmlns:a16="http://schemas.microsoft.com/office/drawing/2014/main" id="{A25F1755-F765-42BC-BE7A-86ABB4D0116D}"/>
              </a:ext>
            </a:extLst>
          </p:cNvPr>
          <p:cNvSpPr txBox="1">
            <a:spLocks/>
          </p:cNvSpPr>
          <p:nvPr/>
        </p:nvSpPr>
        <p:spPr>
          <a:xfrm>
            <a:off x="418644" y="3670380"/>
            <a:ext cx="11354714" cy="362072"/>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53" spc="0" dirty="0">
                <a:solidFill>
                  <a:schemeClr val="tx2">
                    <a:lumMod val="50000"/>
                  </a:schemeClr>
                </a:solidFill>
                <a:cs typeface="Segoe UI Semilight"/>
              </a:rPr>
              <a:t>Objectives</a:t>
            </a:r>
          </a:p>
        </p:txBody>
      </p:sp>
      <p:sp>
        <p:nvSpPr>
          <p:cNvPr id="26" name="Rectangle 25">
            <a:extLst>
              <a:ext uri="{FF2B5EF4-FFF2-40B4-BE49-F238E27FC236}">
                <a16:creationId xmlns:a16="http://schemas.microsoft.com/office/drawing/2014/main" id="{907DF144-E569-4AED-B866-434D14046668}"/>
              </a:ext>
            </a:extLst>
          </p:cNvPr>
          <p:cNvSpPr/>
          <p:nvPr/>
        </p:nvSpPr>
        <p:spPr bwMode="auto">
          <a:xfrm>
            <a:off x="418644" y="4149028"/>
            <a:ext cx="370513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buSzPct val="90000"/>
            </a:pPr>
            <a:r>
              <a:rPr lang="en-US" sz="2157" dirty="0">
                <a:solidFill>
                  <a:schemeClr val="tx2">
                    <a:lumMod val="50000"/>
                  </a:schemeClr>
                </a:solidFill>
                <a:latin typeface="+mj-lt"/>
                <a:cs typeface="Segoe UI Semilight"/>
              </a:rPr>
              <a:t>Task 1:</a:t>
            </a:r>
            <a:br>
              <a:rPr lang="en-US" sz="1961" dirty="0">
                <a:solidFill>
                  <a:schemeClr val="tx1"/>
                </a:solidFill>
                <a:cs typeface="Segoe UI Semilight"/>
              </a:rPr>
            </a:br>
            <a:r>
              <a:rPr lang="en-US" sz="1961" dirty="0">
                <a:solidFill>
                  <a:schemeClr val="tx1"/>
                </a:solidFill>
                <a:cs typeface="Segoe UI Semilight"/>
              </a:rPr>
              <a:t>Implement Management Groups</a:t>
            </a:r>
          </a:p>
        </p:txBody>
      </p:sp>
      <p:sp>
        <p:nvSpPr>
          <p:cNvPr id="27" name="Rectangle 26">
            <a:extLst>
              <a:ext uri="{FF2B5EF4-FFF2-40B4-BE49-F238E27FC236}">
                <a16:creationId xmlns:a16="http://schemas.microsoft.com/office/drawing/2014/main" id="{544AE95E-8602-4CE1-9D9D-A3F12D9EDF5A}"/>
              </a:ext>
            </a:extLst>
          </p:cNvPr>
          <p:cNvSpPr/>
          <p:nvPr/>
        </p:nvSpPr>
        <p:spPr bwMode="auto">
          <a:xfrm>
            <a:off x="4243435" y="4149028"/>
            <a:ext cx="370513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buSzPct val="90000"/>
            </a:pPr>
            <a:r>
              <a:rPr lang="en-US" sz="2157" dirty="0">
                <a:solidFill>
                  <a:schemeClr val="tx2">
                    <a:lumMod val="50000"/>
                  </a:schemeClr>
                </a:solidFill>
                <a:latin typeface="+mj-lt"/>
                <a:cs typeface="Segoe UI Semilight"/>
              </a:rPr>
              <a:t>Task 2:</a:t>
            </a:r>
            <a:br>
              <a:rPr lang="en-US" sz="2157" dirty="0">
                <a:solidFill>
                  <a:schemeClr val="tx1"/>
                </a:solidFill>
                <a:latin typeface="+mj-lt"/>
                <a:cs typeface="Segoe UI Semilight"/>
              </a:rPr>
            </a:br>
            <a:r>
              <a:rPr lang="en-US" sz="1961" dirty="0">
                <a:solidFill>
                  <a:schemeClr val="tx1"/>
                </a:solidFill>
                <a:cs typeface="Segoe UI Semilight"/>
              </a:rPr>
              <a:t>Create custom RBAC roles</a:t>
            </a:r>
          </a:p>
        </p:txBody>
      </p:sp>
      <p:sp>
        <p:nvSpPr>
          <p:cNvPr id="28" name="Rectangle 27">
            <a:extLst>
              <a:ext uri="{FF2B5EF4-FFF2-40B4-BE49-F238E27FC236}">
                <a16:creationId xmlns:a16="http://schemas.microsoft.com/office/drawing/2014/main" id="{4B4DE68E-5D73-43F7-A757-24F2B6178747}"/>
              </a:ext>
            </a:extLst>
          </p:cNvPr>
          <p:cNvSpPr/>
          <p:nvPr/>
        </p:nvSpPr>
        <p:spPr bwMode="auto">
          <a:xfrm>
            <a:off x="8068226" y="4149028"/>
            <a:ext cx="370513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buSzPct val="90000"/>
            </a:pPr>
            <a:r>
              <a:rPr lang="en-US" sz="2157" dirty="0">
                <a:solidFill>
                  <a:schemeClr val="tx2">
                    <a:lumMod val="50000"/>
                  </a:schemeClr>
                </a:solidFill>
                <a:latin typeface="+mj-lt"/>
                <a:cs typeface="Segoe UI Semilight"/>
              </a:rPr>
              <a:t>Task 3:</a:t>
            </a:r>
            <a:br>
              <a:rPr lang="en-US" sz="2157" dirty="0">
                <a:solidFill>
                  <a:schemeClr val="tx1"/>
                </a:solidFill>
                <a:latin typeface="+mj-lt"/>
                <a:cs typeface="Segoe UI Semilight"/>
              </a:rPr>
            </a:br>
            <a:r>
              <a:rPr lang="en-US" sz="1961" dirty="0">
                <a:solidFill>
                  <a:schemeClr val="tx1"/>
                </a:solidFill>
              </a:rPr>
              <a:t>Assign RBAC roles</a:t>
            </a:r>
            <a:endParaRPr lang="en-US" sz="1961" dirty="0">
              <a:solidFill>
                <a:schemeClr val="tx1"/>
              </a:solidFill>
              <a:cs typeface="Segoe UI Semilight"/>
            </a:endParaRPr>
          </a:p>
        </p:txBody>
      </p:sp>
      <p:sp>
        <p:nvSpPr>
          <p:cNvPr id="3" name="Text Placeholder 2">
            <a:extLst>
              <a:ext uri="{FF2B5EF4-FFF2-40B4-BE49-F238E27FC236}">
                <a16:creationId xmlns:a16="http://schemas.microsoft.com/office/drawing/2014/main" id="{8FD345C5-5FC4-47D9-B62A-1CB1A96EECCC}"/>
              </a:ext>
            </a:extLst>
          </p:cNvPr>
          <p:cNvSpPr txBox="1">
            <a:spLocks/>
          </p:cNvSpPr>
          <p:nvPr/>
        </p:nvSpPr>
        <p:spPr>
          <a:xfrm>
            <a:off x="8130717" y="6021724"/>
            <a:ext cx="3342214" cy="241381"/>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68" spc="0" dirty="0">
                <a:solidFill>
                  <a:schemeClr val="tx1"/>
                </a:solidFill>
                <a:latin typeface="+mn-lt"/>
                <a:cs typeface="Segoe UI Semilight"/>
              </a:rPr>
              <a:t>Next slide for an architecture diagram </a:t>
            </a:r>
          </a:p>
        </p:txBody>
      </p:sp>
      <p:sp>
        <p:nvSpPr>
          <p:cNvPr id="4" name="arrow_15">
            <a:extLst>
              <a:ext uri="{FF2B5EF4-FFF2-40B4-BE49-F238E27FC236}">
                <a16:creationId xmlns:a16="http://schemas.microsoft.com/office/drawing/2014/main" id="{81198CAC-4B4E-4B47-9083-121863D24C14}"/>
              </a:ext>
              <a:ext uri="{C183D7F6-B498-43B3-948B-1728B52AA6E4}">
                <adec:decorative xmlns:adec="http://schemas.microsoft.com/office/drawing/2017/decorative" val="1"/>
              </a:ext>
            </a:extLst>
          </p:cNvPr>
          <p:cNvSpPr>
            <a:spLocks noChangeAspect="1" noEditPoints="1"/>
          </p:cNvSpPr>
          <p:nvPr/>
        </p:nvSpPr>
        <p:spPr bwMode="auto">
          <a:xfrm>
            <a:off x="11551867" y="6021724"/>
            <a:ext cx="221491" cy="22048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882">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108378750"/>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4209</Words>
  <Application>Microsoft Office PowerPoint</Application>
  <PresentationFormat>Widescreen</PresentationFormat>
  <Paragraphs>568</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Describe Azure Active Directory Benefits and Features</vt:lpstr>
      <vt:lpstr>Describe Azure AD Concepts</vt:lpstr>
      <vt:lpstr>Compare AD DS to Azure Active Directory</vt:lpstr>
      <vt:lpstr>Select Azure Active Directory Editions</vt:lpstr>
      <vt:lpstr>Implement Azure AD Join</vt:lpstr>
      <vt:lpstr>Implement Self-Service Password Reset</vt:lpstr>
      <vt:lpstr>Create User Accounts</vt:lpstr>
      <vt:lpstr>Manage User Accounts</vt:lpstr>
      <vt:lpstr>Create Bulk User Accounts</vt:lpstr>
      <vt:lpstr>Create Group Accounts</vt:lpstr>
      <vt:lpstr>Identify Regions</vt:lpstr>
      <vt:lpstr>Implement Azure Subscriptions</vt:lpstr>
      <vt:lpstr>Obtain a Subscription</vt:lpstr>
      <vt:lpstr>Identify Subscription Usage</vt:lpstr>
      <vt:lpstr>Implement Cost Management</vt:lpstr>
      <vt:lpstr>Apply Resource Tagging</vt:lpstr>
      <vt:lpstr>Apply Cost Savings</vt:lpstr>
      <vt:lpstr>Create Management Groups</vt:lpstr>
      <vt:lpstr>Implement Azure Policies</vt:lpstr>
      <vt:lpstr>Create Azure Policies</vt:lpstr>
      <vt:lpstr>1. Create Policy Definitions</vt:lpstr>
      <vt:lpstr>2. Create Initiative Definitions</vt:lpstr>
      <vt:lpstr>3. Scope the Initiative Definition</vt:lpstr>
      <vt:lpstr>4. Determine Compliance</vt:lpstr>
      <vt:lpstr>Demonstration – Azure Policy</vt:lpstr>
      <vt:lpstr>Implement Role-Based Access Control</vt:lpstr>
      <vt:lpstr>Create a Role Definition</vt:lpstr>
      <vt:lpstr>Create a Role Assignment</vt:lpstr>
      <vt:lpstr>Compare Azure RBAC Roles to Azure AD Roles</vt:lpstr>
      <vt:lpstr>Apply RBAC Authentication</vt:lpstr>
      <vt:lpstr>Determine Azure RBAC Roles</vt:lpstr>
      <vt:lpstr>Lab 02a – Manage Subscriptions and Azure RBAC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Rochak Agrawal</dc:creator>
  <cp:lastModifiedBy>Rochak Agrawal</cp:lastModifiedBy>
  <cp:revision>4</cp:revision>
  <dcterms:created xsi:type="dcterms:W3CDTF">2026-03-02T10:42:56Z</dcterms:created>
  <dcterms:modified xsi:type="dcterms:W3CDTF">2026-03-05T03:37:01Z</dcterms:modified>
</cp:coreProperties>
</file>